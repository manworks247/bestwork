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my case-study presentation on the Zenith-V, the electric scooter that E-Mobility India plans to launch. The brief asks three questions: what kind of market we are entering, what we should charge, and whether the Chennai plant is worth ₹200 crore. I have drawn the concepts from Sessions 5 to 9 of the Managerial Economics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oligopoly has four recognisable features and this market shows all four. First, few sellers: Ola, TVS, Bajaj and Ather take 86% of FY25 registrations, giving an HHI of about 1,900. Second, strategic interdependence — every price decision is taken after predicting rivals' reactions. Third, barriers to entry: ₹200 crore of plant and thousands of service points. Fourth, price rigidity, with competition shifting to range, warranty and software.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Petrol is a complement to a petrol scooter, so when it becomes expensive the total cost of the petrol option rises and demand for the electric substitute rises. That is cross-price elasticity, and it is positive. Our own price has not changed, so this is a rightward shift of the demand curve, not movement along it. In money terms the customer saves about ₹3,840 a month, roughly ₹46,000 a year.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frames this as market share versus recovering R&amp;D, but at ₹74,999 we still make ₹14,999 a scooter, a 25% mark-up — so penetration is not loss-leading. Demand is elastic, so price moves revenue; and the experience curve means today's volume lowers tomorrow's cost. Skimming only works when demand is inelastic and imitation is slow, and neither holds with four rivals sitting on idle capacity.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core of strategic interdependence. Penetration is our dominant strategy, and matching is the rivals' best reply, so the outcome is the Nash equilibrium (25, 30), even though both firms would prefer the (28, 35) truce. That truce is not credible. Ola will match first; Ather will defend its premium niche rather than chase us down; TVS and Bajaj will respond through finance and exchange offers.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NPV result does most of the work. At 15% the project is worth ₹50 crore more than it costs, so the present value of inflows is ₹250 crore and the profitability index is 1.25. Because NPV falls as the discount rate rises, a positive NPV at 15% proves that the IRR is above 15%; on level cash flows of ₹49.8 crore for ten years it is about 21.3%. On risk: many inputs are measurable risks, but the big ones — a battery breakthrough or a subsidy redesign — are genuine uncertainty, which is the argument for staging the investment.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recommendation has three parts. Enter as a differentiated, scale-led challenger in an oligopoly. Launch at ₹74,999 with a premium trim above it. Accept the project, since IRR of roughly 21.3% clears the 15% hurdle, but release the ₹200 crore in three gates with written exit rules.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lists every input and every derived figure so the analysis can be re-run. The IRR is illustrative: the brief gives only the NPV at 15%, so I assumed level cash flows to show what an IRR of about 21% implies.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records the recorded sessions I used and maps the deck to the marking rubric, so each component — market analysis, pricing and game theory, and capital budgeting — can be traced to specific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youtu.be/T25QYasiVrM" TargetMode="External"/><Relationship Id="rId4" Type="http://schemas.openxmlformats.org/officeDocument/2006/relationships/hyperlink" Target="https://youtu.be/d7Qw3Bu-23E" TargetMode="External"/><Relationship Id="rId5" Type="http://schemas.openxmlformats.org/officeDocument/2006/relationships/hyperlink" Target="https://youtu.be/f91JEkm7XZg" TargetMode="External"/><Relationship Id="rId6" Type="http://schemas.openxmlformats.org/officeDocument/2006/relationships/hyperlink" Target="https://youtu.be/LsGQdSKB80o" TargetMode="External"/><Relationship Id="rId7" Type="http://schemas.openxmlformats.org/officeDocument/2006/relationships/hyperlink" Target="https://youtu.be/Y_NwyfpzUIo" TargetMode="Externa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f91JEkm7XZg" TargetMode="External"/><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T25QYasiVrM" TargetMode="External"/><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T25QYasiVrM" TargetMode="External"/><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f91JEkm7XZg"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LsGQdSKB80o" TargetMode="External"/><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T25QYasiVrM" TargetMode="External"/><Relationship Id="rId3" Type="http://schemas.openxmlformats.org/officeDocument/2006/relationships/hyperlink" Target="https://youtu.be/d7Qw3Bu-23E" TargetMode="External"/><Relationship Id="rId4" Type="http://schemas.openxmlformats.org/officeDocument/2006/relationships/hyperlink" Target="https://youtu.be/f91JEkm7XZg" TargetMode="External"/><Relationship Id="rId5" Type="http://schemas.openxmlformats.org/officeDocument/2006/relationships/hyperlink" Target="https://youtu.be/LsGQdSKB80o" TargetMode="External"/><Relationship Id="rId6" Type="http://schemas.openxmlformats.org/officeDocument/2006/relationships/hyperlink" Target="https://youtu.be/Y_NwyfpzUIo" TargetMode="External"/><Relationship Id="rId7"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384048"/>
            <a:ext cx="7315200" cy="182880"/>
          </a:xfrm>
          <a:prstGeom prst="rect">
            <a:avLst/>
          </a:prstGeom>
          <a:noFill/>
        </p:spPr>
        <p:txBody>
          <a:bodyPr wrap="square" lIns="0" rIns="0" tIns="0" bIns="0" anchor="t">
            <a:noAutofit/>
          </a:bodyPr>
          <a:lstStyle/>
          <a:p>
            <a:pPr algn="l">
              <a:lnSpc>
                <a:spcPct val="100000"/>
              </a:lnSpc>
            </a:pPr>
            <a:r>
              <a:rPr sz="840" b="1" i="0" spc="130">
                <a:solidFill>
                  <a:srgbClr val="12263F"/>
                </a:solidFill>
                <a:latin typeface="Calibri"/>
              </a:rPr>
              <a:t>INDIAN INSTITUTE OF INFORMATION TECHNOLOGY, DHARWAD</a:t>
            </a:r>
            <a:r>
              <a:rPr sz="840" b="1" i="0" spc="130">
                <a:solidFill>
                  <a:srgbClr val="7B8B9E"/>
                </a:solidFill>
                <a:latin typeface="Calibri"/>
              </a:rPr>
              <a:t>     |     MANAGERIAL ECONOMICS</a:t>
            </a:r>
          </a:p>
        </p:txBody>
      </p:sp>
      <p:sp>
        <p:nvSpPr>
          <p:cNvPr id="5" name="TextBox 4"/>
          <p:cNvSpPr txBox="1"/>
          <p:nvPr/>
        </p:nvSpPr>
        <p:spPr>
          <a:xfrm>
            <a:off x="8790127" y="384048"/>
            <a:ext cx="2743200" cy="182880"/>
          </a:xfrm>
          <a:prstGeom prst="rect">
            <a:avLst/>
          </a:prstGeom>
          <a:noFill/>
        </p:spPr>
        <p:txBody>
          <a:bodyPr wrap="square" lIns="0" rIns="0" tIns="0" bIns="0" anchor="t">
            <a:noAutofit/>
          </a:bodyPr>
          <a:lstStyle/>
          <a:p>
            <a:pPr algn="r">
              <a:lnSpc>
                <a:spcPct val="100000"/>
              </a:lnSpc>
            </a:pPr>
            <a:r>
              <a:rPr sz="780" b="1" i="0" spc="100">
                <a:solidFill>
                  <a:srgbClr val="7B8B9E"/>
                </a:solidFill>
                <a:latin typeface="Calibri"/>
              </a:rPr>
              <a:t>CASE STUDY PRESENTATION   ·   OCTOBER 2026</a:t>
            </a:r>
          </a:p>
        </p:txBody>
      </p:sp>
      <p:pic>
        <p:nvPicPr>
          <p:cNvPr id="6" name="Picture 5" descr="hero_card.png"/>
          <p:cNvPicPr>
            <a:picLocks noChangeAspect="1"/>
          </p:cNvPicPr>
          <p:nvPr/>
        </p:nvPicPr>
        <p:blipFill>
          <a:blip r:embed="rId2"/>
          <a:stretch>
            <a:fillRect/>
          </a:stretch>
        </p:blipFill>
        <p:spPr>
          <a:xfrm>
            <a:off x="6851599" y="1115568"/>
            <a:ext cx="4681728" cy="3433267"/>
          </a:xfrm>
          <a:prstGeom prst="rect">
            <a:avLst/>
          </a:prstGeom>
        </p:spPr>
      </p:pic>
      <p:sp>
        <p:nvSpPr>
          <p:cNvPr id="7" name="TextBox 6"/>
          <p:cNvSpPr txBox="1"/>
          <p:nvPr/>
        </p:nvSpPr>
        <p:spPr>
          <a:xfrm>
            <a:off x="6851599" y="4640275"/>
            <a:ext cx="4681728" cy="201168"/>
          </a:xfrm>
          <a:prstGeom prst="rect">
            <a:avLst/>
          </a:prstGeom>
          <a:noFill/>
        </p:spPr>
        <p:txBody>
          <a:bodyPr wrap="square" lIns="0" rIns="0" tIns="0" bIns="0" anchor="t">
            <a:noAutofit/>
          </a:bodyPr>
          <a:lstStyle/>
          <a:p>
            <a:pPr algn="l">
              <a:lnSpc>
                <a:spcPct val="120000"/>
              </a:lnSpc>
            </a:pPr>
            <a:r>
              <a:rPr sz="860" b="0" i="0">
                <a:solidFill>
                  <a:srgbClr val="7B8B9E"/>
                </a:solidFill>
                <a:latin typeface="Calibri"/>
              </a:rPr>
              <a:t>The Zenith-V — flagship electric scooter of E-Mobility India, Bengaluru</a:t>
            </a:r>
          </a:p>
        </p:txBody>
      </p:sp>
      <p:sp>
        <p:nvSpPr>
          <p:cNvPr id="8" name="TextBox 7"/>
          <p:cNvSpPr txBox="1"/>
          <p:nvPr/>
        </p:nvSpPr>
        <p:spPr>
          <a:xfrm>
            <a:off x="658368" y="1097280"/>
            <a:ext cx="5989320" cy="219456"/>
          </a:xfrm>
          <a:prstGeom prst="rect">
            <a:avLst/>
          </a:prstGeom>
          <a:noFill/>
        </p:spPr>
        <p:txBody>
          <a:bodyPr wrap="square" lIns="0" rIns="0" tIns="0" bIns="0" anchor="t">
            <a:noAutofit/>
          </a:bodyPr>
          <a:lstStyle/>
          <a:p>
            <a:pPr algn="l">
              <a:lnSpc>
                <a:spcPct val="100000"/>
              </a:lnSpc>
            </a:pPr>
            <a:r>
              <a:rPr sz="900" b="1" i="0" spc="200">
                <a:solidFill>
                  <a:srgbClr val="2B6CB0"/>
                </a:solidFill>
                <a:latin typeface="Calibri"/>
              </a:rPr>
              <a:t>PROJECT REPORT</a:t>
            </a:r>
          </a:p>
        </p:txBody>
      </p:sp>
      <p:sp>
        <p:nvSpPr>
          <p:cNvPr id="9" name="TextBox 8"/>
          <p:cNvSpPr txBox="1"/>
          <p:nvPr/>
        </p:nvSpPr>
        <p:spPr>
          <a:xfrm>
            <a:off x="658368" y="1353312"/>
            <a:ext cx="6035040" cy="1188720"/>
          </a:xfrm>
          <a:prstGeom prst="rect">
            <a:avLst/>
          </a:prstGeom>
          <a:noFill/>
        </p:spPr>
        <p:txBody>
          <a:bodyPr wrap="square" lIns="0" rIns="0" tIns="0" bIns="0" anchor="t">
            <a:noAutofit/>
          </a:bodyPr>
          <a:lstStyle/>
          <a:p>
            <a:pPr algn="l">
              <a:lnSpc>
                <a:spcPct val="108000"/>
              </a:lnSpc>
            </a:pPr>
            <a:r>
              <a:rPr sz="3300" b="1" i="0">
                <a:solidFill>
                  <a:srgbClr val="12263F"/>
                </a:solidFill>
                <a:latin typeface="Calibri"/>
              </a:rPr>
              <a:t>The Zenith-V</a:t>
            </a:r>
          </a:p>
          <a:p>
            <a:pPr algn="l">
              <a:lnSpc>
                <a:spcPct val="108000"/>
              </a:lnSpc>
            </a:pPr>
            <a:r>
              <a:rPr sz="3300" b="1" i="0">
                <a:solidFill>
                  <a:srgbClr val="2B6CB0"/>
                </a:solidFill>
                <a:latin typeface="Calibri"/>
              </a:rPr>
              <a:t>Launch Decision</a:t>
            </a:r>
          </a:p>
        </p:txBody>
      </p:sp>
      <p:sp>
        <p:nvSpPr>
          <p:cNvPr id="10" name="TextBox 9"/>
          <p:cNvSpPr txBox="1"/>
          <p:nvPr/>
        </p:nvSpPr>
        <p:spPr>
          <a:xfrm>
            <a:off x="658368" y="2523744"/>
            <a:ext cx="5577840" cy="731520"/>
          </a:xfrm>
          <a:prstGeom prst="rect">
            <a:avLst/>
          </a:prstGeom>
          <a:noFill/>
        </p:spPr>
        <p:txBody>
          <a:bodyPr wrap="square" lIns="0" rIns="0" tIns="0" bIns="0" anchor="t">
            <a:noAutofit/>
          </a:bodyPr>
          <a:lstStyle/>
          <a:p>
            <a:pPr algn="l">
              <a:lnSpc>
                <a:spcPct val="134000"/>
              </a:lnSpc>
            </a:pPr>
            <a:r>
              <a:rPr sz="1220" b="0" i="0">
                <a:solidFill>
                  <a:srgbClr val="44546A"/>
                </a:solidFill>
                <a:latin typeface="Calibri"/>
              </a:rPr>
              <a:t>Market structure, pricing strategy, game theory and capital budgeting for an electric scooter start-up</a:t>
            </a:r>
          </a:p>
        </p:txBody>
      </p:sp>
      <p:cxnSp>
        <p:nvCxnSpPr>
          <p:cNvPr id="11" name="Connector 10"/>
          <p:cNvCxnSpPr/>
          <p:nvPr/>
        </p:nvCxnSpPr>
        <p:spPr>
          <a:xfrm>
            <a:off x="658368" y="3401568"/>
            <a:ext cx="5669280" cy="0"/>
          </a:xfrm>
          <a:prstGeom prst="line">
            <a:avLst/>
          </a:prstGeom>
          <a:ln w="11430">
            <a:solidFill>
              <a:srgbClr val="DCE3E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8368" y="3566160"/>
            <a:ext cx="2743200" cy="182880"/>
          </a:xfrm>
          <a:prstGeom prst="rect">
            <a:avLst/>
          </a:prstGeom>
          <a:noFill/>
        </p:spPr>
        <p:txBody>
          <a:bodyPr wrap="square" lIns="0" rIns="0" tIns="0" bIns="0" anchor="t">
            <a:noAutofit/>
          </a:bodyPr>
          <a:lstStyle/>
          <a:p>
            <a:pPr algn="l">
              <a:lnSpc>
                <a:spcPct val="100000"/>
              </a:lnSpc>
            </a:pPr>
            <a:r>
              <a:rPr sz="780" b="1" i="0" spc="140">
                <a:solidFill>
                  <a:srgbClr val="7B8B9E"/>
                </a:solidFill>
                <a:latin typeface="Calibri"/>
              </a:rPr>
              <a:t>SUBMITTED BY</a:t>
            </a:r>
          </a:p>
        </p:txBody>
      </p:sp>
      <p:sp>
        <p:nvSpPr>
          <p:cNvPr id="13" name="TextBox 12"/>
          <p:cNvSpPr txBox="1"/>
          <p:nvPr/>
        </p:nvSpPr>
        <p:spPr>
          <a:xfrm>
            <a:off x="658368" y="3767328"/>
            <a:ext cx="3291840" cy="274320"/>
          </a:xfrm>
          <a:prstGeom prst="rect">
            <a:avLst/>
          </a:prstGeom>
          <a:noFill/>
        </p:spPr>
        <p:txBody>
          <a:bodyPr wrap="square" lIns="0" rIns="0" tIns="0" bIns="0" anchor="t">
            <a:noAutofit/>
          </a:bodyPr>
          <a:lstStyle/>
          <a:p>
            <a:pPr algn="l">
              <a:lnSpc>
                <a:spcPct val="112000"/>
              </a:lnSpc>
            </a:pPr>
            <a:r>
              <a:rPr sz="1450" b="1" i="0">
                <a:solidFill>
                  <a:srgbClr val="12263F"/>
                </a:solidFill>
                <a:latin typeface="Calibri"/>
              </a:rPr>
              <a:t>J Ganesh Kumar Reddy</a:t>
            </a:r>
          </a:p>
        </p:txBody>
      </p:sp>
      <p:sp>
        <p:nvSpPr>
          <p:cNvPr id="14" name="TextBox 13"/>
          <p:cNvSpPr txBox="1"/>
          <p:nvPr/>
        </p:nvSpPr>
        <p:spPr>
          <a:xfrm>
            <a:off x="658368" y="4078224"/>
            <a:ext cx="3291840" cy="219456"/>
          </a:xfrm>
          <a:prstGeom prst="rect">
            <a:avLst/>
          </a:prstGeom>
          <a:noFill/>
        </p:spPr>
        <p:txBody>
          <a:bodyPr wrap="square" lIns="0" rIns="0" tIns="0" bIns="0" anchor="t">
            <a:noAutofit/>
          </a:bodyPr>
          <a:lstStyle/>
          <a:p>
            <a:pPr algn="l">
              <a:lnSpc>
                <a:spcPct val="115000"/>
              </a:lnSpc>
            </a:pPr>
            <a:r>
              <a:rPr sz="1040" b="1" i="0">
                <a:solidFill>
                  <a:srgbClr val="2B6CB0"/>
                </a:solidFill>
                <a:latin typeface="Calibri"/>
              </a:rPr>
              <a:t>Roll No. 23BDS024</a:t>
            </a:r>
          </a:p>
        </p:txBody>
      </p:sp>
      <p:sp>
        <p:nvSpPr>
          <p:cNvPr id="15" name="TextBox 14"/>
          <p:cNvSpPr txBox="1"/>
          <p:nvPr/>
        </p:nvSpPr>
        <p:spPr>
          <a:xfrm>
            <a:off x="4361688" y="3566160"/>
            <a:ext cx="2194560" cy="182880"/>
          </a:xfrm>
          <a:prstGeom prst="rect">
            <a:avLst/>
          </a:prstGeom>
          <a:noFill/>
        </p:spPr>
        <p:txBody>
          <a:bodyPr wrap="square" lIns="0" rIns="0" tIns="0" bIns="0" anchor="t">
            <a:noAutofit/>
          </a:bodyPr>
          <a:lstStyle/>
          <a:p>
            <a:pPr algn="l">
              <a:lnSpc>
                <a:spcPct val="100000"/>
              </a:lnSpc>
            </a:pPr>
            <a:r>
              <a:rPr sz="780" b="1" i="0" spc="140">
                <a:solidFill>
                  <a:srgbClr val="7B8B9E"/>
                </a:solidFill>
                <a:latin typeface="Calibri"/>
              </a:rPr>
              <a:t>SUBMITTED TO</a:t>
            </a:r>
          </a:p>
        </p:txBody>
      </p:sp>
      <p:sp>
        <p:nvSpPr>
          <p:cNvPr id="16" name="TextBox 15"/>
          <p:cNvSpPr txBox="1"/>
          <p:nvPr/>
        </p:nvSpPr>
        <p:spPr>
          <a:xfrm>
            <a:off x="4361688" y="3767328"/>
            <a:ext cx="2331720" cy="548640"/>
          </a:xfrm>
          <a:prstGeom prst="rect">
            <a:avLst/>
          </a:prstGeom>
          <a:noFill/>
        </p:spPr>
        <p:txBody>
          <a:bodyPr wrap="square" lIns="0" rIns="0" tIns="0" bIns="0" anchor="t">
            <a:noAutofit/>
          </a:bodyPr>
          <a:lstStyle/>
          <a:p>
            <a:pPr algn="l">
              <a:lnSpc>
                <a:spcPct val="115000"/>
              </a:lnSpc>
            </a:pPr>
            <a:r>
              <a:rPr sz="1140" b="1" i="0">
                <a:solidFill>
                  <a:srgbClr val="12263F"/>
                </a:solidFill>
                <a:latin typeface="Calibri"/>
              </a:rPr>
              <a:t>Dr. K. T. Deepak</a:t>
            </a:r>
          </a:p>
          <a:p>
            <a:pPr algn="l">
              <a:lnSpc>
                <a:spcPct val="125000"/>
              </a:lnSpc>
              <a:spcBef>
                <a:spcPts val="200"/>
              </a:spcBef>
            </a:pPr>
            <a:r>
              <a:rPr sz="860" b="0" i="0">
                <a:solidFill>
                  <a:srgbClr val="44546A"/>
                </a:solidFill>
                <a:latin typeface="Calibri"/>
              </a:rPr>
              <a:t>Associate Dean (Innovation, Entrepreneurship and IDRP)</a:t>
            </a:r>
          </a:p>
        </p:txBody>
      </p:sp>
      <p:sp>
        <p:nvSpPr>
          <p:cNvPr id="17" name="Rounded Rectangle 16"/>
          <p:cNvSpPr/>
          <p:nvPr/>
        </p:nvSpPr>
        <p:spPr>
          <a:xfrm>
            <a:off x="658368" y="4992624"/>
            <a:ext cx="10874959" cy="676656"/>
          </a:xfrm>
          <a:prstGeom prst="roundRect">
            <a:avLst>
              <a:gd name="adj" fmla="val 5000"/>
            </a:avLst>
          </a:prstGeom>
          <a:solidFill>
            <a:srgbClr val="ECF2FA"/>
          </a:solidFill>
          <a:ln w="9525">
            <a:solidFill>
              <a:srgbClr val="C9DC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5084064"/>
            <a:ext cx="1691640" cy="182880"/>
          </a:xfrm>
          <a:prstGeom prst="rect">
            <a:avLst/>
          </a:prstGeom>
          <a:noFill/>
        </p:spPr>
        <p:txBody>
          <a:bodyPr wrap="square" lIns="0" rIns="0" tIns="0" bIns="0" anchor="t">
            <a:noAutofit/>
          </a:bodyPr>
          <a:lstStyle/>
          <a:p>
            <a:pPr algn="l">
              <a:lnSpc>
                <a:spcPct val="100000"/>
              </a:lnSpc>
            </a:pPr>
            <a:r>
              <a:rPr sz="740" b="1" i="0" spc="120">
                <a:solidFill>
                  <a:srgbClr val="2B6CB0"/>
                </a:solidFill>
                <a:latin typeface="Calibri"/>
              </a:rPr>
              <a:t>LECTURE COVERAGE</a:t>
            </a:r>
          </a:p>
        </p:txBody>
      </p:sp>
      <p:sp>
        <p:nvSpPr>
          <p:cNvPr id="19" name="TextBox 18"/>
          <p:cNvSpPr txBox="1"/>
          <p:nvPr/>
        </p:nvSpPr>
        <p:spPr>
          <a:xfrm>
            <a:off x="877824" y="5285232"/>
            <a:ext cx="658368" cy="219456"/>
          </a:xfrm>
          <a:prstGeom prst="rect">
            <a:avLst/>
          </a:prstGeom>
          <a:noFill/>
        </p:spPr>
        <p:txBody>
          <a:bodyPr wrap="square" lIns="0" rIns="0" tIns="0" bIns="0" anchor="t">
            <a:noAutofit/>
          </a:bodyPr>
          <a:lstStyle/>
          <a:p>
            <a:pPr algn="l">
              <a:lnSpc>
                <a:spcPct val="130000"/>
              </a:lnSpc>
            </a:pPr>
            <a:r>
              <a:rPr sz="900" b="1" i="0">
                <a:solidFill>
                  <a:srgbClr val="12263F"/>
                </a:solidFill>
                <a:latin typeface="Calibri"/>
                <a:hlinkClick r:id="rId3"/>
              </a:rPr>
              <a:t>Session 5</a:t>
            </a:r>
          </a:p>
        </p:txBody>
      </p:sp>
      <p:sp>
        <p:nvSpPr>
          <p:cNvPr id="20" name="TextBox 19"/>
          <p:cNvSpPr txBox="1"/>
          <p:nvPr/>
        </p:nvSpPr>
        <p:spPr>
          <a:xfrm>
            <a:off x="1554480" y="5285232"/>
            <a:ext cx="858139" cy="219456"/>
          </a:xfrm>
          <a:prstGeom prst="rect">
            <a:avLst/>
          </a:prstGeom>
          <a:noFill/>
        </p:spPr>
        <p:txBody>
          <a:bodyPr wrap="square" lIns="0" rIns="0" tIns="0" bIns="0" anchor="t">
            <a:noAutofit/>
          </a:bodyPr>
          <a:lstStyle/>
          <a:p>
            <a:pPr algn="l">
              <a:lnSpc>
                <a:spcPct val="130000"/>
              </a:lnSpc>
            </a:pPr>
            <a:r>
              <a:rPr sz="900" b="0" i="0">
                <a:solidFill>
                  <a:srgbClr val="44546A"/>
                </a:solidFill>
                <a:latin typeface="Calibri"/>
                <a:hlinkClick r:id="rId3"/>
              </a:rPr>
              <a:t>Pricing Strategies</a:t>
            </a:r>
          </a:p>
        </p:txBody>
      </p:sp>
      <p:sp>
        <p:nvSpPr>
          <p:cNvPr id="21" name="TextBox 20"/>
          <p:cNvSpPr txBox="1"/>
          <p:nvPr/>
        </p:nvSpPr>
        <p:spPr>
          <a:xfrm>
            <a:off x="2449195" y="5285232"/>
            <a:ext cx="274320" cy="219456"/>
          </a:xfrm>
          <a:prstGeom prst="rect">
            <a:avLst/>
          </a:prstGeom>
          <a:noFill/>
        </p:spPr>
        <p:txBody>
          <a:bodyPr wrap="square" lIns="0" rIns="0" tIns="0" bIns="0" anchor="t">
            <a:noAutofit/>
          </a:bodyPr>
          <a:lstStyle/>
          <a:p>
            <a:pPr algn="l">
              <a:lnSpc>
                <a:spcPct val="130000"/>
              </a:lnSpc>
            </a:pPr>
            <a:r>
              <a:rPr sz="940" b="0" i="0">
                <a:solidFill>
                  <a:srgbClr val="C9DCF0"/>
                </a:solidFill>
                <a:latin typeface="Calibri"/>
              </a:rPr>
              <a:t>·</a:t>
            </a:r>
          </a:p>
        </p:txBody>
      </p:sp>
      <p:sp>
        <p:nvSpPr>
          <p:cNvPr id="22" name="TextBox 21"/>
          <p:cNvSpPr txBox="1"/>
          <p:nvPr/>
        </p:nvSpPr>
        <p:spPr>
          <a:xfrm>
            <a:off x="2723515" y="5285232"/>
            <a:ext cx="658368" cy="219456"/>
          </a:xfrm>
          <a:prstGeom prst="rect">
            <a:avLst/>
          </a:prstGeom>
          <a:noFill/>
        </p:spPr>
        <p:txBody>
          <a:bodyPr wrap="square" lIns="0" rIns="0" tIns="0" bIns="0" anchor="t">
            <a:noAutofit/>
          </a:bodyPr>
          <a:lstStyle/>
          <a:p>
            <a:pPr algn="l">
              <a:lnSpc>
                <a:spcPct val="130000"/>
              </a:lnSpc>
            </a:pPr>
            <a:r>
              <a:rPr sz="900" b="1" i="0">
                <a:solidFill>
                  <a:srgbClr val="12263F"/>
                </a:solidFill>
                <a:latin typeface="Calibri"/>
                <a:hlinkClick r:id="rId4"/>
              </a:rPr>
              <a:t>Session 6</a:t>
            </a:r>
          </a:p>
        </p:txBody>
      </p:sp>
      <p:sp>
        <p:nvSpPr>
          <p:cNvPr id="23" name="TextBox 22"/>
          <p:cNvSpPr txBox="1"/>
          <p:nvPr/>
        </p:nvSpPr>
        <p:spPr>
          <a:xfrm>
            <a:off x="3400171" y="5285232"/>
            <a:ext cx="315214" cy="219456"/>
          </a:xfrm>
          <a:prstGeom prst="rect">
            <a:avLst/>
          </a:prstGeom>
          <a:noFill/>
        </p:spPr>
        <p:txBody>
          <a:bodyPr wrap="square" lIns="0" rIns="0" tIns="0" bIns="0" anchor="t">
            <a:noAutofit/>
          </a:bodyPr>
          <a:lstStyle/>
          <a:p>
            <a:pPr algn="l">
              <a:lnSpc>
                <a:spcPct val="130000"/>
              </a:lnSpc>
            </a:pPr>
            <a:r>
              <a:rPr sz="900" b="0" i="0">
                <a:solidFill>
                  <a:srgbClr val="44546A"/>
                </a:solidFill>
                <a:latin typeface="Calibri"/>
                <a:hlinkClick r:id="rId4"/>
              </a:rPr>
              <a:t>Profit</a:t>
            </a:r>
          </a:p>
        </p:txBody>
      </p:sp>
      <p:sp>
        <p:nvSpPr>
          <p:cNvPr id="24" name="TextBox 23"/>
          <p:cNvSpPr txBox="1"/>
          <p:nvPr/>
        </p:nvSpPr>
        <p:spPr>
          <a:xfrm>
            <a:off x="3751961" y="5285232"/>
            <a:ext cx="274320" cy="219456"/>
          </a:xfrm>
          <a:prstGeom prst="rect">
            <a:avLst/>
          </a:prstGeom>
          <a:noFill/>
        </p:spPr>
        <p:txBody>
          <a:bodyPr wrap="square" lIns="0" rIns="0" tIns="0" bIns="0" anchor="t">
            <a:noAutofit/>
          </a:bodyPr>
          <a:lstStyle/>
          <a:p>
            <a:pPr algn="l">
              <a:lnSpc>
                <a:spcPct val="130000"/>
              </a:lnSpc>
            </a:pPr>
            <a:r>
              <a:rPr sz="940" b="0" i="0">
                <a:solidFill>
                  <a:srgbClr val="C9DCF0"/>
                </a:solidFill>
                <a:latin typeface="Calibri"/>
              </a:rPr>
              <a:t>·</a:t>
            </a:r>
          </a:p>
        </p:txBody>
      </p:sp>
      <p:sp>
        <p:nvSpPr>
          <p:cNvPr id="25" name="TextBox 24"/>
          <p:cNvSpPr txBox="1"/>
          <p:nvPr/>
        </p:nvSpPr>
        <p:spPr>
          <a:xfrm>
            <a:off x="4026281" y="5285232"/>
            <a:ext cx="658368" cy="219456"/>
          </a:xfrm>
          <a:prstGeom prst="rect">
            <a:avLst/>
          </a:prstGeom>
          <a:noFill/>
        </p:spPr>
        <p:txBody>
          <a:bodyPr wrap="square" lIns="0" rIns="0" tIns="0" bIns="0" anchor="t">
            <a:noAutofit/>
          </a:bodyPr>
          <a:lstStyle/>
          <a:p>
            <a:pPr algn="l">
              <a:lnSpc>
                <a:spcPct val="130000"/>
              </a:lnSpc>
            </a:pPr>
            <a:r>
              <a:rPr sz="900" b="1" i="0">
                <a:solidFill>
                  <a:srgbClr val="12263F"/>
                </a:solidFill>
                <a:latin typeface="Calibri"/>
                <a:hlinkClick r:id="rId5"/>
              </a:rPr>
              <a:t>Session 7</a:t>
            </a:r>
          </a:p>
        </p:txBody>
      </p:sp>
      <p:sp>
        <p:nvSpPr>
          <p:cNvPr id="26" name="TextBox 25"/>
          <p:cNvSpPr txBox="1"/>
          <p:nvPr/>
        </p:nvSpPr>
        <p:spPr>
          <a:xfrm>
            <a:off x="4702937" y="5285232"/>
            <a:ext cx="683514" cy="219456"/>
          </a:xfrm>
          <a:prstGeom prst="rect">
            <a:avLst/>
          </a:prstGeom>
          <a:noFill/>
        </p:spPr>
        <p:txBody>
          <a:bodyPr wrap="square" lIns="0" rIns="0" tIns="0" bIns="0" anchor="t">
            <a:noAutofit/>
          </a:bodyPr>
          <a:lstStyle/>
          <a:p>
            <a:pPr algn="l">
              <a:lnSpc>
                <a:spcPct val="130000"/>
              </a:lnSpc>
            </a:pPr>
            <a:r>
              <a:rPr sz="900" b="0" i="0">
                <a:solidFill>
                  <a:srgbClr val="44546A"/>
                </a:solidFill>
                <a:latin typeface="Calibri"/>
                <a:hlinkClick r:id="rId5"/>
              </a:rPr>
              <a:t>Game Theory</a:t>
            </a:r>
          </a:p>
        </p:txBody>
      </p:sp>
      <p:sp>
        <p:nvSpPr>
          <p:cNvPr id="27" name="TextBox 26"/>
          <p:cNvSpPr txBox="1"/>
          <p:nvPr/>
        </p:nvSpPr>
        <p:spPr>
          <a:xfrm>
            <a:off x="5423027" y="5285232"/>
            <a:ext cx="274320" cy="219456"/>
          </a:xfrm>
          <a:prstGeom prst="rect">
            <a:avLst/>
          </a:prstGeom>
          <a:noFill/>
        </p:spPr>
        <p:txBody>
          <a:bodyPr wrap="square" lIns="0" rIns="0" tIns="0" bIns="0" anchor="t">
            <a:noAutofit/>
          </a:bodyPr>
          <a:lstStyle/>
          <a:p>
            <a:pPr algn="l">
              <a:lnSpc>
                <a:spcPct val="130000"/>
              </a:lnSpc>
            </a:pPr>
            <a:r>
              <a:rPr sz="940" b="0" i="0">
                <a:solidFill>
                  <a:srgbClr val="C9DCF0"/>
                </a:solidFill>
                <a:latin typeface="Calibri"/>
              </a:rPr>
              <a:t>·</a:t>
            </a:r>
          </a:p>
        </p:txBody>
      </p:sp>
      <p:sp>
        <p:nvSpPr>
          <p:cNvPr id="28" name="TextBox 27"/>
          <p:cNvSpPr txBox="1"/>
          <p:nvPr/>
        </p:nvSpPr>
        <p:spPr>
          <a:xfrm>
            <a:off x="5697347" y="5285232"/>
            <a:ext cx="658368" cy="219456"/>
          </a:xfrm>
          <a:prstGeom prst="rect">
            <a:avLst/>
          </a:prstGeom>
          <a:noFill/>
        </p:spPr>
        <p:txBody>
          <a:bodyPr wrap="square" lIns="0" rIns="0" tIns="0" bIns="0" anchor="t">
            <a:noAutofit/>
          </a:bodyPr>
          <a:lstStyle/>
          <a:p>
            <a:pPr algn="l">
              <a:lnSpc>
                <a:spcPct val="130000"/>
              </a:lnSpc>
            </a:pPr>
            <a:r>
              <a:rPr sz="900" b="1" i="0">
                <a:solidFill>
                  <a:srgbClr val="12263F"/>
                </a:solidFill>
                <a:latin typeface="Calibri"/>
                <a:hlinkClick r:id="rId6"/>
              </a:rPr>
              <a:t>Session 8</a:t>
            </a:r>
          </a:p>
        </p:txBody>
      </p:sp>
      <p:sp>
        <p:nvSpPr>
          <p:cNvPr id="29" name="TextBox 28"/>
          <p:cNvSpPr txBox="1"/>
          <p:nvPr/>
        </p:nvSpPr>
        <p:spPr>
          <a:xfrm>
            <a:off x="6374003" y="5285232"/>
            <a:ext cx="239014" cy="219456"/>
          </a:xfrm>
          <a:prstGeom prst="rect">
            <a:avLst/>
          </a:prstGeom>
          <a:noFill/>
        </p:spPr>
        <p:txBody>
          <a:bodyPr wrap="square" lIns="0" rIns="0" tIns="0" bIns="0" anchor="t">
            <a:noAutofit/>
          </a:bodyPr>
          <a:lstStyle/>
          <a:p>
            <a:pPr algn="l">
              <a:lnSpc>
                <a:spcPct val="130000"/>
              </a:lnSpc>
            </a:pPr>
            <a:r>
              <a:rPr sz="900" b="0" i="0">
                <a:solidFill>
                  <a:srgbClr val="44546A"/>
                </a:solidFill>
                <a:latin typeface="Calibri"/>
                <a:hlinkClick r:id="rId6"/>
              </a:rPr>
              <a:t>Risk</a:t>
            </a:r>
          </a:p>
        </p:txBody>
      </p:sp>
      <p:sp>
        <p:nvSpPr>
          <p:cNvPr id="30" name="TextBox 29"/>
          <p:cNvSpPr txBox="1"/>
          <p:nvPr/>
        </p:nvSpPr>
        <p:spPr>
          <a:xfrm>
            <a:off x="6649593" y="5285232"/>
            <a:ext cx="274320" cy="219456"/>
          </a:xfrm>
          <a:prstGeom prst="rect">
            <a:avLst/>
          </a:prstGeom>
          <a:noFill/>
        </p:spPr>
        <p:txBody>
          <a:bodyPr wrap="square" lIns="0" rIns="0" tIns="0" bIns="0" anchor="t">
            <a:noAutofit/>
          </a:bodyPr>
          <a:lstStyle/>
          <a:p>
            <a:pPr algn="l">
              <a:lnSpc>
                <a:spcPct val="130000"/>
              </a:lnSpc>
            </a:pPr>
            <a:r>
              <a:rPr sz="940" b="0" i="0">
                <a:solidFill>
                  <a:srgbClr val="C9DCF0"/>
                </a:solidFill>
                <a:latin typeface="Calibri"/>
              </a:rPr>
              <a:t>·</a:t>
            </a:r>
          </a:p>
        </p:txBody>
      </p:sp>
      <p:sp>
        <p:nvSpPr>
          <p:cNvPr id="31" name="TextBox 30"/>
          <p:cNvSpPr txBox="1"/>
          <p:nvPr/>
        </p:nvSpPr>
        <p:spPr>
          <a:xfrm>
            <a:off x="6923913" y="5285232"/>
            <a:ext cx="658368" cy="219456"/>
          </a:xfrm>
          <a:prstGeom prst="rect">
            <a:avLst/>
          </a:prstGeom>
          <a:noFill/>
        </p:spPr>
        <p:txBody>
          <a:bodyPr wrap="square" lIns="0" rIns="0" tIns="0" bIns="0" anchor="t">
            <a:noAutofit/>
          </a:bodyPr>
          <a:lstStyle/>
          <a:p>
            <a:pPr algn="l">
              <a:lnSpc>
                <a:spcPct val="130000"/>
              </a:lnSpc>
            </a:pPr>
            <a:r>
              <a:rPr sz="900" b="1" i="0">
                <a:solidFill>
                  <a:srgbClr val="12263F"/>
                </a:solidFill>
                <a:latin typeface="Calibri"/>
                <a:hlinkClick r:id="rId7"/>
              </a:rPr>
              <a:t>Session 9</a:t>
            </a:r>
          </a:p>
        </p:txBody>
      </p:sp>
      <p:sp>
        <p:nvSpPr>
          <p:cNvPr id="32" name="TextBox 31"/>
          <p:cNvSpPr txBox="1"/>
          <p:nvPr/>
        </p:nvSpPr>
        <p:spPr>
          <a:xfrm>
            <a:off x="7600569" y="5285232"/>
            <a:ext cx="1547114" cy="219456"/>
          </a:xfrm>
          <a:prstGeom prst="rect">
            <a:avLst/>
          </a:prstGeom>
          <a:noFill/>
        </p:spPr>
        <p:txBody>
          <a:bodyPr wrap="square" lIns="0" rIns="0" tIns="0" bIns="0" anchor="t">
            <a:noAutofit/>
          </a:bodyPr>
          <a:lstStyle/>
          <a:p>
            <a:pPr algn="l">
              <a:lnSpc>
                <a:spcPct val="130000"/>
              </a:lnSpc>
            </a:pPr>
            <a:r>
              <a:rPr sz="900" b="0" i="0">
                <a:solidFill>
                  <a:srgbClr val="44546A"/>
                </a:solidFill>
                <a:latin typeface="Calibri"/>
                <a:hlinkClick r:id="rId7"/>
              </a:rPr>
              <a:t>Capital Budgeting &amp; Fiscal Policy</a:t>
            </a:r>
          </a:p>
        </p:txBody>
      </p:sp>
      <p:sp>
        <p:nvSpPr>
          <p:cNvPr id="33" name="TextBox 32"/>
          <p:cNvSpPr txBox="1"/>
          <p:nvPr/>
        </p:nvSpPr>
        <p:spPr>
          <a:xfrm>
            <a:off x="658368" y="6053328"/>
            <a:ext cx="10874959" cy="219456"/>
          </a:xfrm>
          <a:prstGeom prst="rect">
            <a:avLst/>
          </a:prstGeom>
          <a:noFill/>
        </p:spPr>
        <p:txBody>
          <a:bodyPr wrap="square" lIns="0" rIns="0" tIns="0" bIns="0" anchor="t">
            <a:noAutofit/>
          </a:bodyPr>
          <a:lstStyle/>
          <a:p>
            <a:pPr algn="l">
              <a:lnSpc>
                <a:spcPct val="125000"/>
              </a:lnSpc>
            </a:pPr>
            <a:r>
              <a:rPr sz="880" b="0" i="0">
                <a:solidFill>
                  <a:srgbClr val="7B8B9E"/>
                </a:solidFill>
                <a:latin typeface="Calibri"/>
              </a:rPr>
              <a:t>This deck answers the three tasks in the assignment brief: market and demand analysis, pricing and game theory, and capital budgeting.</a:t>
            </a:r>
          </a:p>
        </p:txBody>
      </p:sp>
      <p:cxnSp>
        <p:nvCxnSpPr>
          <p:cNvPr id="34" name="Connector 33"/>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36" name="TextBox 35"/>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37" name="TextBox 36"/>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38" name="TextBox 37"/>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1 of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1 · MARKET &amp; DEMAND ANALYSIS</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2B6CB0"/>
                </a:solidFill>
                <a:latin typeface="Calibri"/>
                <a:hlinkClick r:id="rId2"/>
              </a:rPr>
              <a:t>LECTURE LINK · SESSION 7: GAME THEORY</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Why this market is an oligopoly</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Four firms sell 86% of India's electric scooters, each sets price by watching the others, and entry costs ₹200 crore.</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529593"/>
            <a:ext cx="310896" cy="237744"/>
          </a:xfrm>
          <a:prstGeom prst="rect">
            <a:avLst/>
          </a:prstGeom>
          <a:noFill/>
        </p:spPr>
        <p:txBody>
          <a:bodyPr wrap="square" lIns="0" rIns="0" tIns="0" bIns="0" anchor="t">
            <a:noAutofit/>
          </a:bodyPr>
          <a:lstStyle/>
          <a:p>
            <a:pPr algn="l">
              <a:lnSpc>
                <a:spcPct val="100000"/>
              </a:lnSpc>
            </a:pPr>
            <a:r>
              <a:rPr sz="1019" b="1" i="0">
                <a:solidFill>
                  <a:srgbClr val="2B6CB0"/>
                </a:solidFill>
                <a:latin typeface="Calibri"/>
              </a:rPr>
              <a:t>1</a:t>
            </a:r>
          </a:p>
        </p:txBody>
      </p:sp>
      <p:sp>
        <p:nvSpPr>
          <p:cNvPr id="9" name="TextBox 8"/>
          <p:cNvSpPr txBox="1"/>
          <p:nvPr/>
        </p:nvSpPr>
        <p:spPr>
          <a:xfrm>
            <a:off x="1042416" y="1493017"/>
            <a:ext cx="5422392" cy="171200"/>
          </a:xfrm>
          <a:prstGeom prst="rect">
            <a:avLst/>
          </a:prstGeom>
          <a:noFill/>
        </p:spPr>
        <p:txBody>
          <a:bodyPr wrap="square" lIns="0" rIns="0" tIns="0" bIns="0" anchor="t">
            <a:noAutofit/>
          </a:bodyPr>
          <a:lstStyle/>
          <a:p>
            <a:pPr algn="l">
              <a:lnSpc>
                <a:spcPct val="118000"/>
              </a:lnSpc>
            </a:pPr>
            <a:r>
              <a:rPr sz="1120" b="1" i="0">
                <a:solidFill>
                  <a:srgbClr val="12263F"/>
                </a:solidFill>
                <a:latin typeface="Calibri"/>
              </a:rPr>
              <a:t>Few sellers, high concentration</a:t>
            </a:r>
          </a:p>
        </p:txBody>
      </p:sp>
      <p:sp>
        <p:nvSpPr>
          <p:cNvPr id="10" name="TextBox 9"/>
          <p:cNvSpPr txBox="1"/>
          <p:nvPr/>
        </p:nvSpPr>
        <p:spPr>
          <a:xfrm>
            <a:off x="1042416" y="1700793"/>
            <a:ext cx="5422392" cy="338566"/>
          </a:xfrm>
          <a:prstGeom prst="rect">
            <a:avLst/>
          </a:prstGeom>
          <a:noFill/>
        </p:spPr>
        <p:txBody>
          <a:bodyPr wrap="square" lIns="0" rIns="0" tIns="0" bIns="0" anchor="t">
            <a:noAutofit/>
          </a:bodyPr>
          <a:lstStyle/>
          <a:p>
            <a:pPr algn="l">
              <a:lnSpc>
                <a:spcPct val="132000"/>
              </a:lnSpc>
            </a:pPr>
            <a:r>
              <a:rPr sz="990" b="0" i="0">
                <a:solidFill>
                  <a:srgbClr val="44546A"/>
                </a:solidFill>
                <a:latin typeface="Calibri"/>
              </a:rPr>
              <a:t>Ola, TVS, Bajaj and Ather take 86% of FY25 registrations. The HHI works out to about 1,900 — well above the 1,800 mark that signals a highly concentrated market.</a:t>
            </a:r>
          </a:p>
        </p:txBody>
      </p:sp>
      <p:cxnSp>
        <p:nvCxnSpPr>
          <p:cNvPr id="11" name="Connector 10"/>
          <p:cNvCxnSpPr/>
          <p:nvPr/>
        </p:nvCxnSpPr>
        <p:spPr>
          <a:xfrm>
            <a:off x="658368" y="2240527"/>
            <a:ext cx="562356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8368" y="2496559"/>
            <a:ext cx="310896" cy="237744"/>
          </a:xfrm>
          <a:prstGeom prst="rect">
            <a:avLst/>
          </a:prstGeom>
          <a:noFill/>
        </p:spPr>
        <p:txBody>
          <a:bodyPr wrap="square" lIns="0" rIns="0" tIns="0" bIns="0" anchor="t">
            <a:noAutofit/>
          </a:bodyPr>
          <a:lstStyle/>
          <a:p>
            <a:pPr algn="l">
              <a:lnSpc>
                <a:spcPct val="100000"/>
              </a:lnSpc>
            </a:pPr>
            <a:r>
              <a:rPr sz="1019" b="1" i="0">
                <a:solidFill>
                  <a:srgbClr val="2B6CB0"/>
                </a:solidFill>
                <a:latin typeface="Calibri"/>
              </a:rPr>
              <a:t>2</a:t>
            </a:r>
          </a:p>
        </p:txBody>
      </p:sp>
      <p:sp>
        <p:nvSpPr>
          <p:cNvPr id="13" name="TextBox 12"/>
          <p:cNvSpPr txBox="1"/>
          <p:nvPr/>
        </p:nvSpPr>
        <p:spPr>
          <a:xfrm>
            <a:off x="1042416" y="2459983"/>
            <a:ext cx="5422392" cy="171200"/>
          </a:xfrm>
          <a:prstGeom prst="rect">
            <a:avLst/>
          </a:prstGeom>
          <a:noFill/>
        </p:spPr>
        <p:txBody>
          <a:bodyPr wrap="square" lIns="0" rIns="0" tIns="0" bIns="0" anchor="t">
            <a:noAutofit/>
          </a:bodyPr>
          <a:lstStyle/>
          <a:p>
            <a:pPr algn="l">
              <a:lnSpc>
                <a:spcPct val="118000"/>
              </a:lnSpc>
            </a:pPr>
            <a:r>
              <a:rPr sz="1120" b="1" i="0">
                <a:solidFill>
                  <a:srgbClr val="12263F"/>
                </a:solidFill>
                <a:latin typeface="Calibri"/>
              </a:rPr>
              <a:t>Strategic interdependence</a:t>
            </a:r>
          </a:p>
        </p:txBody>
      </p:sp>
      <p:sp>
        <p:nvSpPr>
          <p:cNvPr id="14" name="TextBox 13"/>
          <p:cNvSpPr txBox="1"/>
          <p:nvPr/>
        </p:nvSpPr>
        <p:spPr>
          <a:xfrm>
            <a:off x="1042416" y="2667759"/>
            <a:ext cx="5422392" cy="338566"/>
          </a:xfrm>
          <a:prstGeom prst="rect">
            <a:avLst/>
          </a:prstGeom>
          <a:noFill/>
        </p:spPr>
        <p:txBody>
          <a:bodyPr wrap="square" lIns="0" rIns="0" tIns="0" bIns="0" anchor="t">
            <a:noAutofit/>
          </a:bodyPr>
          <a:lstStyle/>
          <a:p>
            <a:pPr algn="l">
              <a:lnSpc>
                <a:spcPct val="132000"/>
              </a:lnSpc>
            </a:pPr>
            <a:r>
              <a:rPr sz="990" b="0" i="0">
                <a:solidFill>
                  <a:srgbClr val="44546A"/>
                </a:solidFill>
                <a:latin typeface="Calibri"/>
              </a:rPr>
              <a:t>No firm can set a price without guessing rivals' reactions. When Ola cut prices on the S1 X, TVS and Bajaj responded within weeks through the iQube and Chetak ranges.</a:t>
            </a:r>
          </a:p>
        </p:txBody>
      </p:sp>
      <p:cxnSp>
        <p:nvCxnSpPr>
          <p:cNvPr id="15" name="Connector 14"/>
          <p:cNvCxnSpPr/>
          <p:nvPr/>
        </p:nvCxnSpPr>
        <p:spPr>
          <a:xfrm>
            <a:off x="658368" y="3207493"/>
            <a:ext cx="562356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3463525"/>
            <a:ext cx="310896" cy="237744"/>
          </a:xfrm>
          <a:prstGeom prst="rect">
            <a:avLst/>
          </a:prstGeom>
          <a:noFill/>
        </p:spPr>
        <p:txBody>
          <a:bodyPr wrap="square" lIns="0" rIns="0" tIns="0" bIns="0" anchor="t">
            <a:noAutofit/>
          </a:bodyPr>
          <a:lstStyle/>
          <a:p>
            <a:pPr algn="l">
              <a:lnSpc>
                <a:spcPct val="100000"/>
              </a:lnSpc>
            </a:pPr>
            <a:r>
              <a:rPr sz="1019" b="1" i="0">
                <a:solidFill>
                  <a:srgbClr val="2B6CB0"/>
                </a:solidFill>
                <a:latin typeface="Calibri"/>
              </a:rPr>
              <a:t>3</a:t>
            </a:r>
          </a:p>
        </p:txBody>
      </p:sp>
      <p:sp>
        <p:nvSpPr>
          <p:cNvPr id="17" name="TextBox 16"/>
          <p:cNvSpPr txBox="1"/>
          <p:nvPr/>
        </p:nvSpPr>
        <p:spPr>
          <a:xfrm>
            <a:off x="1042416" y="3426949"/>
            <a:ext cx="5422392" cy="171200"/>
          </a:xfrm>
          <a:prstGeom prst="rect">
            <a:avLst/>
          </a:prstGeom>
          <a:noFill/>
        </p:spPr>
        <p:txBody>
          <a:bodyPr wrap="square" lIns="0" rIns="0" tIns="0" bIns="0" anchor="t">
            <a:noAutofit/>
          </a:bodyPr>
          <a:lstStyle/>
          <a:p>
            <a:pPr algn="l">
              <a:lnSpc>
                <a:spcPct val="118000"/>
              </a:lnSpc>
            </a:pPr>
            <a:r>
              <a:rPr sz="1120" b="1" i="0">
                <a:solidFill>
                  <a:srgbClr val="12263F"/>
                </a:solidFill>
                <a:latin typeface="Calibri"/>
              </a:rPr>
              <a:t>Barriers to entry — and to exit</a:t>
            </a:r>
          </a:p>
        </p:txBody>
      </p:sp>
      <p:sp>
        <p:nvSpPr>
          <p:cNvPr id="18" name="TextBox 17"/>
          <p:cNvSpPr txBox="1"/>
          <p:nvPr/>
        </p:nvSpPr>
        <p:spPr>
          <a:xfrm>
            <a:off x="1042416" y="3634725"/>
            <a:ext cx="5422392" cy="338566"/>
          </a:xfrm>
          <a:prstGeom prst="rect">
            <a:avLst/>
          </a:prstGeom>
          <a:noFill/>
        </p:spPr>
        <p:txBody>
          <a:bodyPr wrap="square" lIns="0" rIns="0" tIns="0" bIns="0" anchor="t">
            <a:noAutofit/>
          </a:bodyPr>
          <a:lstStyle/>
          <a:p>
            <a:pPr algn="l">
              <a:lnSpc>
                <a:spcPct val="132000"/>
              </a:lnSpc>
            </a:pPr>
            <a:r>
              <a:rPr sz="990" b="0" i="0">
                <a:solidFill>
                  <a:srgbClr val="44546A"/>
                </a:solidFill>
                <a:latin typeface="Calibri"/>
              </a:rPr>
              <a:t>A ₹200-crore plant, battery-cell contracts, a service network of 4,000+ points and brand trust. Incumbents can retaliate, and a new entrant cannot walk away easily.</a:t>
            </a:r>
          </a:p>
        </p:txBody>
      </p:sp>
      <p:cxnSp>
        <p:nvCxnSpPr>
          <p:cNvPr id="19" name="Connector 18"/>
          <p:cNvCxnSpPr/>
          <p:nvPr/>
        </p:nvCxnSpPr>
        <p:spPr>
          <a:xfrm>
            <a:off x="658368" y="4174459"/>
            <a:ext cx="562356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4430491"/>
            <a:ext cx="310896" cy="237744"/>
          </a:xfrm>
          <a:prstGeom prst="rect">
            <a:avLst/>
          </a:prstGeom>
          <a:noFill/>
        </p:spPr>
        <p:txBody>
          <a:bodyPr wrap="square" lIns="0" rIns="0" tIns="0" bIns="0" anchor="t">
            <a:noAutofit/>
          </a:bodyPr>
          <a:lstStyle/>
          <a:p>
            <a:pPr algn="l">
              <a:lnSpc>
                <a:spcPct val="100000"/>
              </a:lnSpc>
            </a:pPr>
            <a:r>
              <a:rPr sz="1019" b="1" i="0">
                <a:solidFill>
                  <a:srgbClr val="2B6CB0"/>
                </a:solidFill>
                <a:latin typeface="Calibri"/>
              </a:rPr>
              <a:t>4</a:t>
            </a:r>
          </a:p>
        </p:txBody>
      </p:sp>
      <p:sp>
        <p:nvSpPr>
          <p:cNvPr id="21" name="TextBox 20"/>
          <p:cNvSpPr txBox="1"/>
          <p:nvPr/>
        </p:nvSpPr>
        <p:spPr>
          <a:xfrm>
            <a:off x="1042416" y="4393915"/>
            <a:ext cx="5422392" cy="171200"/>
          </a:xfrm>
          <a:prstGeom prst="rect">
            <a:avLst/>
          </a:prstGeom>
          <a:noFill/>
        </p:spPr>
        <p:txBody>
          <a:bodyPr wrap="square" lIns="0" rIns="0" tIns="0" bIns="0" anchor="t">
            <a:noAutofit/>
          </a:bodyPr>
          <a:lstStyle/>
          <a:p>
            <a:pPr algn="l">
              <a:lnSpc>
                <a:spcPct val="118000"/>
              </a:lnSpc>
            </a:pPr>
            <a:r>
              <a:rPr sz="1120" b="1" i="0">
                <a:solidFill>
                  <a:srgbClr val="12263F"/>
                </a:solidFill>
                <a:latin typeface="Calibri"/>
              </a:rPr>
              <a:t>Price rigidity, non-price competition</a:t>
            </a:r>
          </a:p>
        </p:txBody>
      </p:sp>
      <p:sp>
        <p:nvSpPr>
          <p:cNvPr id="22" name="TextBox 21"/>
          <p:cNvSpPr txBox="1"/>
          <p:nvPr/>
        </p:nvSpPr>
        <p:spPr>
          <a:xfrm>
            <a:off x="1042416" y="4601691"/>
            <a:ext cx="5422392" cy="338566"/>
          </a:xfrm>
          <a:prstGeom prst="rect">
            <a:avLst/>
          </a:prstGeom>
          <a:noFill/>
        </p:spPr>
        <p:txBody>
          <a:bodyPr wrap="square" lIns="0" rIns="0" tIns="0" bIns="0" anchor="t">
            <a:noAutofit/>
          </a:bodyPr>
          <a:lstStyle/>
          <a:p>
            <a:pPr algn="l">
              <a:lnSpc>
                <a:spcPct val="132000"/>
              </a:lnSpc>
            </a:pPr>
            <a:r>
              <a:rPr sz="990" b="0" i="0">
                <a:solidFill>
                  <a:srgbClr val="44546A"/>
                </a:solidFill>
                <a:latin typeface="Calibri"/>
              </a:rPr>
              <a:t>List prices sit in a narrow ₹30,000–40,000 band. Rivals compete on range, charging network, warranty and software instead of open price cuts.</a:t>
            </a:r>
          </a:p>
        </p:txBody>
      </p:sp>
      <p:sp>
        <p:nvSpPr>
          <p:cNvPr id="23" name="Rounded Rectangle 22"/>
          <p:cNvSpPr/>
          <p:nvPr/>
        </p:nvSpPr>
        <p:spPr>
          <a:xfrm>
            <a:off x="658368" y="5047488"/>
            <a:ext cx="5806440" cy="621792"/>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5047488"/>
            <a:ext cx="41148" cy="621792"/>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5047488"/>
            <a:ext cx="5404104" cy="621792"/>
          </a:xfrm>
          <a:prstGeom prst="rect">
            <a:avLst/>
          </a:prstGeom>
          <a:noFill/>
        </p:spPr>
        <p:txBody>
          <a:bodyPr wrap="square" lIns="0" rIns="0" tIns="0" bIns="0" anchor="ctr">
            <a:noAutofit/>
          </a:bodyPr>
          <a:lstStyle/>
          <a:p>
            <a:pPr algn="l">
              <a:lnSpc>
                <a:spcPct val="130000"/>
              </a:lnSpc>
            </a:pPr>
            <a:r>
              <a:rPr sz="919" b="1" i="0">
                <a:solidFill>
                  <a:srgbClr val="12263F"/>
                </a:solidFill>
                <a:latin typeface="Calibri"/>
              </a:rPr>
              <a:t>Definition check:  </a:t>
            </a:r>
            <a:r>
              <a:rPr sz="919" b="0" i="0">
                <a:solidFill>
                  <a:srgbClr val="44546A"/>
                </a:solidFill>
                <a:latin typeface="Calibri"/>
              </a:rPr>
              <a:t>not perfect competition — only four price-makers, and entry is not free. Not a monopoly — no single firm can dictate price.</a:t>
            </a:r>
          </a:p>
        </p:txBody>
      </p:sp>
      <p:pic>
        <p:nvPicPr>
          <p:cNvPr id="26" name="Picture 25" descr="chart_market_share.png"/>
          <p:cNvPicPr>
            <a:picLocks noChangeAspect="1"/>
          </p:cNvPicPr>
          <p:nvPr/>
        </p:nvPicPr>
        <p:blipFill>
          <a:blip r:embed="rId3"/>
          <a:stretch>
            <a:fillRect/>
          </a:stretch>
        </p:blipFill>
        <p:spPr>
          <a:xfrm>
            <a:off x="6915607" y="1547881"/>
            <a:ext cx="4617720" cy="2637261"/>
          </a:xfrm>
          <a:prstGeom prst="rect">
            <a:avLst/>
          </a:prstGeom>
        </p:spPr>
      </p:pic>
      <p:sp>
        <p:nvSpPr>
          <p:cNvPr id="27" name="TextBox 26"/>
          <p:cNvSpPr txBox="1"/>
          <p:nvPr/>
        </p:nvSpPr>
        <p:spPr>
          <a:xfrm>
            <a:off x="6915607" y="4258294"/>
            <a:ext cx="4617720" cy="296388"/>
          </a:xfrm>
          <a:prstGeom prst="rect">
            <a:avLst/>
          </a:prstGeom>
          <a:noFill/>
        </p:spPr>
        <p:txBody>
          <a:bodyPr wrap="square" lIns="0" rIns="0" tIns="0" bIns="0" anchor="t">
            <a:noAutofit/>
          </a:bodyPr>
          <a:lstStyle/>
          <a:p>
            <a:pPr algn="l">
              <a:lnSpc>
                <a:spcPct val="130000"/>
              </a:lnSpc>
            </a:pPr>
            <a:r>
              <a:rPr sz="880" b="0" i="0">
                <a:solidFill>
                  <a:srgbClr val="7B8B9E"/>
                </a:solidFill>
                <a:latin typeface="Calibri"/>
              </a:rPr>
              <a:t>Concentration is the first test of an oligopoly: four firms, not the market, decide the price. Rivals track each other's prices and volumes week by week.</a:t>
            </a:r>
          </a:p>
        </p:txBody>
      </p:sp>
      <p:sp>
        <p:nvSpPr>
          <p:cNvPr id="28" name="Rounded Rectangle 27"/>
          <p:cNvSpPr/>
          <p:nvPr/>
        </p:nvSpPr>
        <p:spPr>
          <a:xfrm>
            <a:off x="6915607" y="4664410"/>
            <a:ext cx="4617720" cy="566928"/>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061911" y="4664410"/>
            <a:ext cx="4325112" cy="566928"/>
          </a:xfrm>
          <a:prstGeom prst="rect">
            <a:avLst/>
          </a:prstGeom>
          <a:noFill/>
        </p:spPr>
        <p:txBody>
          <a:bodyPr wrap="square" lIns="0" rIns="0" tIns="0" bIns="0" anchor="ctr">
            <a:noAutofit/>
          </a:bodyPr>
          <a:lstStyle/>
          <a:p>
            <a:pPr algn="l">
              <a:lnSpc>
                <a:spcPct val="126000"/>
              </a:lnSpc>
            </a:pPr>
            <a:r>
              <a:rPr sz="880" b="1" i="0">
                <a:solidFill>
                  <a:srgbClr val="12263F"/>
                </a:solidFill>
                <a:latin typeface="Calibri"/>
              </a:rPr>
              <a:t>So what? </a:t>
            </a:r>
            <a:r>
              <a:rPr sz="880" b="0" i="0">
                <a:solidFill>
                  <a:srgbClr val="44546A"/>
                </a:solidFill>
                <a:latin typeface="Calibri"/>
              </a:rPr>
              <a:t>Plan for reactions. A price list is a move in a game, not a free choice.</a:t>
            </a:r>
          </a:p>
        </p:txBody>
      </p:sp>
      <p:sp>
        <p:nvSpPr>
          <p:cNvPr id="30" name="Rounded Rectangle 29"/>
          <p:cNvSpPr/>
          <p:nvPr/>
        </p:nvSpPr>
        <p:spPr>
          <a:xfrm>
            <a:off x="658368" y="5888736"/>
            <a:ext cx="10874959" cy="402336"/>
          </a:xfrm>
          <a:prstGeom prst="roundRect">
            <a:avLst>
              <a:gd name="adj" fmla="val 4000"/>
            </a:avLst>
          </a:prstGeom>
          <a:solidFill>
            <a:srgbClr val="EC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5888736"/>
            <a:ext cx="45720" cy="402336"/>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1248" y="5888736"/>
            <a:ext cx="10509199" cy="402336"/>
          </a:xfrm>
          <a:prstGeom prst="rect">
            <a:avLst/>
          </a:prstGeom>
          <a:noFill/>
        </p:spPr>
        <p:txBody>
          <a:bodyPr wrap="square" lIns="0" rIns="0" tIns="0" bIns="0" anchor="ctr">
            <a:noAutofit/>
          </a:bodyPr>
          <a:lstStyle/>
          <a:p>
            <a:pPr algn="l">
              <a:lnSpc>
                <a:spcPct val="124000"/>
              </a:lnSpc>
            </a:pPr>
            <a:r>
              <a:rPr sz="760" b="1" i="0" spc="100">
                <a:solidFill>
                  <a:srgbClr val="2B6CB0"/>
                </a:solidFill>
                <a:latin typeface="Calibri"/>
              </a:rPr>
              <a:t>BOTTOM LINE   </a:t>
            </a:r>
            <a:r>
              <a:rPr sz="900" b="0" i="0">
                <a:solidFill>
                  <a:srgbClr val="12263F"/>
                </a:solidFill>
                <a:latin typeface="Calibri"/>
              </a:rPr>
              <a:t>an oligopoly, and a concentrated one — the decision rule is to predict rivals before setting a price.</a:t>
            </a:r>
          </a:p>
        </p:txBody>
      </p:sp>
      <p:cxnSp>
        <p:nvCxnSpPr>
          <p:cNvPr id="33" name="Connector 32"/>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35" name="TextBox 34"/>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36" name="TextBox 35"/>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37" name="TextBox 36"/>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2 of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1 · MARKET &amp; DEMAND ANALYSIS</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2B6CB0"/>
                </a:solidFill>
                <a:latin typeface="Calibri"/>
                <a:hlinkClick r:id="rId2"/>
              </a:rPr>
              <a:t>LECTURE LINK · SESSION 5: PRICING STRATEGIES</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How petrol prices move our demand</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Petrol is the complement that makes a scooter run. When petrol gets dearer, the petrol option loses its cost advantage and demand for Zenith-V rises.</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pic>
        <p:nvPicPr>
          <p:cNvPr id="8" name="Picture 7" descr="chart_demand_shift.png"/>
          <p:cNvPicPr>
            <a:picLocks noChangeAspect="1"/>
          </p:cNvPicPr>
          <p:nvPr/>
        </p:nvPicPr>
        <p:blipFill>
          <a:blip r:embed="rId3"/>
          <a:stretch>
            <a:fillRect/>
          </a:stretch>
        </p:blipFill>
        <p:spPr>
          <a:xfrm>
            <a:off x="658368" y="1365001"/>
            <a:ext cx="6053328" cy="3565039"/>
          </a:xfrm>
          <a:prstGeom prst="rect">
            <a:avLst/>
          </a:prstGeom>
        </p:spPr>
      </p:pic>
      <p:sp>
        <p:nvSpPr>
          <p:cNvPr id="9" name="Rounded Rectangle 8"/>
          <p:cNvSpPr/>
          <p:nvPr/>
        </p:nvSpPr>
        <p:spPr>
          <a:xfrm>
            <a:off x="658368" y="5175504"/>
            <a:ext cx="10874959" cy="731520"/>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1248" y="5175504"/>
            <a:ext cx="1572768" cy="731520"/>
          </a:xfrm>
          <a:prstGeom prst="rect">
            <a:avLst/>
          </a:prstGeom>
          <a:noFill/>
        </p:spPr>
        <p:txBody>
          <a:bodyPr wrap="square" lIns="0" rIns="0" tIns="0" bIns="0" anchor="ctr">
            <a:noAutofit/>
          </a:bodyPr>
          <a:lstStyle/>
          <a:p>
            <a:pPr algn="l">
              <a:lnSpc>
                <a:spcPct val="128000"/>
              </a:lnSpc>
            </a:pPr>
            <a:r>
              <a:rPr sz="780" b="1" i="0" spc="110">
                <a:solidFill>
                  <a:srgbClr val="2B6CB0"/>
                </a:solidFill>
                <a:latin typeface="Calibri"/>
              </a:rPr>
              <a:t>OWN-PRICE
ELASTICITY</a:t>
            </a:r>
          </a:p>
        </p:txBody>
      </p:sp>
      <p:cxnSp>
        <p:nvCxnSpPr>
          <p:cNvPr id="11" name="Connector 10"/>
          <p:cNvCxnSpPr/>
          <p:nvPr/>
        </p:nvCxnSpPr>
        <p:spPr>
          <a:xfrm>
            <a:off x="2505456" y="5285232"/>
            <a:ext cx="0" cy="512064"/>
          </a:xfrm>
          <a:prstGeom prst="line">
            <a:avLst/>
          </a:prstGeom>
          <a:ln w="9525">
            <a:solidFill>
              <a:srgbClr val="C3CED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670048" y="5175504"/>
            <a:ext cx="8680399" cy="731520"/>
          </a:xfrm>
          <a:prstGeom prst="rect">
            <a:avLst/>
          </a:prstGeom>
          <a:noFill/>
        </p:spPr>
        <p:txBody>
          <a:bodyPr wrap="square" lIns="0" rIns="0" tIns="0" bIns="0" anchor="ctr">
            <a:noAutofit/>
          </a:bodyPr>
          <a:lstStyle/>
          <a:p>
            <a:pPr algn="l">
              <a:lnSpc>
                <a:spcPct val="128000"/>
              </a:lnSpc>
            </a:pPr>
            <a:r>
              <a:rPr sz="880" b="0" i="0">
                <a:solidFill>
                  <a:srgbClr val="44546A"/>
                </a:solidFill>
                <a:latin typeface="Calibri"/>
              </a:rPr>
              <a:t>With dozens of close substitutes and only ~6% EV penetration, |ε| &gt; 1: a 1% price cut raises quantity by more than 1%, so revenue rises. </a:t>
            </a:r>
            <a:r>
              <a:rPr sz="880" b="1" i="0">
                <a:solidFill>
                  <a:srgbClr val="12263F"/>
                </a:solidFill>
                <a:latin typeface="Calibri"/>
              </a:rPr>
              <a:t>That is why price is our strongest lever.</a:t>
            </a:r>
          </a:p>
        </p:txBody>
      </p:sp>
      <p:sp>
        <p:nvSpPr>
          <p:cNvPr id="13" name="Rounded Rectangle 12"/>
          <p:cNvSpPr/>
          <p:nvPr/>
        </p:nvSpPr>
        <p:spPr>
          <a:xfrm>
            <a:off x="6906463" y="1401577"/>
            <a:ext cx="4626864" cy="1061824"/>
          </a:xfrm>
          <a:prstGeom prst="roundRect">
            <a:avLst>
              <a:gd name="adj" fmla="val 4000"/>
            </a:avLst>
          </a:prstGeom>
          <a:solidFill>
            <a:srgbClr val="EC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906463" y="1401577"/>
            <a:ext cx="41148" cy="1061824"/>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07631" y="1566169"/>
            <a:ext cx="4224528"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Petrol is a complement</a:t>
            </a:r>
          </a:p>
        </p:txBody>
      </p:sp>
      <p:sp>
        <p:nvSpPr>
          <p:cNvPr id="16" name="TextBox 15"/>
          <p:cNvSpPr txBox="1"/>
          <p:nvPr/>
        </p:nvSpPr>
        <p:spPr>
          <a:xfrm>
            <a:off x="7107631" y="1785808"/>
            <a:ext cx="4224528" cy="494713"/>
          </a:xfrm>
          <a:prstGeom prst="rect">
            <a:avLst/>
          </a:prstGeom>
          <a:noFill/>
        </p:spPr>
        <p:txBody>
          <a:bodyPr wrap="square" lIns="0" rIns="0" tIns="0" bIns="0" anchor="t">
            <a:noAutofit/>
          </a:bodyPr>
          <a:lstStyle/>
          <a:p>
            <a:pPr algn="l">
              <a:lnSpc>
                <a:spcPct val="134000"/>
              </a:lnSpc>
            </a:pPr>
            <a:r>
              <a:rPr sz="950" b="0" i="0">
                <a:solidFill>
                  <a:srgbClr val="44546A"/>
                </a:solidFill>
                <a:latin typeface="Calibri"/>
              </a:rPr>
              <a:t>A petrol scooter cannot run without petrol, so Zenith-V substitutes for the whole petrol bundle. The link is a cross-price elasticity, </a:t>
            </a:r>
            <a:r>
              <a:rPr sz="950" b="1" i="0">
                <a:solidFill>
                  <a:srgbClr val="12263F"/>
                </a:solidFill>
                <a:latin typeface="Calibri"/>
              </a:rPr>
              <a:t>Exy &gt; 0</a:t>
            </a:r>
            <a:r>
              <a:rPr sz="950" b="0" i="0">
                <a:solidFill>
                  <a:srgbClr val="44546A"/>
                </a:solidFill>
                <a:latin typeface="Calibri"/>
              </a:rPr>
              <a:t>: a dearer litre of petrol raises the quantity of EVs demanded.</a:t>
            </a:r>
          </a:p>
        </p:txBody>
      </p:sp>
      <p:sp>
        <p:nvSpPr>
          <p:cNvPr id="17" name="Rounded Rectangle 16"/>
          <p:cNvSpPr/>
          <p:nvPr/>
        </p:nvSpPr>
        <p:spPr>
          <a:xfrm>
            <a:off x="6906463" y="2646281"/>
            <a:ext cx="4626864" cy="1061824"/>
          </a:xfrm>
          <a:prstGeom prst="roundRect">
            <a:avLst>
              <a:gd name="adj" fmla="val 4000"/>
            </a:avLst>
          </a:prstGeom>
          <a:solidFill>
            <a:srgbClr val="E9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906463" y="2646281"/>
            <a:ext cx="41148" cy="10618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07631" y="2810873"/>
            <a:ext cx="4224528"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The monthly arithmetic</a:t>
            </a:r>
          </a:p>
        </p:txBody>
      </p:sp>
      <p:sp>
        <p:nvSpPr>
          <p:cNvPr id="20" name="TextBox 19"/>
          <p:cNvSpPr txBox="1"/>
          <p:nvPr/>
        </p:nvSpPr>
        <p:spPr>
          <a:xfrm>
            <a:off x="7107631" y="3030512"/>
            <a:ext cx="4224528" cy="494713"/>
          </a:xfrm>
          <a:prstGeom prst="rect">
            <a:avLst/>
          </a:prstGeom>
          <a:noFill/>
        </p:spPr>
        <p:txBody>
          <a:bodyPr wrap="square" lIns="0" rIns="0" tIns="0" bIns="0" anchor="t">
            <a:noAutofit/>
          </a:bodyPr>
          <a:lstStyle/>
          <a:p>
            <a:pPr algn="l">
              <a:lnSpc>
                <a:spcPct val="134000"/>
              </a:lnSpc>
            </a:pPr>
            <a:r>
              <a:rPr sz="950" b="0" i="0">
                <a:solidFill>
                  <a:srgbClr val="44546A"/>
                </a:solidFill>
                <a:latin typeface="Calibri"/>
              </a:rPr>
              <a:t>60 km a day at 45 km/l = 40 litres a month, about </a:t>
            </a:r>
            <a:r>
              <a:rPr sz="950" b="1" i="0">
                <a:solidFill>
                  <a:srgbClr val="12263F"/>
                </a:solidFill>
                <a:latin typeface="Calibri"/>
              </a:rPr>
              <a:t>₹4,200</a:t>
            </a:r>
            <a:r>
              <a:rPr sz="950" b="0" i="0">
                <a:solidFill>
                  <a:srgbClr val="44546A"/>
                </a:solidFill>
                <a:latin typeface="Calibri"/>
              </a:rPr>
              <a:t> at ₹105 a litre. The same distance on electricity costs about </a:t>
            </a:r>
            <a:r>
              <a:rPr sz="950" b="1" i="0">
                <a:solidFill>
                  <a:srgbClr val="12263F"/>
                </a:solidFill>
                <a:latin typeface="Calibri"/>
              </a:rPr>
              <a:t>₹360</a:t>
            </a:r>
            <a:r>
              <a:rPr sz="950" b="0" i="0">
                <a:solidFill>
                  <a:srgbClr val="44546A"/>
                </a:solidFill>
                <a:latin typeface="Calibri"/>
              </a:rPr>
              <a:t>. That </a:t>
            </a:r>
            <a:r>
              <a:rPr sz="950" b="1" i="0">
                <a:solidFill>
                  <a:srgbClr val="44546A"/>
                </a:solidFill>
                <a:latin typeface="Calibri"/>
              </a:rPr>
              <a:t>₹3,840 a month, ₹46,000 a year</a:t>
            </a:r>
            <a:r>
              <a:rPr sz="950" b="0" i="0">
                <a:solidFill>
                  <a:srgbClr val="44546A"/>
                </a:solidFill>
                <a:latin typeface="Calibri"/>
              </a:rPr>
              <a:t>, is the product we are actually selling.</a:t>
            </a:r>
          </a:p>
        </p:txBody>
      </p:sp>
      <p:sp>
        <p:nvSpPr>
          <p:cNvPr id="21" name="Rounded Rectangle 20"/>
          <p:cNvSpPr/>
          <p:nvPr/>
        </p:nvSpPr>
        <p:spPr>
          <a:xfrm>
            <a:off x="6906463" y="3890985"/>
            <a:ext cx="4626864" cy="1061824"/>
          </a:xfrm>
          <a:prstGeom prst="roundRect">
            <a:avLst>
              <a:gd name="adj" fmla="val 4000"/>
            </a:avLst>
          </a:prstGeom>
          <a:solidFill>
            <a:srgbClr val="FDF4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906463" y="3890985"/>
            <a:ext cx="41148" cy="10618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07631" y="4055577"/>
            <a:ext cx="4224528"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A shift, not a movement along the curve</a:t>
            </a:r>
          </a:p>
        </p:txBody>
      </p:sp>
      <p:sp>
        <p:nvSpPr>
          <p:cNvPr id="24" name="TextBox 23"/>
          <p:cNvSpPr txBox="1"/>
          <p:nvPr/>
        </p:nvSpPr>
        <p:spPr>
          <a:xfrm>
            <a:off x="7107631" y="4275216"/>
            <a:ext cx="4224528" cy="494713"/>
          </a:xfrm>
          <a:prstGeom prst="rect">
            <a:avLst/>
          </a:prstGeom>
          <a:noFill/>
        </p:spPr>
        <p:txBody>
          <a:bodyPr wrap="square" lIns="0" rIns="0" tIns="0" bIns="0" anchor="t">
            <a:noAutofit/>
          </a:bodyPr>
          <a:lstStyle/>
          <a:p>
            <a:pPr algn="l">
              <a:lnSpc>
                <a:spcPct val="134000"/>
              </a:lnSpc>
            </a:pPr>
            <a:r>
              <a:rPr sz="950" b="0" i="0">
                <a:solidFill>
                  <a:srgbClr val="44546A"/>
                </a:solidFill>
                <a:latin typeface="Calibri"/>
              </a:rPr>
              <a:t>Our own price has not changed, so the whole curve shifts right. Petrol price is a demand shifter; a change in our own price would only move quantity demanded along a given curve.</a:t>
            </a:r>
          </a:p>
        </p:txBody>
      </p:sp>
      <p:cxnSp>
        <p:nvCxnSpPr>
          <p:cNvPr id="25" name="Connector 24"/>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27" name="TextBox 26"/>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28" name="TextBox 27"/>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29" name="TextBox 28"/>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3 of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2 · PRICING &amp; GAME THEORY</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2B6CB0"/>
                </a:solidFill>
                <a:latin typeface="Calibri"/>
                <a:hlinkClick r:id="rId2"/>
              </a:rPr>
              <a:t>LECTURE LINK · SESSION 5: PRICING STRATEGIES</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Recommendation: penetration at ₹74,999</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The choice is not margin versus growth. At ₹74,999 we still earn ₹14,999 on every scooter, so penetration is a decision for scale — not a loss leader.</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419865"/>
            <a:ext cx="10874959" cy="512064"/>
          </a:xfrm>
          <a:prstGeom prst="roundRect">
            <a:avLst>
              <a:gd name="adj" fmla="val 4000"/>
            </a:avLst>
          </a:prstGeom>
          <a:solidFill>
            <a:srgbClr val="ECF2FA"/>
          </a:solidFill>
          <a:ln w="7620">
            <a:solidFill>
              <a:srgbClr val="C9DC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1419865"/>
            <a:ext cx="54864" cy="512064"/>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1419865"/>
            <a:ext cx="10454335" cy="512064"/>
          </a:xfrm>
          <a:prstGeom prst="rect">
            <a:avLst/>
          </a:prstGeom>
          <a:noFill/>
        </p:spPr>
        <p:txBody>
          <a:bodyPr wrap="square" lIns="0" rIns="0" tIns="0" bIns="0" anchor="ctr">
            <a:noAutofit/>
          </a:bodyPr>
          <a:lstStyle/>
          <a:p>
            <a:pPr algn="l">
              <a:lnSpc>
                <a:spcPct val="126000"/>
              </a:lnSpc>
            </a:pPr>
            <a:r>
              <a:rPr sz="1220" b="1" i="0">
                <a:solidFill>
                  <a:srgbClr val="12263F"/>
                </a:solidFill>
                <a:latin typeface="Calibri"/>
              </a:rPr>
              <a:t>Set the launch price at ₹74,999 (ex-showroom)</a:t>
            </a:r>
            <a:r>
              <a:rPr sz="1060" b="0" i="0">
                <a:solidFill>
                  <a:srgbClr val="44546A"/>
                </a:solidFill>
                <a:latin typeface="Calibri"/>
              </a:rPr>
              <a:t>  —  a 25% mark-up over the ₹60,000 unit cost, with a ₹1,05,000 premium trim to serve the top of the market.</a:t>
            </a:r>
          </a:p>
        </p:txBody>
      </p:sp>
      <p:sp>
        <p:nvSpPr>
          <p:cNvPr id="11" name="Rectangle 10"/>
          <p:cNvSpPr/>
          <p:nvPr/>
        </p:nvSpPr>
        <p:spPr>
          <a:xfrm>
            <a:off x="658368" y="2078233"/>
            <a:ext cx="5760720" cy="329184"/>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505456" y="2078233"/>
            <a:ext cx="1956816" cy="329184"/>
          </a:xfrm>
          <a:prstGeom prst="rect">
            <a:avLst/>
          </a:prstGeom>
          <a:noFill/>
        </p:spPr>
        <p:txBody>
          <a:bodyPr wrap="square" lIns="0" rIns="0" tIns="0" bIns="0" anchor="ctr">
            <a:noAutofit/>
          </a:bodyPr>
          <a:lstStyle/>
          <a:p>
            <a:pPr algn="ctr">
              <a:lnSpc>
                <a:spcPct val="100000"/>
              </a:lnSpc>
            </a:pPr>
            <a:r>
              <a:rPr sz="780" b="1" i="0" spc="80">
                <a:solidFill>
                  <a:srgbClr val="FFFFFF"/>
                </a:solidFill>
                <a:latin typeface="Calibri"/>
              </a:rPr>
              <a:t>PENETRATION   ←  RECOMMENDED</a:t>
            </a:r>
          </a:p>
        </p:txBody>
      </p:sp>
      <p:sp>
        <p:nvSpPr>
          <p:cNvPr id="13" name="TextBox 12"/>
          <p:cNvSpPr txBox="1"/>
          <p:nvPr/>
        </p:nvSpPr>
        <p:spPr>
          <a:xfrm>
            <a:off x="4462272" y="2078233"/>
            <a:ext cx="1956816" cy="329184"/>
          </a:xfrm>
          <a:prstGeom prst="rect">
            <a:avLst/>
          </a:prstGeom>
          <a:noFill/>
        </p:spPr>
        <p:txBody>
          <a:bodyPr wrap="square" lIns="0" rIns="0" tIns="0" bIns="0" anchor="ctr">
            <a:noAutofit/>
          </a:bodyPr>
          <a:lstStyle/>
          <a:p>
            <a:pPr algn="ctr">
              <a:lnSpc>
                <a:spcPct val="100000"/>
              </a:lnSpc>
            </a:pPr>
            <a:r>
              <a:rPr sz="780" b="1" i="0" spc="80">
                <a:solidFill>
                  <a:srgbClr val="C9DCF0"/>
                </a:solidFill>
                <a:latin typeface="Calibri"/>
              </a:rPr>
              <a:t>SKIMMING</a:t>
            </a:r>
          </a:p>
        </p:txBody>
      </p:sp>
      <p:sp>
        <p:nvSpPr>
          <p:cNvPr id="14" name="Rectangle 13"/>
          <p:cNvSpPr/>
          <p:nvPr/>
        </p:nvSpPr>
        <p:spPr>
          <a:xfrm>
            <a:off x="658368" y="2407417"/>
            <a:ext cx="5760720" cy="429768"/>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505456" y="2407417"/>
            <a:ext cx="1956816" cy="429768"/>
          </a:xfrm>
          <a:prstGeom prst="rect">
            <a:avLst/>
          </a:prstGeom>
          <a:solidFill>
            <a:srgbClr val="ECF2FA"/>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8096" y="2407417"/>
            <a:ext cx="1700784" cy="429768"/>
          </a:xfrm>
          <a:prstGeom prst="rect">
            <a:avLst/>
          </a:prstGeom>
          <a:noFill/>
        </p:spPr>
        <p:txBody>
          <a:bodyPr wrap="square" lIns="0" rIns="0" tIns="0" bIns="0" anchor="ctr">
            <a:noAutofit/>
          </a:bodyPr>
          <a:lstStyle/>
          <a:p>
            <a:pPr algn="l">
              <a:lnSpc>
                <a:spcPct val="112000"/>
              </a:lnSpc>
            </a:pPr>
            <a:r>
              <a:rPr sz="880" b="1" i="0">
                <a:solidFill>
                  <a:srgbClr val="12263F"/>
                </a:solidFill>
                <a:latin typeface="Calibri"/>
              </a:rPr>
              <a:t>Launch price</a:t>
            </a:r>
          </a:p>
        </p:txBody>
      </p:sp>
      <p:sp>
        <p:nvSpPr>
          <p:cNvPr id="17" name="TextBox 16"/>
          <p:cNvSpPr txBox="1"/>
          <p:nvPr/>
        </p:nvSpPr>
        <p:spPr>
          <a:xfrm>
            <a:off x="2596896" y="2407417"/>
            <a:ext cx="1792224" cy="429768"/>
          </a:xfrm>
          <a:prstGeom prst="rect">
            <a:avLst/>
          </a:prstGeom>
          <a:noFill/>
        </p:spPr>
        <p:txBody>
          <a:bodyPr wrap="square" lIns="0" rIns="0" tIns="0" bIns="0" anchor="ctr">
            <a:noAutofit/>
          </a:bodyPr>
          <a:lstStyle/>
          <a:p>
            <a:pPr algn="l">
              <a:lnSpc>
                <a:spcPct val="114000"/>
              </a:lnSpc>
            </a:pPr>
            <a:r>
              <a:rPr sz="880" b="0" i="0">
                <a:solidFill>
                  <a:srgbClr val="12263F"/>
                </a:solidFill>
                <a:latin typeface="Calibri"/>
              </a:rPr>
              <a:t>₹74,999</a:t>
            </a:r>
          </a:p>
        </p:txBody>
      </p:sp>
      <p:sp>
        <p:nvSpPr>
          <p:cNvPr id="18" name="TextBox 17"/>
          <p:cNvSpPr txBox="1"/>
          <p:nvPr/>
        </p:nvSpPr>
        <p:spPr>
          <a:xfrm>
            <a:off x="4553712" y="2407417"/>
            <a:ext cx="1792224" cy="429768"/>
          </a:xfrm>
          <a:prstGeom prst="rect">
            <a:avLst/>
          </a:prstGeom>
          <a:noFill/>
        </p:spPr>
        <p:txBody>
          <a:bodyPr wrap="square" lIns="0" rIns="0" tIns="0" bIns="0" anchor="ctr">
            <a:noAutofit/>
          </a:bodyPr>
          <a:lstStyle/>
          <a:p>
            <a:pPr algn="l">
              <a:lnSpc>
                <a:spcPct val="114000"/>
              </a:lnSpc>
            </a:pPr>
            <a:r>
              <a:rPr sz="880" b="0" i="0">
                <a:solidFill>
                  <a:srgbClr val="44546A"/>
                </a:solidFill>
                <a:latin typeface="Calibri"/>
              </a:rPr>
              <a:t>₹1,10,000</a:t>
            </a:r>
          </a:p>
        </p:txBody>
      </p:sp>
      <p:sp>
        <p:nvSpPr>
          <p:cNvPr id="19" name="Rectangle 18"/>
          <p:cNvSpPr/>
          <p:nvPr/>
        </p:nvSpPr>
        <p:spPr>
          <a:xfrm>
            <a:off x="658368" y="2837185"/>
            <a:ext cx="5760720" cy="429768"/>
          </a:xfrm>
          <a:prstGeom prst="rect">
            <a:avLst/>
          </a:prstGeom>
          <a:solidFill>
            <a:srgbClr val="F7F9FC"/>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505456" y="2837185"/>
            <a:ext cx="1956816" cy="429768"/>
          </a:xfrm>
          <a:prstGeom prst="rect">
            <a:avLst/>
          </a:prstGeom>
          <a:solidFill>
            <a:srgbClr val="ECF2FA"/>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2837185"/>
            <a:ext cx="1700784" cy="429768"/>
          </a:xfrm>
          <a:prstGeom prst="rect">
            <a:avLst/>
          </a:prstGeom>
          <a:noFill/>
        </p:spPr>
        <p:txBody>
          <a:bodyPr wrap="square" lIns="0" rIns="0" tIns="0" bIns="0" anchor="ctr">
            <a:noAutofit/>
          </a:bodyPr>
          <a:lstStyle/>
          <a:p>
            <a:pPr algn="l">
              <a:lnSpc>
                <a:spcPct val="112000"/>
              </a:lnSpc>
            </a:pPr>
            <a:r>
              <a:rPr sz="880" b="1" i="0">
                <a:solidFill>
                  <a:srgbClr val="12263F"/>
                </a:solidFill>
                <a:latin typeface="Calibri"/>
              </a:rPr>
              <a:t>Contribution / unit</a:t>
            </a:r>
          </a:p>
        </p:txBody>
      </p:sp>
      <p:sp>
        <p:nvSpPr>
          <p:cNvPr id="22" name="TextBox 21"/>
          <p:cNvSpPr txBox="1"/>
          <p:nvPr/>
        </p:nvSpPr>
        <p:spPr>
          <a:xfrm>
            <a:off x="2596896" y="2837185"/>
            <a:ext cx="1792224" cy="429768"/>
          </a:xfrm>
          <a:prstGeom prst="rect">
            <a:avLst/>
          </a:prstGeom>
          <a:noFill/>
        </p:spPr>
        <p:txBody>
          <a:bodyPr wrap="square" lIns="0" rIns="0" tIns="0" bIns="0" anchor="ctr">
            <a:noAutofit/>
          </a:bodyPr>
          <a:lstStyle/>
          <a:p>
            <a:pPr algn="l">
              <a:lnSpc>
                <a:spcPct val="114000"/>
              </a:lnSpc>
            </a:pPr>
            <a:r>
              <a:rPr sz="880" b="0" i="0">
                <a:solidFill>
                  <a:srgbClr val="12263F"/>
                </a:solidFill>
                <a:latin typeface="Calibri"/>
              </a:rPr>
              <a:t>₹14,999  (25%)</a:t>
            </a:r>
          </a:p>
        </p:txBody>
      </p:sp>
      <p:sp>
        <p:nvSpPr>
          <p:cNvPr id="23" name="TextBox 22"/>
          <p:cNvSpPr txBox="1"/>
          <p:nvPr/>
        </p:nvSpPr>
        <p:spPr>
          <a:xfrm>
            <a:off x="4553712" y="2837185"/>
            <a:ext cx="1792224" cy="429768"/>
          </a:xfrm>
          <a:prstGeom prst="rect">
            <a:avLst/>
          </a:prstGeom>
          <a:noFill/>
        </p:spPr>
        <p:txBody>
          <a:bodyPr wrap="square" lIns="0" rIns="0" tIns="0" bIns="0" anchor="ctr">
            <a:noAutofit/>
          </a:bodyPr>
          <a:lstStyle/>
          <a:p>
            <a:pPr algn="l">
              <a:lnSpc>
                <a:spcPct val="114000"/>
              </a:lnSpc>
            </a:pPr>
            <a:r>
              <a:rPr sz="880" b="0" i="0">
                <a:solidFill>
                  <a:srgbClr val="44546A"/>
                </a:solidFill>
                <a:latin typeface="Calibri"/>
              </a:rPr>
              <a:t>₹49,999  (83%)</a:t>
            </a:r>
          </a:p>
        </p:txBody>
      </p:sp>
      <p:sp>
        <p:nvSpPr>
          <p:cNvPr id="24" name="Rectangle 23"/>
          <p:cNvSpPr/>
          <p:nvPr/>
        </p:nvSpPr>
        <p:spPr>
          <a:xfrm>
            <a:off x="658368" y="3266953"/>
            <a:ext cx="5760720" cy="429768"/>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05456" y="3266953"/>
            <a:ext cx="1956816" cy="429768"/>
          </a:xfrm>
          <a:prstGeom prst="rect">
            <a:avLst/>
          </a:prstGeom>
          <a:solidFill>
            <a:srgbClr val="ECF2FA"/>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8096" y="3266953"/>
            <a:ext cx="1700784" cy="429768"/>
          </a:xfrm>
          <a:prstGeom prst="rect">
            <a:avLst/>
          </a:prstGeom>
          <a:noFill/>
        </p:spPr>
        <p:txBody>
          <a:bodyPr wrap="square" lIns="0" rIns="0" tIns="0" bIns="0" anchor="ctr">
            <a:noAutofit/>
          </a:bodyPr>
          <a:lstStyle/>
          <a:p>
            <a:pPr algn="l">
              <a:lnSpc>
                <a:spcPct val="112000"/>
              </a:lnSpc>
            </a:pPr>
            <a:r>
              <a:rPr sz="880" b="1" i="0">
                <a:solidFill>
                  <a:srgbClr val="12263F"/>
                </a:solidFill>
                <a:latin typeface="Calibri"/>
              </a:rPr>
              <a:t>Units to recover ₹200 cr</a:t>
            </a:r>
          </a:p>
        </p:txBody>
      </p:sp>
      <p:sp>
        <p:nvSpPr>
          <p:cNvPr id="27" name="TextBox 26"/>
          <p:cNvSpPr txBox="1"/>
          <p:nvPr/>
        </p:nvSpPr>
        <p:spPr>
          <a:xfrm>
            <a:off x="2596896" y="3266953"/>
            <a:ext cx="1792224" cy="429768"/>
          </a:xfrm>
          <a:prstGeom prst="rect">
            <a:avLst/>
          </a:prstGeom>
          <a:noFill/>
        </p:spPr>
        <p:txBody>
          <a:bodyPr wrap="square" lIns="0" rIns="0" tIns="0" bIns="0" anchor="ctr">
            <a:noAutofit/>
          </a:bodyPr>
          <a:lstStyle/>
          <a:p>
            <a:pPr algn="l">
              <a:lnSpc>
                <a:spcPct val="114000"/>
              </a:lnSpc>
            </a:pPr>
            <a:r>
              <a:rPr sz="880" b="0" i="0">
                <a:solidFill>
                  <a:srgbClr val="12263F"/>
                </a:solidFill>
                <a:latin typeface="Calibri"/>
              </a:rPr>
              <a:t>1.33 lakh</a:t>
            </a:r>
          </a:p>
        </p:txBody>
      </p:sp>
      <p:sp>
        <p:nvSpPr>
          <p:cNvPr id="28" name="TextBox 27"/>
          <p:cNvSpPr txBox="1"/>
          <p:nvPr/>
        </p:nvSpPr>
        <p:spPr>
          <a:xfrm>
            <a:off x="4553712" y="3266953"/>
            <a:ext cx="1792224" cy="429768"/>
          </a:xfrm>
          <a:prstGeom prst="rect">
            <a:avLst/>
          </a:prstGeom>
          <a:noFill/>
        </p:spPr>
        <p:txBody>
          <a:bodyPr wrap="square" lIns="0" rIns="0" tIns="0" bIns="0" anchor="ctr">
            <a:noAutofit/>
          </a:bodyPr>
          <a:lstStyle/>
          <a:p>
            <a:pPr algn="l">
              <a:lnSpc>
                <a:spcPct val="114000"/>
              </a:lnSpc>
            </a:pPr>
            <a:r>
              <a:rPr sz="880" b="0" i="0">
                <a:solidFill>
                  <a:srgbClr val="44546A"/>
                </a:solidFill>
                <a:latin typeface="Calibri"/>
              </a:rPr>
              <a:t>0.40 lakh</a:t>
            </a:r>
          </a:p>
        </p:txBody>
      </p:sp>
      <p:sp>
        <p:nvSpPr>
          <p:cNvPr id="29" name="Rectangle 28"/>
          <p:cNvSpPr/>
          <p:nvPr/>
        </p:nvSpPr>
        <p:spPr>
          <a:xfrm>
            <a:off x="658368" y="3696721"/>
            <a:ext cx="5760720" cy="429768"/>
          </a:xfrm>
          <a:prstGeom prst="rect">
            <a:avLst/>
          </a:prstGeom>
          <a:solidFill>
            <a:srgbClr val="F7F9FC"/>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505456" y="3696721"/>
            <a:ext cx="1956816" cy="429768"/>
          </a:xfrm>
          <a:prstGeom prst="rect">
            <a:avLst/>
          </a:prstGeom>
          <a:solidFill>
            <a:srgbClr val="ECF2FA"/>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096" y="3696721"/>
            <a:ext cx="1700784" cy="429768"/>
          </a:xfrm>
          <a:prstGeom prst="rect">
            <a:avLst/>
          </a:prstGeom>
          <a:noFill/>
        </p:spPr>
        <p:txBody>
          <a:bodyPr wrap="square" lIns="0" rIns="0" tIns="0" bIns="0" anchor="ctr">
            <a:noAutofit/>
          </a:bodyPr>
          <a:lstStyle/>
          <a:p>
            <a:pPr algn="l">
              <a:lnSpc>
                <a:spcPct val="112000"/>
              </a:lnSpc>
            </a:pPr>
            <a:r>
              <a:rPr sz="880" b="1" i="0">
                <a:solidFill>
                  <a:srgbClr val="12263F"/>
                </a:solidFill>
                <a:latin typeface="Calibri"/>
              </a:rPr>
              <a:t>Works best when</a:t>
            </a:r>
          </a:p>
        </p:txBody>
      </p:sp>
      <p:sp>
        <p:nvSpPr>
          <p:cNvPr id="32" name="TextBox 31"/>
          <p:cNvSpPr txBox="1"/>
          <p:nvPr/>
        </p:nvSpPr>
        <p:spPr>
          <a:xfrm>
            <a:off x="2596896" y="3696721"/>
            <a:ext cx="1792224" cy="429768"/>
          </a:xfrm>
          <a:prstGeom prst="rect">
            <a:avLst/>
          </a:prstGeom>
          <a:noFill/>
        </p:spPr>
        <p:txBody>
          <a:bodyPr wrap="square" lIns="0" rIns="0" tIns="0" bIns="0" anchor="ctr">
            <a:noAutofit/>
          </a:bodyPr>
          <a:lstStyle/>
          <a:p>
            <a:pPr algn="l">
              <a:lnSpc>
                <a:spcPct val="114000"/>
              </a:lnSpc>
            </a:pPr>
            <a:r>
              <a:rPr sz="880" b="0" i="0">
                <a:solidFill>
                  <a:srgbClr val="12263F"/>
                </a:solidFill>
                <a:latin typeface="Calibri"/>
              </a:rPr>
              <a:t>Demand is elastic and rivals are already in place</a:t>
            </a:r>
          </a:p>
        </p:txBody>
      </p:sp>
      <p:sp>
        <p:nvSpPr>
          <p:cNvPr id="33" name="TextBox 32"/>
          <p:cNvSpPr txBox="1"/>
          <p:nvPr/>
        </p:nvSpPr>
        <p:spPr>
          <a:xfrm>
            <a:off x="4553712" y="3696721"/>
            <a:ext cx="1792224" cy="429768"/>
          </a:xfrm>
          <a:prstGeom prst="rect">
            <a:avLst/>
          </a:prstGeom>
          <a:noFill/>
        </p:spPr>
        <p:txBody>
          <a:bodyPr wrap="square" lIns="0" rIns="0" tIns="0" bIns="0" anchor="ctr">
            <a:noAutofit/>
          </a:bodyPr>
          <a:lstStyle/>
          <a:p>
            <a:pPr algn="l">
              <a:lnSpc>
                <a:spcPct val="114000"/>
              </a:lnSpc>
            </a:pPr>
            <a:r>
              <a:rPr sz="880" b="0" i="0">
                <a:solidFill>
                  <a:srgbClr val="44546A"/>
                </a:solidFill>
                <a:latin typeface="Calibri"/>
              </a:rPr>
              <a:t>Demand is inelastic and imitation is slow</a:t>
            </a:r>
          </a:p>
        </p:txBody>
      </p:sp>
      <p:sp>
        <p:nvSpPr>
          <p:cNvPr id="34" name="Rectangle 33"/>
          <p:cNvSpPr/>
          <p:nvPr/>
        </p:nvSpPr>
        <p:spPr>
          <a:xfrm>
            <a:off x="658368" y="4126489"/>
            <a:ext cx="5760720" cy="429768"/>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505456" y="4126489"/>
            <a:ext cx="1956816" cy="429768"/>
          </a:xfrm>
          <a:prstGeom prst="rect">
            <a:avLst/>
          </a:prstGeom>
          <a:solidFill>
            <a:srgbClr val="ECF2FA"/>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4126489"/>
            <a:ext cx="1700784" cy="429768"/>
          </a:xfrm>
          <a:prstGeom prst="rect">
            <a:avLst/>
          </a:prstGeom>
          <a:noFill/>
        </p:spPr>
        <p:txBody>
          <a:bodyPr wrap="square" lIns="0" rIns="0" tIns="0" bIns="0" anchor="ctr">
            <a:noAutofit/>
          </a:bodyPr>
          <a:lstStyle/>
          <a:p>
            <a:pPr algn="l">
              <a:lnSpc>
                <a:spcPct val="112000"/>
              </a:lnSpc>
            </a:pPr>
            <a:r>
              <a:rPr sz="880" b="1" i="0">
                <a:solidFill>
                  <a:srgbClr val="12263F"/>
                </a:solidFill>
                <a:latin typeface="Calibri"/>
              </a:rPr>
              <a:t>Main risk</a:t>
            </a:r>
          </a:p>
        </p:txBody>
      </p:sp>
      <p:sp>
        <p:nvSpPr>
          <p:cNvPr id="37" name="TextBox 36"/>
          <p:cNvSpPr txBox="1"/>
          <p:nvPr/>
        </p:nvSpPr>
        <p:spPr>
          <a:xfrm>
            <a:off x="2596896" y="4126489"/>
            <a:ext cx="1792224" cy="429768"/>
          </a:xfrm>
          <a:prstGeom prst="rect">
            <a:avLst/>
          </a:prstGeom>
          <a:noFill/>
        </p:spPr>
        <p:txBody>
          <a:bodyPr wrap="square" lIns="0" rIns="0" tIns="0" bIns="0" anchor="ctr">
            <a:noAutofit/>
          </a:bodyPr>
          <a:lstStyle/>
          <a:p>
            <a:pPr algn="l">
              <a:lnSpc>
                <a:spcPct val="114000"/>
              </a:lnSpc>
            </a:pPr>
            <a:r>
              <a:rPr sz="880" b="0" i="0">
                <a:solidFill>
                  <a:srgbClr val="12263F"/>
                </a:solidFill>
                <a:latin typeface="Calibri"/>
              </a:rPr>
              <a:t>Thin margin if rivals match the cut</a:t>
            </a:r>
          </a:p>
        </p:txBody>
      </p:sp>
      <p:sp>
        <p:nvSpPr>
          <p:cNvPr id="38" name="TextBox 37"/>
          <p:cNvSpPr txBox="1"/>
          <p:nvPr/>
        </p:nvSpPr>
        <p:spPr>
          <a:xfrm>
            <a:off x="4553712" y="4126489"/>
            <a:ext cx="1792224" cy="429768"/>
          </a:xfrm>
          <a:prstGeom prst="rect">
            <a:avLst/>
          </a:prstGeom>
          <a:noFill/>
        </p:spPr>
        <p:txBody>
          <a:bodyPr wrap="square" lIns="0" rIns="0" tIns="0" bIns="0" anchor="ctr">
            <a:noAutofit/>
          </a:bodyPr>
          <a:lstStyle/>
          <a:p>
            <a:pPr algn="l">
              <a:lnSpc>
                <a:spcPct val="114000"/>
              </a:lnSpc>
            </a:pPr>
            <a:r>
              <a:rPr sz="880" b="0" i="0">
                <a:solidFill>
                  <a:srgbClr val="44546A"/>
                </a:solidFill>
                <a:latin typeface="Calibri"/>
              </a:rPr>
              <a:t>Invites undercutting within a quarter</a:t>
            </a:r>
          </a:p>
        </p:txBody>
      </p:sp>
      <p:sp>
        <p:nvSpPr>
          <p:cNvPr id="39" name="TextBox 38"/>
          <p:cNvSpPr txBox="1"/>
          <p:nvPr/>
        </p:nvSpPr>
        <p:spPr>
          <a:xfrm>
            <a:off x="658368" y="4739137"/>
            <a:ext cx="5760720" cy="182880"/>
          </a:xfrm>
          <a:prstGeom prst="rect">
            <a:avLst/>
          </a:prstGeom>
          <a:noFill/>
        </p:spPr>
        <p:txBody>
          <a:bodyPr wrap="square" lIns="0" rIns="0" tIns="0" bIns="0" anchor="t">
            <a:noAutofit/>
          </a:bodyPr>
          <a:lstStyle/>
          <a:p>
            <a:pPr algn="l">
              <a:lnSpc>
                <a:spcPct val="100000"/>
              </a:lnSpc>
            </a:pPr>
            <a:r>
              <a:rPr sz="760" b="1" i="0" spc="110">
                <a:solidFill>
                  <a:srgbClr val="2B6CB0"/>
                </a:solidFill>
                <a:latin typeface="Calibri"/>
              </a:rPr>
              <a:t>WHY PENETRATION FITS AN OLIGOPOLY</a:t>
            </a:r>
          </a:p>
        </p:txBody>
      </p:sp>
      <p:sp>
        <p:nvSpPr>
          <p:cNvPr id="40" name="TextBox 39"/>
          <p:cNvSpPr txBox="1"/>
          <p:nvPr/>
        </p:nvSpPr>
        <p:spPr>
          <a:xfrm>
            <a:off x="658368" y="4967737"/>
            <a:ext cx="155448" cy="182880"/>
          </a:xfrm>
          <a:prstGeom prst="rect">
            <a:avLst/>
          </a:prstGeom>
          <a:noFill/>
        </p:spPr>
        <p:txBody>
          <a:bodyPr wrap="square" lIns="0" rIns="0" tIns="0" bIns="0" anchor="t">
            <a:noAutofit/>
          </a:bodyPr>
          <a:lstStyle/>
          <a:p>
            <a:pPr algn="l">
              <a:lnSpc>
                <a:spcPct val="100000"/>
              </a:lnSpc>
            </a:pPr>
            <a:r>
              <a:rPr sz="830" b="1" i="0">
                <a:solidFill>
                  <a:srgbClr val="2B6CB0"/>
                </a:solidFill>
                <a:latin typeface="Calibri"/>
              </a:rPr>
              <a:t>▪</a:t>
            </a:r>
          </a:p>
        </p:txBody>
      </p:sp>
      <p:sp>
        <p:nvSpPr>
          <p:cNvPr id="41" name="TextBox 40"/>
          <p:cNvSpPr txBox="1"/>
          <p:nvPr/>
        </p:nvSpPr>
        <p:spPr>
          <a:xfrm>
            <a:off x="859536" y="4958593"/>
            <a:ext cx="5559552" cy="145266"/>
          </a:xfrm>
          <a:prstGeom prst="rect">
            <a:avLst/>
          </a:prstGeom>
          <a:noFill/>
        </p:spPr>
        <p:txBody>
          <a:bodyPr wrap="square" lIns="0" rIns="0" tIns="0" bIns="0" anchor="t">
            <a:noAutofit/>
          </a:bodyPr>
          <a:lstStyle/>
          <a:p>
            <a:pPr algn="l">
              <a:lnSpc>
                <a:spcPct val="126000"/>
              </a:lnSpc>
            </a:pPr>
            <a:r>
              <a:rPr sz="890" b="0" i="0">
                <a:solidFill>
                  <a:srgbClr val="44546A"/>
                </a:solidFill>
                <a:latin typeface="Calibri"/>
              </a:rPr>
              <a:t>Elastic demand: a lower price raises revenue, and volume compounds through the year.</a:t>
            </a:r>
          </a:p>
        </p:txBody>
      </p:sp>
      <p:sp>
        <p:nvSpPr>
          <p:cNvPr id="42" name="TextBox 41"/>
          <p:cNvSpPr txBox="1"/>
          <p:nvPr/>
        </p:nvSpPr>
        <p:spPr>
          <a:xfrm>
            <a:off x="658368" y="5190727"/>
            <a:ext cx="155448" cy="182880"/>
          </a:xfrm>
          <a:prstGeom prst="rect">
            <a:avLst/>
          </a:prstGeom>
          <a:noFill/>
        </p:spPr>
        <p:txBody>
          <a:bodyPr wrap="square" lIns="0" rIns="0" tIns="0" bIns="0" anchor="t">
            <a:noAutofit/>
          </a:bodyPr>
          <a:lstStyle/>
          <a:p>
            <a:pPr algn="l">
              <a:lnSpc>
                <a:spcPct val="100000"/>
              </a:lnSpc>
            </a:pPr>
            <a:r>
              <a:rPr sz="830" b="1" i="0">
                <a:solidFill>
                  <a:srgbClr val="2B6CB0"/>
                </a:solidFill>
                <a:latin typeface="Calibri"/>
              </a:rPr>
              <a:t>▪</a:t>
            </a:r>
          </a:p>
        </p:txBody>
      </p:sp>
      <p:sp>
        <p:nvSpPr>
          <p:cNvPr id="43" name="TextBox 42"/>
          <p:cNvSpPr txBox="1"/>
          <p:nvPr/>
        </p:nvSpPr>
        <p:spPr>
          <a:xfrm>
            <a:off x="859536" y="5181583"/>
            <a:ext cx="5559552" cy="145266"/>
          </a:xfrm>
          <a:prstGeom prst="rect">
            <a:avLst/>
          </a:prstGeom>
          <a:noFill/>
        </p:spPr>
        <p:txBody>
          <a:bodyPr wrap="square" lIns="0" rIns="0" tIns="0" bIns="0" anchor="t">
            <a:noAutofit/>
          </a:bodyPr>
          <a:lstStyle/>
          <a:p>
            <a:pPr algn="l">
              <a:lnSpc>
                <a:spcPct val="126000"/>
              </a:lnSpc>
            </a:pPr>
            <a:r>
              <a:rPr sz="890" b="0" i="0">
                <a:solidFill>
                  <a:srgbClr val="44546A"/>
                </a:solidFill>
                <a:latin typeface="Calibri"/>
              </a:rPr>
              <a:t>Experience curve: each doubling of output cuts cell costs 15–20%, widening the margin by year three.</a:t>
            </a:r>
          </a:p>
        </p:txBody>
      </p:sp>
      <p:sp>
        <p:nvSpPr>
          <p:cNvPr id="44" name="TextBox 43"/>
          <p:cNvSpPr txBox="1"/>
          <p:nvPr/>
        </p:nvSpPr>
        <p:spPr>
          <a:xfrm>
            <a:off x="658368" y="5413717"/>
            <a:ext cx="155448" cy="182880"/>
          </a:xfrm>
          <a:prstGeom prst="rect">
            <a:avLst/>
          </a:prstGeom>
          <a:noFill/>
        </p:spPr>
        <p:txBody>
          <a:bodyPr wrap="square" lIns="0" rIns="0" tIns="0" bIns="0" anchor="t">
            <a:noAutofit/>
          </a:bodyPr>
          <a:lstStyle/>
          <a:p>
            <a:pPr algn="l">
              <a:lnSpc>
                <a:spcPct val="100000"/>
              </a:lnSpc>
            </a:pPr>
            <a:r>
              <a:rPr sz="830" b="1" i="0">
                <a:solidFill>
                  <a:srgbClr val="2B6CB0"/>
                </a:solidFill>
                <a:latin typeface="Calibri"/>
              </a:rPr>
              <a:t>▪</a:t>
            </a:r>
          </a:p>
        </p:txBody>
      </p:sp>
      <p:sp>
        <p:nvSpPr>
          <p:cNvPr id="45" name="TextBox 44"/>
          <p:cNvSpPr txBox="1"/>
          <p:nvPr/>
        </p:nvSpPr>
        <p:spPr>
          <a:xfrm>
            <a:off x="859536" y="5404573"/>
            <a:ext cx="5559552" cy="145266"/>
          </a:xfrm>
          <a:prstGeom prst="rect">
            <a:avLst/>
          </a:prstGeom>
          <a:noFill/>
        </p:spPr>
        <p:txBody>
          <a:bodyPr wrap="square" lIns="0" rIns="0" tIns="0" bIns="0" anchor="t">
            <a:noAutofit/>
          </a:bodyPr>
          <a:lstStyle/>
          <a:p>
            <a:pPr algn="l">
              <a:lnSpc>
                <a:spcPct val="126000"/>
              </a:lnSpc>
            </a:pPr>
            <a:r>
              <a:rPr sz="890" b="0" i="0">
                <a:solidFill>
                  <a:srgbClr val="44546A"/>
                </a:solidFill>
                <a:latin typeface="Calibri"/>
              </a:rPr>
              <a:t>Deterrence: at ₹74,999 there is little room left for a rival to start a price war.</a:t>
            </a:r>
          </a:p>
        </p:txBody>
      </p:sp>
      <p:pic>
        <p:nvPicPr>
          <p:cNvPr id="46" name="Picture 45" descr="chart_price_tradeoff.png"/>
          <p:cNvPicPr>
            <a:picLocks noChangeAspect="1"/>
          </p:cNvPicPr>
          <p:nvPr/>
        </p:nvPicPr>
        <p:blipFill>
          <a:blip r:embed="rId3"/>
          <a:stretch>
            <a:fillRect/>
          </a:stretch>
        </p:blipFill>
        <p:spPr>
          <a:xfrm>
            <a:off x="7052767" y="2023369"/>
            <a:ext cx="4480560" cy="2420728"/>
          </a:xfrm>
          <a:prstGeom prst="rect">
            <a:avLst/>
          </a:prstGeom>
        </p:spPr>
      </p:pic>
      <p:sp>
        <p:nvSpPr>
          <p:cNvPr id="47" name="TextBox 46"/>
          <p:cNvSpPr txBox="1"/>
          <p:nvPr/>
        </p:nvSpPr>
        <p:spPr>
          <a:xfrm>
            <a:off x="7052767" y="4517249"/>
            <a:ext cx="4480560" cy="282915"/>
          </a:xfrm>
          <a:prstGeom prst="rect">
            <a:avLst/>
          </a:prstGeom>
          <a:noFill/>
        </p:spPr>
        <p:txBody>
          <a:bodyPr wrap="square" lIns="0" rIns="0" tIns="0" bIns="0" anchor="t">
            <a:noAutofit/>
          </a:bodyPr>
          <a:lstStyle/>
          <a:p>
            <a:pPr algn="l">
              <a:lnSpc>
                <a:spcPct val="130000"/>
              </a:lnSpc>
            </a:pPr>
            <a:r>
              <a:rPr sz="840" b="0" i="0">
                <a:solidFill>
                  <a:srgbClr val="7B8B9E"/>
                </a:solidFill>
                <a:latin typeface="Calibri"/>
              </a:rPr>
              <a:t>Skimming recovers the plant in 0.40 lakh units; penetration needs 1.33 lakh. The real question is which volume the market will let us sell.</a:t>
            </a:r>
          </a:p>
        </p:txBody>
      </p:sp>
      <p:sp>
        <p:nvSpPr>
          <p:cNvPr id="48" name="Rounded Rectangle 47"/>
          <p:cNvSpPr/>
          <p:nvPr/>
        </p:nvSpPr>
        <p:spPr>
          <a:xfrm>
            <a:off x="658368" y="5632704"/>
            <a:ext cx="2636444" cy="566928"/>
          </a:xfrm>
          <a:prstGeom prst="roundRect">
            <a:avLst>
              <a:gd name="adj" fmla="val 5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4672" y="5724144"/>
            <a:ext cx="2343836" cy="237744"/>
          </a:xfrm>
          <a:prstGeom prst="rect">
            <a:avLst/>
          </a:prstGeom>
          <a:noFill/>
        </p:spPr>
        <p:txBody>
          <a:bodyPr wrap="square" lIns="0" rIns="0" tIns="0" bIns="0" anchor="t">
            <a:noAutofit/>
          </a:bodyPr>
          <a:lstStyle/>
          <a:p>
            <a:pPr algn="l">
              <a:lnSpc>
                <a:spcPct val="100000"/>
              </a:lnSpc>
            </a:pPr>
            <a:r>
              <a:rPr sz="1340" b="1" i="0">
                <a:solidFill>
                  <a:srgbClr val="12263F"/>
                </a:solidFill>
                <a:latin typeface="Calibri"/>
              </a:rPr>
              <a:t>₹74,999</a:t>
            </a:r>
          </a:p>
        </p:txBody>
      </p:sp>
      <p:sp>
        <p:nvSpPr>
          <p:cNvPr id="50" name="TextBox 49"/>
          <p:cNvSpPr txBox="1"/>
          <p:nvPr/>
        </p:nvSpPr>
        <p:spPr>
          <a:xfrm>
            <a:off x="804672" y="5961888"/>
            <a:ext cx="2343836" cy="182880"/>
          </a:xfrm>
          <a:prstGeom prst="rect">
            <a:avLst/>
          </a:prstGeom>
          <a:noFill/>
        </p:spPr>
        <p:txBody>
          <a:bodyPr wrap="square" lIns="0" rIns="0" tIns="0" bIns="0" anchor="t">
            <a:noAutofit/>
          </a:bodyPr>
          <a:lstStyle/>
          <a:p>
            <a:pPr algn="l">
              <a:lnSpc>
                <a:spcPct val="110000"/>
              </a:lnSpc>
            </a:pPr>
            <a:r>
              <a:rPr sz="760" b="0" i="0">
                <a:solidFill>
                  <a:srgbClr val="44546A"/>
                </a:solidFill>
                <a:latin typeface="Calibri"/>
              </a:rPr>
              <a:t>launch price, ex-showroom</a:t>
            </a:r>
          </a:p>
        </p:txBody>
      </p:sp>
      <p:sp>
        <p:nvSpPr>
          <p:cNvPr id="51" name="Rounded Rectangle 50"/>
          <p:cNvSpPr/>
          <p:nvPr/>
        </p:nvSpPr>
        <p:spPr>
          <a:xfrm>
            <a:off x="3404540" y="5632704"/>
            <a:ext cx="2636444" cy="566928"/>
          </a:xfrm>
          <a:prstGeom prst="roundRect">
            <a:avLst>
              <a:gd name="adj" fmla="val 5000"/>
            </a:avLst>
          </a:prstGeom>
          <a:solidFill>
            <a:srgbClr val="E9F5F2"/>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550844" y="5724144"/>
            <a:ext cx="2343836" cy="237744"/>
          </a:xfrm>
          <a:prstGeom prst="rect">
            <a:avLst/>
          </a:prstGeom>
          <a:noFill/>
        </p:spPr>
        <p:txBody>
          <a:bodyPr wrap="square" lIns="0" rIns="0" tIns="0" bIns="0" anchor="t">
            <a:noAutofit/>
          </a:bodyPr>
          <a:lstStyle/>
          <a:p>
            <a:pPr algn="l">
              <a:lnSpc>
                <a:spcPct val="100000"/>
              </a:lnSpc>
            </a:pPr>
            <a:r>
              <a:rPr sz="1340" b="1" i="0">
                <a:solidFill>
                  <a:srgbClr val="0F766E"/>
                </a:solidFill>
                <a:latin typeface="Calibri"/>
              </a:rPr>
              <a:t>₹14,999</a:t>
            </a:r>
          </a:p>
        </p:txBody>
      </p:sp>
      <p:sp>
        <p:nvSpPr>
          <p:cNvPr id="53" name="TextBox 52"/>
          <p:cNvSpPr txBox="1"/>
          <p:nvPr/>
        </p:nvSpPr>
        <p:spPr>
          <a:xfrm>
            <a:off x="3550844" y="5961888"/>
            <a:ext cx="2343836" cy="182880"/>
          </a:xfrm>
          <a:prstGeom prst="rect">
            <a:avLst/>
          </a:prstGeom>
          <a:noFill/>
        </p:spPr>
        <p:txBody>
          <a:bodyPr wrap="square" lIns="0" rIns="0" tIns="0" bIns="0" anchor="t">
            <a:noAutofit/>
          </a:bodyPr>
          <a:lstStyle/>
          <a:p>
            <a:pPr algn="l">
              <a:lnSpc>
                <a:spcPct val="110000"/>
              </a:lnSpc>
            </a:pPr>
            <a:r>
              <a:rPr sz="760" b="0" i="0">
                <a:solidFill>
                  <a:srgbClr val="44546A"/>
                </a:solidFill>
                <a:latin typeface="Calibri"/>
              </a:rPr>
              <a:t>contribution per unit  ·  25% mark-up</a:t>
            </a:r>
          </a:p>
        </p:txBody>
      </p:sp>
      <p:sp>
        <p:nvSpPr>
          <p:cNvPr id="54" name="Rounded Rectangle 53"/>
          <p:cNvSpPr/>
          <p:nvPr/>
        </p:nvSpPr>
        <p:spPr>
          <a:xfrm>
            <a:off x="6150712" y="5632704"/>
            <a:ext cx="2636444" cy="566928"/>
          </a:xfrm>
          <a:prstGeom prst="roundRect">
            <a:avLst>
              <a:gd name="adj" fmla="val 5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297016" y="5724144"/>
            <a:ext cx="2343836" cy="237744"/>
          </a:xfrm>
          <a:prstGeom prst="rect">
            <a:avLst/>
          </a:prstGeom>
          <a:noFill/>
        </p:spPr>
        <p:txBody>
          <a:bodyPr wrap="square" lIns="0" rIns="0" tIns="0" bIns="0" anchor="t">
            <a:noAutofit/>
          </a:bodyPr>
          <a:lstStyle/>
          <a:p>
            <a:pPr algn="l">
              <a:lnSpc>
                <a:spcPct val="100000"/>
              </a:lnSpc>
            </a:pPr>
            <a:r>
              <a:rPr sz="1340" b="1" i="0">
                <a:solidFill>
                  <a:srgbClr val="12263F"/>
                </a:solidFill>
                <a:latin typeface="Calibri"/>
              </a:rPr>
              <a:t>1.33 lakh</a:t>
            </a:r>
          </a:p>
        </p:txBody>
      </p:sp>
      <p:sp>
        <p:nvSpPr>
          <p:cNvPr id="56" name="TextBox 55"/>
          <p:cNvSpPr txBox="1"/>
          <p:nvPr/>
        </p:nvSpPr>
        <p:spPr>
          <a:xfrm>
            <a:off x="6297016" y="5961888"/>
            <a:ext cx="2343836" cy="182880"/>
          </a:xfrm>
          <a:prstGeom prst="rect">
            <a:avLst/>
          </a:prstGeom>
          <a:noFill/>
        </p:spPr>
        <p:txBody>
          <a:bodyPr wrap="square" lIns="0" rIns="0" tIns="0" bIns="0" anchor="t">
            <a:noAutofit/>
          </a:bodyPr>
          <a:lstStyle/>
          <a:p>
            <a:pPr algn="l">
              <a:lnSpc>
                <a:spcPct val="110000"/>
              </a:lnSpc>
            </a:pPr>
            <a:r>
              <a:rPr sz="760" b="0" i="0">
                <a:solidFill>
                  <a:srgbClr val="44546A"/>
                </a:solidFill>
                <a:latin typeface="Calibri"/>
              </a:rPr>
              <a:t>units to recover ₹200 crore</a:t>
            </a:r>
          </a:p>
        </p:txBody>
      </p:sp>
      <p:sp>
        <p:nvSpPr>
          <p:cNvPr id="57" name="Rounded Rectangle 56"/>
          <p:cNvSpPr/>
          <p:nvPr/>
        </p:nvSpPr>
        <p:spPr>
          <a:xfrm>
            <a:off x="8896883" y="5632704"/>
            <a:ext cx="2636444" cy="566928"/>
          </a:xfrm>
          <a:prstGeom prst="roundRect">
            <a:avLst>
              <a:gd name="adj" fmla="val 5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9043187" y="5724144"/>
            <a:ext cx="2343836" cy="237744"/>
          </a:xfrm>
          <a:prstGeom prst="rect">
            <a:avLst/>
          </a:prstGeom>
          <a:noFill/>
        </p:spPr>
        <p:txBody>
          <a:bodyPr wrap="square" lIns="0" rIns="0" tIns="0" bIns="0" anchor="t">
            <a:noAutofit/>
          </a:bodyPr>
          <a:lstStyle/>
          <a:p>
            <a:pPr algn="l">
              <a:lnSpc>
                <a:spcPct val="100000"/>
              </a:lnSpc>
            </a:pPr>
            <a:r>
              <a:rPr sz="1340" b="1" i="0">
                <a:solidFill>
                  <a:srgbClr val="12263F"/>
                </a:solidFill>
                <a:latin typeface="Calibri"/>
              </a:rPr>
              <a:t>₹46,000</a:t>
            </a:r>
          </a:p>
        </p:txBody>
      </p:sp>
      <p:sp>
        <p:nvSpPr>
          <p:cNvPr id="59" name="TextBox 58"/>
          <p:cNvSpPr txBox="1"/>
          <p:nvPr/>
        </p:nvSpPr>
        <p:spPr>
          <a:xfrm>
            <a:off x="9043187" y="5961888"/>
            <a:ext cx="2343836" cy="182880"/>
          </a:xfrm>
          <a:prstGeom prst="rect">
            <a:avLst/>
          </a:prstGeom>
          <a:noFill/>
        </p:spPr>
        <p:txBody>
          <a:bodyPr wrap="square" lIns="0" rIns="0" tIns="0" bIns="0" anchor="t">
            <a:noAutofit/>
          </a:bodyPr>
          <a:lstStyle/>
          <a:p>
            <a:pPr algn="l">
              <a:lnSpc>
                <a:spcPct val="110000"/>
              </a:lnSpc>
            </a:pPr>
            <a:r>
              <a:rPr sz="760" b="0" i="0">
                <a:solidFill>
                  <a:srgbClr val="44546A"/>
                </a:solidFill>
                <a:latin typeface="Calibri"/>
              </a:rPr>
              <a:t>running cost saved per customer, per year</a:t>
            </a:r>
          </a:p>
        </p:txBody>
      </p:sp>
      <p:cxnSp>
        <p:nvCxnSpPr>
          <p:cNvPr id="60" name="Connector 59"/>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62" name="TextBox 61"/>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63" name="TextBox 62"/>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64" name="TextBox 63"/>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4 of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2 · PRICING &amp; GAME THEORY</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2B6CB0"/>
                </a:solidFill>
                <a:latin typeface="Calibri"/>
                <a:hlinkClick r:id="rId2"/>
              </a:rPr>
              <a:t>LECTURE LINK · SESSION 7: GAME THEORY</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How Ola and Ather are likely to react</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Strategic interdependence: a rival's best price depends on ours. Our launch changes their payoffs, so their reaction is part of our decision.</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38153"/>
            <a:ext cx="5084064" cy="182880"/>
          </a:xfrm>
          <a:prstGeom prst="rect">
            <a:avLst/>
          </a:prstGeom>
          <a:noFill/>
        </p:spPr>
        <p:txBody>
          <a:bodyPr wrap="square" lIns="0" rIns="0" tIns="0" bIns="0" anchor="t">
            <a:noAutofit/>
          </a:bodyPr>
          <a:lstStyle/>
          <a:p>
            <a:pPr algn="l">
              <a:lnSpc>
                <a:spcPct val="100000"/>
              </a:lnSpc>
            </a:pPr>
            <a:r>
              <a:rPr sz="740" b="1" i="0" spc="80">
                <a:solidFill>
                  <a:srgbClr val="7B8B9E"/>
                </a:solidFill>
                <a:latin typeface="Calibri"/>
              </a:rPr>
              <a:t>PAYOFF MATRIX  ·  (E-Mobility, Ola / Ather), ₹ crore over three years</a:t>
            </a:r>
          </a:p>
        </p:txBody>
      </p:sp>
      <p:sp>
        <p:nvSpPr>
          <p:cNvPr id="9" name="Rectangle 8"/>
          <p:cNvSpPr/>
          <p:nvPr/>
        </p:nvSpPr>
        <p:spPr>
          <a:xfrm>
            <a:off x="2157984" y="1694185"/>
            <a:ext cx="1755648" cy="347472"/>
          </a:xfrm>
          <a:prstGeom prst="rect">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157984" y="1694185"/>
            <a:ext cx="1755648" cy="347472"/>
          </a:xfrm>
          <a:prstGeom prst="rect">
            <a:avLst/>
          </a:prstGeom>
          <a:noFill/>
        </p:spPr>
        <p:txBody>
          <a:bodyPr wrap="square" lIns="0" rIns="0" tIns="0" bIns="0" anchor="ctr">
            <a:noAutofit/>
          </a:bodyPr>
          <a:lstStyle/>
          <a:p>
            <a:pPr algn="ctr">
              <a:lnSpc>
                <a:spcPct val="100000"/>
              </a:lnSpc>
            </a:pPr>
            <a:r>
              <a:rPr sz="730" b="1" i="0" spc="70">
                <a:solidFill>
                  <a:srgbClr val="44546A"/>
                </a:solidFill>
                <a:latin typeface="Calibri"/>
              </a:rPr>
              <a:t>OLA / ATHER MATCH</a:t>
            </a:r>
          </a:p>
        </p:txBody>
      </p:sp>
      <p:sp>
        <p:nvSpPr>
          <p:cNvPr id="11" name="Rectangle 10"/>
          <p:cNvSpPr/>
          <p:nvPr/>
        </p:nvSpPr>
        <p:spPr>
          <a:xfrm>
            <a:off x="3986784" y="1694185"/>
            <a:ext cx="1755648" cy="347472"/>
          </a:xfrm>
          <a:prstGeom prst="rect">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986784" y="1694185"/>
            <a:ext cx="1755648" cy="347472"/>
          </a:xfrm>
          <a:prstGeom prst="rect">
            <a:avLst/>
          </a:prstGeom>
          <a:noFill/>
        </p:spPr>
        <p:txBody>
          <a:bodyPr wrap="square" lIns="0" rIns="0" tIns="0" bIns="0" anchor="ctr">
            <a:noAutofit/>
          </a:bodyPr>
          <a:lstStyle/>
          <a:p>
            <a:pPr algn="ctr">
              <a:lnSpc>
                <a:spcPct val="100000"/>
              </a:lnSpc>
            </a:pPr>
            <a:r>
              <a:rPr sz="730" b="1" i="0" spc="70">
                <a:solidFill>
                  <a:srgbClr val="44546A"/>
                </a:solidFill>
                <a:latin typeface="Calibri"/>
              </a:rPr>
              <a:t>OLA / ATHER HOLD</a:t>
            </a:r>
          </a:p>
        </p:txBody>
      </p:sp>
      <p:sp>
        <p:nvSpPr>
          <p:cNvPr id="13" name="TextBox 12"/>
          <p:cNvSpPr txBox="1"/>
          <p:nvPr/>
        </p:nvSpPr>
        <p:spPr>
          <a:xfrm>
            <a:off x="658368" y="2114809"/>
            <a:ext cx="1335024" cy="1207008"/>
          </a:xfrm>
          <a:prstGeom prst="rect">
            <a:avLst/>
          </a:prstGeom>
          <a:noFill/>
        </p:spPr>
        <p:txBody>
          <a:bodyPr wrap="square" lIns="0" rIns="0" tIns="0" bIns="0" anchor="ctr">
            <a:noAutofit/>
          </a:bodyPr>
          <a:lstStyle/>
          <a:p>
            <a:pPr algn="l">
              <a:lnSpc>
                <a:spcPct val="120000"/>
              </a:lnSpc>
            </a:pPr>
            <a:r>
              <a:rPr sz="780" b="1" i="0">
                <a:solidFill>
                  <a:srgbClr val="12263F"/>
                </a:solidFill>
                <a:latin typeface="Calibri"/>
              </a:rPr>
              <a:t>WE PENETRATE</a:t>
            </a:r>
          </a:p>
          <a:p>
            <a:pPr algn="l">
              <a:lnSpc>
                <a:spcPct val="120000"/>
              </a:lnSpc>
              <a:spcBef>
                <a:spcPts val="100"/>
              </a:spcBef>
            </a:pPr>
            <a:r>
              <a:rPr sz="840" b="1" i="0">
                <a:solidFill>
                  <a:srgbClr val="2B6CB0"/>
                </a:solidFill>
                <a:latin typeface="Calibri"/>
              </a:rPr>
              <a:t>₹74,999</a:t>
            </a:r>
          </a:p>
        </p:txBody>
      </p:sp>
      <p:sp>
        <p:nvSpPr>
          <p:cNvPr id="14" name="Rectangle 13"/>
          <p:cNvSpPr/>
          <p:nvPr/>
        </p:nvSpPr>
        <p:spPr>
          <a:xfrm>
            <a:off x="2157984" y="2114809"/>
            <a:ext cx="1755648" cy="1207008"/>
          </a:xfrm>
          <a:prstGeom prst="rect">
            <a:avLst/>
          </a:prstGeom>
          <a:solidFill>
            <a:srgbClr val="ECF2FA"/>
          </a:solidFill>
          <a:ln w="11430">
            <a:solidFill>
              <a:srgbClr val="2B6C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57984" y="2352553"/>
            <a:ext cx="1755648" cy="292608"/>
          </a:xfrm>
          <a:prstGeom prst="rect">
            <a:avLst/>
          </a:prstGeom>
          <a:noFill/>
        </p:spPr>
        <p:txBody>
          <a:bodyPr wrap="square" lIns="0" rIns="0" tIns="0" bIns="0" anchor="t">
            <a:noAutofit/>
          </a:bodyPr>
          <a:lstStyle/>
          <a:p>
            <a:pPr algn="ctr">
              <a:lnSpc>
                <a:spcPct val="100000"/>
              </a:lnSpc>
            </a:pPr>
            <a:r>
              <a:rPr sz="1550" b="1" i="0">
                <a:solidFill>
                  <a:srgbClr val="12263F"/>
                </a:solidFill>
                <a:latin typeface="Calibri"/>
              </a:rPr>
              <a:t>(25, 30)</a:t>
            </a:r>
          </a:p>
        </p:txBody>
      </p:sp>
      <p:sp>
        <p:nvSpPr>
          <p:cNvPr id="16" name="TextBox 15"/>
          <p:cNvSpPr txBox="1"/>
          <p:nvPr/>
        </p:nvSpPr>
        <p:spPr>
          <a:xfrm>
            <a:off x="2157984" y="2754889"/>
            <a:ext cx="1755648" cy="237744"/>
          </a:xfrm>
          <a:prstGeom prst="rect">
            <a:avLst/>
          </a:prstGeom>
          <a:noFill/>
        </p:spPr>
        <p:txBody>
          <a:bodyPr wrap="square" lIns="0" rIns="0" tIns="0" bIns="0" anchor="t">
            <a:noAutofit/>
          </a:bodyPr>
          <a:lstStyle/>
          <a:p>
            <a:pPr algn="ctr">
              <a:lnSpc>
                <a:spcPct val="110000"/>
              </a:lnSpc>
            </a:pPr>
            <a:r>
              <a:rPr sz="730" b="0" i="0">
                <a:solidFill>
                  <a:srgbClr val="7B8B9E"/>
                </a:solidFill>
                <a:latin typeface="Calibri"/>
              </a:rPr>
              <a:t>price war, margins thin</a:t>
            </a:r>
          </a:p>
        </p:txBody>
      </p:sp>
      <p:sp>
        <p:nvSpPr>
          <p:cNvPr id="17" name="Rounded Rectangle 16"/>
          <p:cNvSpPr/>
          <p:nvPr/>
        </p:nvSpPr>
        <p:spPr>
          <a:xfrm>
            <a:off x="2534920" y="3056641"/>
            <a:ext cx="1001776" cy="173736"/>
          </a:xfrm>
          <a:prstGeom prst="roundRect">
            <a:avLst>
              <a:gd name="adj" fmla="val 50000"/>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620" b="1" i="0" spc="60">
                <a:solidFill>
                  <a:srgbClr val="FFFFFF"/>
                </a:solidFill>
                <a:latin typeface="Calibri"/>
              </a:rPr>
              <a:t>NASH EQUILIBRIUM</a:t>
            </a:r>
          </a:p>
        </p:txBody>
      </p:sp>
      <p:sp>
        <p:nvSpPr>
          <p:cNvPr id="18" name="Rectangle 17"/>
          <p:cNvSpPr/>
          <p:nvPr/>
        </p:nvSpPr>
        <p:spPr>
          <a:xfrm>
            <a:off x="3986784" y="2114809"/>
            <a:ext cx="1755648" cy="1207008"/>
          </a:xfrm>
          <a:prstGeom prst="rect">
            <a:avLst/>
          </a:prstGeom>
          <a:solidFill>
            <a:srgbClr val="FFFFFF"/>
          </a:solidFill>
          <a:ln w="1143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986784" y="2352553"/>
            <a:ext cx="1755648" cy="292608"/>
          </a:xfrm>
          <a:prstGeom prst="rect">
            <a:avLst/>
          </a:prstGeom>
          <a:noFill/>
        </p:spPr>
        <p:txBody>
          <a:bodyPr wrap="square" lIns="0" rIns="0" tIns="0" bIns="0" anchor="t">
            <a:noAutofit/>
          </a:bodyPr>
          <a:lstStyle/>
          <a:p>
            <a:pPr algn="ctr">
              <a:lnSpc>
                <a:spcPct val="100000"/>
              </a:lnSpc>
            </a:pPr>
            <a:r>
              <a:rPr sz="1550" b="1" i="0">
                <a:solidFill>
                  <a:srgbClr val="12263F"/>
                </a:solidFill>
                <a:latin typeface="Calibri"/>
              </a:rPr>
              <a:t>(45, 18)</a:t>
            </a:r>
          </a:p>
        </p:txBody>
      </p:sp>
      <p:sp>
        <p:nvSpPr>
          <p:cNvPr id="20" name="TextBox 19"/>
          <p:cNvSpPr txBox="1"/>
          <p:nvPr/>
        </p:nvSpPr>
        <p:spPr>
          <a:xfrm>
            <a:off x="3986784" y="2754889"/>
            <a:ext cx="1755648" cy="237744"/>
          </a:xfrm>
          <a:prstGeom prst="rect">
            <a:avLst/>
          </a:prstGeom>
          <a:noFill/>
        </p:spPr>
        <p:txBody>
          <a:bodyPr wrap="square" lIns="0" rIns="0" tIns="0" bIns="0" anchor="t">
            <a:noAutofit/>
          </a:bodyPr>
          <a:lstStyle/>
          <a:p>
            <a:pPr algn="ctr">
              <a:lnSpc>
                <a:spcPct val="110000"/>
              </a:lnSpc>
            </a:pPr>
            <a:r>
              <a:rPr sz="730" b="0" i="0">
                <a:solidFill>
                  <a:srgbClr val="7B8B9E"/>
                </a:solidFill>
                <a:latin typeface="Calibri"/>
              </a:rPr>
              <a:t>we take the volume</a:t>
            </a:r>
          </a:p>
        </p:txBody>
      </p:sp>
      <p:sp>
        <p:nvSpPr>
          <p:cNvPr id="21" name="TextBox 20"/>
          <p:cNvSpPr txBox="1"/>
          <p:nvPr/>
        </p:nvSpPr>
        <p:spPr>
          <a:xfrm>
            <a:off x="658368" y="3394969"/>
            <a:ext cx="1335024" cy="1207008"/>
          </a:xfrm>
          <a:prstGeom prst="rect">
            <a:avLst/>
          </a:prstGeom>
          <a:noFill/>
        </p:spPr>
        <p:txBody>
          <a:bodyPr wrap="square" lIns="0" rIns="0" tIns="0" bIns="0" anchor="ctr">
            <a:noAutofit/>
          </a:bodyPr>
          <a:lstStyle/>
          <a:p>
            <a:pPr algn="l">
              <a:lnSpc>
                <a:spcPct val="120000"/>
              </a:lnSpc>
            </a:pPr>
            <a:r>
              <a:rPr sz="780" b="1" i="0">
                <a:solidFill>
                  <a:srgbClr val="12263F"/>
                </a:solidFill>
                <a:latin typeface="Calibri"/>
              </a:rPr>
              <a:t>WE SKIM</a:t>
            </a:r>
          </a:p>
          <a:p>
            <a:pPr algn="l">
              <a:lnSpc>
                <a:spcPct val="120000"/>
              </a:lnSpc>
              <a:spcBef>
                <a:spcPts val="100"/>
              </a:spcBef>
            </a:pPr>
            <a:r>
              <a:rPr sz="840" b="1" i="0">
                <a:solidFill>
                  <a:srgbClr val="2B6CB0"/>
                </a:solidFill>
                <a:latin typeface="Calibri"/>
              </a:rPr>
              <a:t>₹1,10,000</a:t>
            </a:r>
          </a:p>
        </p:txBody>
      </p:sp>
      <p:sp>
        <p:nvSpPr>
          <p:cNvPr id="22" name="Rectangle 21"/>
          <p:cNvSpPr/>
          <p:nvPr/>
        </p:nvSpPr>
        <p:spPr>
          <a:xfrm>
            <a:off x="2157984" y="3394969"/>
            <a:ext cx="1755648" cy="1207008"/>
          </a:xfrm>
          <a:prstGeom prst="rect">
            <a:avLst/>
          </a:prstGeom>
          <a:solidFill>
            <a:srgbClr val="FBEDEC"/>
          </a:solidFill>
          <a:ln w="11430">
            <a:solidFill>
              <a:srgbClr val="E8C4C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57984" y="3632713"/>
            <a:ext cx="1755648" cy="292608"/>
          </a:xfrm>
          <a:prstGeom prst="rect">
            <a:avLst/>
          </a:prstGeom>
          <a:noFill/>
        </p:spPr>
        <p:txBody>
          <a:bodyPr wrap="square" lIns="0" rIns="0" tIns="0" bIns="0" anchor="t">
            <a:noAutofit/>
          </a:bodyPr>
          <a:lstStyle/>
          <a:p>
            <a:pPr algn="ctr">
              <a:lnSpc>
                <a:spcPct val="100000"/>
              </a:lnSpc>
            </a:pPr>
            <a:r>
              <a:rPr sz="1550" b="1" i="0">
                <a:solidFill>
                  <a:srgbClr val="12263F"/>
                </a:solidFill>
                <a:latin typeface="Calibri"/>
              </a:rPr>
              <a:t>(14, 32)</a:t>
            </a:r>
          </a:p>
        </p:txBody>
      </p:sp>
      <p:sp>
        <p:nvSpPr>
          <p:cNvPr id="24" name="TextBox 23"/>
          <p:cNvSpPr txBox="1"/>
          <p:nvPr/>
        </p:nvSpPr>
        <p:spPr>
          <a:xfrm>
            <a:off x="2157984" y="4035049"/>
            <a:ext cx="1755648" cy="237744"/>
          </a:xfrm>
          <a:prstGeom prst="rect">
            <a:avLst/>
          </a:prstGeom>
          <a:noFill/>
        </p:spPr>
        <p:txBody>
          <a:bodyPr wrap="square" lIns="0" rIns="0" tIns="0" bIns="0" anchor="t">
            <a:noAutofit/>
          </a:bodyPr>
          <a:lstStyle/>
          <a:p>
            <a:pPr algn="ctr">
              <a:lnSpc>
                <a:spcPct val="110000"/>
              </a:lnSpc>
            </a:pPr>
            <a:r>
              <a:rPr sz="730" b="0" i="0">
                <a:solidFill>
                  <a:srgbClr val="7B8B9E"/>
                </a:solidFill>
                <a:latin typeface="Calibri"/>
              </a:rPr>
              <a:t>we lose on both counts</a:t>
            </a:r>
          </a:p>
        </p:txBody>
      </p:sp>
      <p:sp>
        <p:nvSpPr>
          <p:cNvPr id="25" name="Rectangle 24"/>
          <p:cNvSpPr/>
          <p:nvPr/>
        </p:nvSpPr>
        <p:spPr>
          <a:xfrm>
            <a:off x="3986784" y="3394969"/>
            <a:ext cx="1755648" cy="1207008"/>
          </a:xfrm>
          <a:prstGeom prst="rect">
            <a:avLst/>
          </a:prstGeom>
          <a:solidFill>
            <a:srgbClr val="FFFFFF"/>
          </a:solidFill>
          <a:ln w="1143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986784" y="3632713"/>
            <a:ext cx="1755648" cy="292608"/>
          </a:xfrm>
          <a:prstGeom prst="rect">
            <a:avLst/>
          </a:prstGeom>
          <a:noFill/>
        </p:spPr>
        <p:txBody>
          <a:bodyPr wrap="square" lIns="0" rIns="0" tIns="0" bIns="0" anchor="t">
            <a:noAutofit/>
          </a:bodyPr>
          <a:lstStyle/>
          <a:p>
            <a:pPr algn="ctr">
              <a:lnSpc>
                <a:spcPct val="100000"/>
              </a:lnSpc>
            </a:pPr>
            <a:r>
              <a:rPr sz="1550" b="1" i="0">
                <a:solidFill>
                  <a:srgbClr val="12263F"/>
                </a:solidFill>
                <a:latin typeface="Calibri"/>
              </a:rPr>
              <a:t>(28, 35)</a:t>
            </a:r>
          </a:p>
        </p:txBody>
      </p:sp>
      <p:sp>
        <p:nvSpPr>
          <p:cNvPr id="27" name="TextBox 26"/>
          <p:cNvSpPr txBox="1"/>
          <p:nvPr/>
        </p:nvSpPr>
        <p:spPr>
          <a:xfrm>
            <a:off x="3986784" y="4035049"/>
            <a:ext cx="1755648" cy="237744"/>
          </a:xfrm>
          <a:prstGeom prst="rect">
            <a:avLst/>
          </a:prstGeom>
          <a:noFill/>
        </p:spPr>
        <p:txBody>
          <a:bodyPr wrap="square" lIns="0" rIns="0" tIns="0" bIns="0" anchor="t">
            <a:noAutofit/>
          </a:bodyPr>
          <a:lstStyle/>
          <a:p>
            <a:pPr algn="ctr">
              <a:lnSpc>
                <a:spcPct val="110000"/>
              </a:lnSpc>
            </a:pPr>
            <a:r>
              <a:rPr sz="730" b="0" i="0">
                <a:solidFill>
                  <a:srgbClr val="7B8B9E"/>
                </a:solidFill>
                <a:latin typeface="Calibri"/>
              </a:rPr>
              <a:t>tacit truce, but unstable</a:t>
            </a:r>
          </a:p>
        </p:txBody>
      </p:sp>
      <p:sp>
        <p:nvSpPr>
          <p:cNvPr id="28" name="TextBox 27"/>
          <p:cNvSpPr txBox="1"/>
          <p:nvPr/>
        </p:nvSpPr>
        <p:spPr>
          <a:xfrm>
            <a:off x="658368" y="4729993"/>
            <a:ext cx="5084064" cy="658368"/>
          </a:xfrm>
          <a:prstGeom prst="rect">
            <a:avLst/>
          </a:prstGeom>
          <a:noFill/>
        </p:spPr>
        <p:txBody>
          <a:bodyPr wrap="square" lIns="0" rIns="0" tIns="0" bIns="0" anchor="t">
            <a:noAutofit/>
          </a:bodyPr>
          <a:lstStyle/>
          <a:p>
            <a:pPr algn="l">
              <a:lnSpc>
                <a:spcPct val="130000"/>
              </a:lnSpc>
            </a:pPr>
            <a:r>
              <a:rPr sz="800" b="0" i="1">
                <a:solidFill>
                  <a:srgbClr val="44546A"/>
                </a:solidFill>
                <a:latin typeface="Calibri"/>
              </a:rPr>
              <a:t>Penetration is our dominant strategy and matching is the rivals' best reply, so (25, 30) is the Nash equilibrium — even though both firms would prefer the (28, 35) truce. That truce is not credible, which is why cartel-like outcomes do not survive in this market.</a:t>
            </a:r>
          </a:p>
        </p:txBody>
      </p:sp>
      <p:sp>
        <p:nvSpPr>
          <p:cNvPr id="29" name="TextBox 28"/>
          <p:cNvSpPr txBox="1"/>
          <p:nvPr/>
        </p:nvSpPr>
        <p:spPr>
          <a:xfrm>
            <a:off x="6729984" y="1438153"/>
            <a:ext cx="4803343" cy="182880"/>
          </a:xfrm>
          <a:prstGeom prst="rect">
            <a:avLst/>
          </a:prstGeom>
          <a:noFill/>
        </p:spPr>
        <p:txBody>
          <a:bodyPr wrap="square" lIns="0" rIns="0" tIns="0" bIns="0" anchor="t">
            <a:noAutofit/>
          </a:bodyPr>
          <a:lstStyle/>
          <a:p>
            <a:pPr algn="l">
              <a:lnSpc>
                <a:spcPct val="100000"/>
              </a:lnSpc>
            </a:pPr>
            <a:r>
              <a:rPr sz="760" b="1" i="0" spc="110">
                <a:solidFill>
                  <a:srgbClr val="2B6CB0"/>
                </a:solidFill>
                <a:latin typeface="Calibri"/>
              </a:rPr>
              <a:t>EXPECTED SEQUENCE OF RESPONSES</a:t>
            </a:r>
          </a:p>
        </p:txBody>
      </p:sp>
      <p:sp>
        <p:nvSpPr>
          <p:cNvPr id="30" name="TextBox 29"/>
          <p:cNvSpPr txBox="1"/>
          <p:nvPr/>
        </p:nvSpPr>
        <p:spPr>
          <a:xfrm>
            <a:off x="6912864" y="1675897"/>
            <a:ext cx="4620463" cy="137160"/>
          </a:xfrm>
          <a:prstGeom prst="rect">
            <a:avLst/>
          </a:prstGeom>
          <a:noFill/>
        </p:spPr>
        <p:txBody>
          <a:bodyPr wrap="square" lIns="0" rIns="0" tIns="0" bIns="0" anchor="t">
            <a:noAutofit/>
          </a:bodyPr>
          <a:lstStyle/>
          <a:p>
            <a:pPr algn="l">
              <a:lnSpc>
                <a:spcPct val="100000"/>
              </a:lnSpc>
            </a:pPr>
            <a:r>
              <a:rPr sz="690" b="1" i="0" spc="80">
                <a:solidFill>
                  <a:srgbClr val="7B8B9E"/>
                </a:solidFill>
                <a:latin typeface="Calibri"/>
              </a:rPr>
              <a:t>WEEKS 1–4</a:t>
            </a:r>
          </a:p>
        </p:txBody>
      </p:sp>
      <p:cxnSp>
        <p:nvCxnSpPr>
          <p:cNvPr id="31" name="Connector 30"/>
          <p:cNvCxnSpPr/>
          <p:nvPr/>
        </p:nvCxnSpPr>
        <p:spPr>
          <a:xfrm>
            <a:off x="6761988" y="1749049"/>
            <a:ext cx="0" cy="647700"/>
          </a:xfrm>
          <a:prstGeom prst="line">
            <a:avLst/>
          </a:prstGeom>
          <a:ln w="9525">
            <a:solidFill>
              <a:srgbClr val="C3CEDC"/>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719011" y="1707901"/>
            <a:ext cx="82296" cy="82296"/>
          </a:xfrm>
          <a:prstGeom prst="ellipse">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912864" y="1831345"/>
            <a:ext cx="4620463" cy="336804"/>
          </a:xfrm>
          <a:prstGeom prst="rect">
            <a:avLst/>
          </a:prstGeom>
          <a:noFill/>
        </p:spPr>
        <p:txBody>
          <a:bodyPr wrap="square" lIns="0" rIns="0" tIns="0" bIns="0" anchor="t">
            <a:noAutofit/>
          </a:bodyPr>
          <a:lstStyle/>
          <a:p>
            <a:pPr algn="l">
              <a:lnSpc>
                <a:spcPct val="130000"/>
              </a:lnSpc>
            </a:pPr>
            <a:r>
              <a:rPr sz="880" b="1" i="0">
                <a:solidFill>
                  <a:srgbClr val="12263F"/>
                </a:solidFill>
                <a:latin typeface="Calibri"/>
              </a:rPr>
              <a:t>OLA</a:t>
            </a:r>
            <a:r>
              <a:rPr sz="880" b="0" i="0">
                <a:solidFill>
                  <a:srgbClr val="44546A"/>
                </a:solidFill>
                <a:latin typeface="Calibri"/>
              </a:rPr>
              <a:t>   Matches on price — cashback and cheaper EMI on the S1 X, repositioned around 'lowest running cost'.</a:t>
            </a:r>
          </a:p>
        </p:txBody>
      </p:sp>
      <p:sp>
        <p:nvSpPr>
          <p:cNvPr id="34" name="TextBox 33"/>
          <p:cNvSpPr txBox="1"/>
          <p:nvPr/>
        </p:nvSpPr>
        <p:spPr>
          <a:xfrm>
            <a:off x="6912864" y="2369317"/>
            <a:ext cx="4620463" cy="137160"/>
          </a:xfrm>
          <a:prstGeom prst="rect">
            <a:avLst/>
          </a:prstGeom>
          <a:noFill/>
        </p:spPr>
        <p:txBody>
          <a:bodyPr wrap="square" lIns="0" rIns="0" tIns="0" bIns="0" anchor="t">
            <a:noAutofit/>
          </a:bodyPr>
          <a:lstStyle/>
          <a:p>
            <a:pPr algn="l">
              <a:lnSpc>
                <a:spcPct val="100000"/>
              </a:lnSpc>
            </a:pPr>
            <a:r>
              <a:rPr sz="690" b="1" i="0" spc="80">
                <a:solidFill>
                  <a:srgbClr val="7B8B9E"/>
                </a:solidFill>
                <a:latin typeface="Calibri"/>
              </a:rPr>
              <a:t>MONTH 2</a:t>
            </a:r>
          </a:p>
        </p:txBody>
      </p:sp>
      <p:cxnSp>
        <p:nvCxnSpPr>
          <p:cNvPr id="35" name="Connector 34"/>
          <p:cNvCxnSpPr/>
          <p:nvPr/>
        </p:nvCxnSpPr>
        <p:spPr>
          <a:xfrm>
            <a:off x="6761988" y="2442469"/>
            <a:ext cx="0" cy="647700"/>
          </a:xfrm>
          <a:prstGeom prst="line">
            <a:avLst/>
          </a:prstGeom>
          <a:ln w="9525">
            <a:solidFill>
              <a:srgbClr val="C3CEDC"/>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6719011" y="2401321"/>
            <a:ext cx="82296" cy="82296"/>
          </a:xfrm>
          <a:prstGeom prst="ellipse">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12864" y="2524765"/>
            <a:ext cx="4620463" cy="336804"/>
          </a:xfrm>
          <a:prstGeom prst="rect">
            <a:avLst/>
          </a:prstGeom>
          <a:noFill/>
        </p:spPr>
        <p:txBody>
          <a:bodyPr wrap="square" lIns="0" rIns="0" tIns="0" bIns="0" anchor="t">
            <a:noAutofit/>
          </a:bodyPr>
          <a:lstStyle/>
          <a:p>
            <a:pPr algn="l">
              <a:lnSpc>
                <a:spcPct val="130000"/>
              </a:lnSpc>
            </a:pPr>
            <a:r>
              <a:rPr sz="880" b="1" i="0">
                <a:solidFill>
                  <a:srgbClr val="12263F"/>
                </a:solidFill>
                <a:latin typeface="Calibri"/>
              </a:rPr>
              <a:t>ATHER</a:t>
            </a:r>
            <a:r>
              <a:rPr sz="880" b="0" i="0">
                <a:solidFill>
                  <a:srgbClr val="44546A"/>
                </a:solidFill>
                <a:latin typeface="Calibri"/>
              </a:rPr>
              <a:t>   Does not chase ₹75,000. It defends the premium niche with a longer battery warranty and software features.</a:t>
            </a:r>
          </a:p>
        </p:txBody>
      </p:sp>
      <p:sp>
        <p:nvSpPr>
          <p:cNvPr id="38" name="TextBox 37"/>
          <p:cNvSpPr txBox="1"/>
          <p:nvPr/>
        </p:nvSpPr>
        <p:spPr>
          <a:xfrm>
            <a:off x="6912864" y="3062737"/>
            <a:ext cx="4620463" cy="137160"/>
          </a:xfrm>
          <a:prstGeom prst="rect">
            <a:avLst/>
          </a:prstGeom>
          <a:noFill/>
        </p:spPr>
        <p:txBody>
          <a:bodyPr wrap="square" lIns="0" rIns="0" tIns="0" bIns="0" anchor="t">
            <a:noAutofit/>
          </a:bodyPr>
          <a:lstStyle/>
          <a:p>
            <a:pPr algn="l">
              <a:lnSpc>
                <a:spcPct val="100000"/>
              </a:lnSpc>
            </a:pPr>
            <a:r>
              <a:rPr sz="690" b="1" i="0" spc="80">
                <a:solidFill>
                  <a:srgbClr val="7B8B9E"/>
                </a:solidFill>
                <a:latin typeface="Calibri"/>
              </a:rPr>
              <a:t>MONTHS 3–6</a:t>
            </a:r>
          </a:p>
        </p:txBody>
      </p:sp>
      <p:cxnSp>
        <p:nvCxnSpPr>
          <p:cNvPr id="39" name="Connector 38"/>
          <p:cNvCxnSpPr/>
          <p:nvPr/>
        </p:nvCxnSpPr>
        <p:spPr>
          <a:xfrm>
            <a:off x="6761988" y="3135889"/>
            <a:ext cx="0" cy="647700"/>
          </a:xfrm>
          <a:prstGeom prst="line">
            <a:avLst/>
          </a:prstGeom>
          <a:ln w="9525">
            <a:solidFill>
              <a:srgbClr val="C3CEDC"/>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719011" y="3094741"/>
            <a:ext cx="82296" cy="82296"/>
          </a:xfrm>
          <a:prstGeom prst="ellipse">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12864" y="3218185"/>
            <a:ext cx="4620463" cy="336804"/>
          </a:xfrm>
          <a:prstGeom prst="rect">
            <a:avLst/>
          </a:prstGeom>
          <a:noFill/>
        </p:spPr>
        <p:txBody>
          <a:bodyPr wrap="square" lIns="0" rIns="0" tIns="0" bIns="0" anchor="t">
            <a:noAutofit/>
          </a:bodyPr>
          <a:lstStyle/>
          <a:p>
            <a:pPr algn="l">
              <a:lnSpc>
                <a:spcPct val="130000"/>
              </a:lnSpc>
            </a:pPr>
            <a:r>
              <a:rPr sz="880" b="1" i="0">
                <a:solidFill>
                  <a:srgbClr val="12263F"/>
                </a:solidFill>
                <a:latin typeface="Calibri"/>
              </a:rPr>
              <a:t>TVS · BAJAJ</a:t>
            </a:r>
            <a:r>
              <a:rPr sz="880" b="0" i="0">
                <a:solidFill>
                  <a:srgbClr val="44546A"/>
                </a:solidFill>
                <a:latin typeface="Calibri"/>
              </a:rPr>
              <a:t>   Respond through dealer finance and exchange offers rather than the list price, protecting margin and dealer trust.</a:t>
            </a:r>
          </a:p>
        </p:txBody>
      </p:sp>
      <p:sp>
        <p:nvSpPr>
          <p:cNvPr id="42" name="TextBox 41"/>
          <p:cNvSpPr txBox="1"/>
          <p:nvPr/>
        </p:nvSpPr>
        <p:spPr>
          <a:xfrm>
            <a:off x="6912864" y="3756157"/>
            <a:ext cx="4620463" cy="137160"/>
          </a:xfrm>
          <a:prstGeom prst="rect">
            <a:avLst/>
          </a:prstGeom>
          <a:noFill/>
        </p:spPr>
        <p:txBody>
          <a:bodyPr wrap="square" lIns="0" rIns="0" tIns="0" bIns="0" anchor="t">
            <a:noAutofit/>
          </a:bodyPr>
          <a:lstStyle/>
          <a:p>
            <a:pPr algn="l">
              <a:lnSpc>
                <a:spcPct val="100000"/>
              </a:lnSpc>
            </a:pPr>
            <a:r>
              <a:rPr sz="690" b="1" i="0" spc="80">
                <a:solidFill>
                  <a:srgbClr val="7B8B9E"/>
                </a:solidFill>
                <a:latin typeface="Calibri"/>
              </a:rPr>
              <a:t>MONTH 6+</a:t>
            </a:r>
          </a:p>
        </p:txBody>
      </p:sp>
      <p:cxnSp>
        <p:nvCxnSpPr>
          <p:cNvPr id="43" name="Connector 42"/>
          <p:cNvCxnSpPr/>
          <p:nvPr/>
        </p:nvCxnSpPr>
        <p:spPr>
          <a:xfrm>
            <a:off x="6761988" y="3829309"/>
            <a:ext cx="0" cy="647700"/>
          </a:xfrm>
          <a:prstGeom prst="line">
            <a:avLst/>
          </a:prstGeom>
          <a:ln w="9525">
            <a:solidFill>
              <a:srgbClr val="C3CEDC"/>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6719011" y="3788161"/>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864" y="3911605"/>
            <a:ext cx="4620463" cy="336804"/>
          </a:xfrm>
          <a:prstGeom prst="rect">
            <a:avLst/>
          </a:prstGeom>
          <a:noFill/>
        </p:spPr>
        <p:txBody>
          <a:bodyPr wrap="square" lIns="0" rIns="0" tIns="0" bIns="0" anchor="t">
            <a:noAutofit/>
          </a:bodyPr>
          <a:lstStyle/>
          <a:p>
            <a:pPr algn="l">
              <a:lnSpc>
                <a:spcPct val="130000"/>
              </a:lnSpc>
            </a:pPr>
            <a:r>
              <a:rPr sz="880" b="1" i="0">
                <a:solidFill>
                  <a:srgbClr val="12263F"/>
                </a:solidFill>
                <a:latin typeface="Calibri"/>
              </a:rPr>
              <a:t>THE FLOOR</a:t>
            </a:r>
            <a:r>
              <a:rPr sz="880" b="0" i="0">
                <a:solidFill>
                  <a:srgbClr val="44546A"/>
                </a:solidFill>
                <a:latin typeface="Calibri"/>
              </a:rPr>
              <a:t>   Industry margin drifts to ₹8,000–10,000 a scooter; volume leadership becomes the only durable prize.</a:t>
            </a:r>
          </a:p>
        </p:txBody>
      </p:sp>
      <p:sp>
        <p:nvSpPr>
          <p:cNvPr id="46" name="Rounded Rectangle 45"/>
          <p:cNvSpPr/>
          <p:nvPr/>
        </p:nvSpPr>
        <p:spPr>
          <a:xfrm>
            <a:off x="6729984" y="4486153"/>
            <a:ext cx="4803343" cy="1274567"/>
          </a:xfrm>
          <a:prstGeom prst="roundRect">
            <a:avLst>
              <a:gd name="adj" fmla="val 4000"/>
            </a:avLst>
          </a:prstGeom>
          <a:solidFill>
            <a:srgbClr val="E9F5F2"/>
          </a:solidFill>
          <a:ln w="7620">
            <a:solidFill>
              <a:srgbClr val="BFDDD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912864" y="4586737"/>
            <a:ext cx="4437583" cy="182880"/>
          </a:xfrm>
          <a:prstGeom prst="rect">
            <a:avLst/>
          </a:prstGeom>
          <a:noFill/>
        </p:spPr>
        <p:txBody>
          <a:bodyPr wrap="square" lIns="0" rIns="0" tIns="0" bIns="0" anchor="t">
            <a:noAutofit/>
          </a:bodyPr>
          <a:lstStyle/>
          <a:p>
            <a:pPr algn="l">
              <a:lnSpc>
                <a:spcPct val="100000"/>
              </a:lnSpc>
            </a:pPr>
            <a:r>
              <a:rPr sz="760" b="1" i="0" spc="110">
                <a:solidFill>
                  <a:srgbClr val="0F766E"/>
                </a:solidFill>
                <a:latin typeface="Calibri"/>
              </a:rPr>
              <a:t>OUR COUNTER-MOVES</a:t>
            </a:r>
          </a:p>
        </p:txBody>
      </p:sp>
      <p:sp>
        <p:nvSpPr>
          <p:cNvPr id="48" name="TextBox 47"/>
          <p:cNvSpPr txBox="1"/>
          <p:nvPr/>
        </p:nvSpPr>
        <p:spPr>
          <a:xfrm>
            <a:off x="6912864" y="4797049"/>
            <a:ext cx="4437583" cy="165811"/>
          </a:xfrm>
          <a:prstGeom prst="rect">
            <a:avLst/>
          </a:prstGeom>
          <a:noFill/>
        </p:spPr>
        <p:txBody>
          <a:bodyPr wrap="square" lIns="0" rIns="0" tIns="0" bIns="0" anchor="t">
            <a:noAutofit/>
          </a:bodyPr>
          <a:lstStyle/>
          <a:p>
            <a:pPr algn="l">
              <a:lnSpc>
                <a:spcPct val="128000"/>
              </a:lnSpc>
            </a:pPr>
            <a:r>
              <a:rPr sz="840" b="1" i="0">
                <a:solidFill>
                  <a:srgbClr val="0F766E"/>
                </a:solidFill>
                <a:latin typeface="Calibri"/>
              </a:rPr>
              <a:t>▪  </a:t>
            </a:r>
            <a:r>
              <a:rPr sz="860" b="0" i="0">
                <a:solidFill>
                  <a:srgbClr val="44546A"/>
                </a:solidFill>
                <a:latin typeface="Calibri"/>
              </a:rPr>
              <a:t>Sell total cost of ownership (₹46,000 a year saved), never just the sticker price.</a:t>
            </a:r>
          </a:p>
        </p:txBody>
      </p:sp>
      <p:sp>
        <p:nvSpPr>
          <p:cNvPr id="49" name="TextBox 48"/>
          <p:cNvSpPr txBox="1"/>
          <p:nvPr/>
        </p:nvSpPr>
        <p:spPr>
          <a:xfrm>
            <a:off x="6912864" y="5040584"/>
            <a:ext cx="4437583" cy="165811"/>
          </a:xfrm>
          <a:prstGeom prst="rect">
            <a:avLst/>
          </a:prstGeom>
          <a:noFill/>
        </p:spPr>
        <p:txBody>
          <a:bodyPr wrap="square" lIns="0" rIns="0" tIns="0" bIns="0" anchor="t">
            <a:noAutofit/>
          </a:bodyPr>
          <a:lstStyle/>
          <a:p>
            <a:pPr algn="l">
              <a:lnSpc>
                <a:spcPct val="128000"/>
              </a:lnSpc>
            </a:pPr>
            <a:r>
              <a:rPr sz="840" b="1" i="0">
                <a:solidFill>
                  <a:srgbClr val="0F766E"/>
                </a:solidFill>
                <a:latin typeface="Calibri"/>
              </a:rPr>
              <a:t>▪  </a:t>
            </a:r>
            <a:r>
              <a:rPr sz="860" b="0" i="0">
                <a:solidFill>
                  <a:srgbClr val="44546A"/>
                </a:solidFill>
                <a:latin typeface="Calibri"/>
              </a:rPr>
              <a:t>Lock in an 8-year battery warranty and service reach before rivals copy the price.</a:t>
            </a:r>
          </a:p>
        </p:txBody>
      </p:sp>
      <p:sp>
        <p:nvSpPr>
          <p:cNvPr id="50" name="TextBox 49"/>
          <p:cNvSpPr txBox="1"/>
          <p:nvPr/>
        </p:nvSpPr>
        <p:spPr>
          <a:xfrm>
            <a:off x="6912864" y="5284119"/>
            <a:ext cx="4437583" cy="165811"/>
          </a:xfrm>
          <a:prstGeom prst="rect">
            <a:avLst/>
          </a:prstGeom>
          <a:noFill/>
        </p:spPr>
        <p:txBody>
          <a:bodyPr wrap="square" lIns="0" rIns="0" tIns="0" bIns="0" anchor="t">
            <a:noAutofit/>
          </a:bodyPr>
          <a:lstStyle/>
          <a:p>
            <a:pPr algn="l">
              <a:lnSpc>
                <a:spcPct val="128000"/>
              </a:lnSpc>
            </a:pPr>
            <a:r>
              <a:rPr sz="840" b="1" i="0">
                <a:solidFill>
                  <a:srgbClr val="0F766E"/>
                </a:solidFill>
                <a:latin typeface="Calibri"/>
              </a:rPr>
              <a:t>▪  </a:t>
            </a:r>
            <a:r>
              <a:rPr sz="860" b="0" i="0">
                <a:solidFill>
                  <a:srgbClr val="44546A"/>
                </a:solidFill>
                <a:latin typeface="Calibri"/>
              </a:rPr>
              <a:t>Play tit-for-tat: match a rival's cut, but never lead a second one.</a:t>
            </a:r>
          </a:p>
        </p:txBody>
      </p:sp>
      <p:sp>
        <p:nvSpPr>
          <p:cNvPr id="51" name="Rounded Rectangle 50"/>
          <p:cNvSpPr/>
          <p:nvPr/>
        </p:nvSpPr>
        <p:spPr>
          <a:xfrm>
            <a:off x="658368" y="5888736"/>
            <a:ext cx="10874959" cy="402336"/>
          </a:xfrm>
          <a:prstGeom prst="roundRect">
            <a:avLst>
              <a:gd name="adj" fmla="val 4000"/>
            </a:avLst>
          </a:prstGeom>
          <a:solidFill>
            <a:srgbClr val="EC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58368" y="5888736"/>
            <a:ext cx="45720" cy="402336"/>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1248" y="5888736"/>
            <a:ext cx="10509199" cy="402336"/>
          </a:xfrm>
          <a:prstGeom prst="rect">
            <a:avLst/>
          </a:prstGeom>
          <a:noFill/>
        </p:spPr>
        <p:txBody>
          <a:bodyPr wrap="square" lIns="0" rIns="0" tIns="0" bIns="0" anchor="ctr">
            <a:noAutofit/>
          </a:bodyPr>
          <a:lstStyle/>
          <a:p>
            <a:pPr algn="l">
              <a:lnSpc>
                <a:spcPct val="124000"/>
              </a:lnSpc>
            </a:pPr>
            <a:r>
              <a:rPr sz="760" b="1" i="0" spc="100">
                <a:solidFill>
                  <a:srgbClr val="2B6CB0"/>
                </a:solidFill>
                <a:latin typeface="Calibri"/>
              </a:rPr>
              <a:t>BOTTOM LINE   </a:t>
            </a:r>
            <a:r>
              <a:rPr sz="900" b="0" i="0">
                <a:solidFill>
                  <a:srgbClr val="12263F"/>
                </a:solidFill>
                <a:latin typeface="Calibri"/>
              </a:rPr>
              <a:t>expect a matching response within weeks — so plan for a lower industry margin, and win on cost and service instead.</a:t>
            </a:r>
          </a:p>
        </p:txBody>
      </p:sp>
      <p:cxnSp>
        <p:nvCxnSpPr>
          <p:cNvPr id="54" name="Connector 53"/>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56" name="TextBox 55"/>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57" name="TextBox 56"/>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58" name="TextBox 57"/>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5 of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3 · CAPITAL BUDGETING</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2B6CB0"/>
                </a:solidFill>
                <a:latin typeface="Calibri"/>
                <a:hlinkClick r:id="rId2"/>
              </a:rPr>
              <a:t>LECTURE LINK · SESSIONS 8 &amp; 9: RISK · CAPITAL BUDGETING</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A ₹50 crore NPV means the IRR is above 15%</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If the project is worth ₹50 crore more than it costs at a 15% discount rate, its own rate of return must be higher than 15%.</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29009"/>
            <a:ext cx="274320" cy="201168"/>
          </a:xfrm>
          <a:prstGeom prst="rect">
            <a:avLst/>
          </a:prstGeom>
          <a:noFill/>
        </p:spPr>
        <p:txBody>
          <a:bodyPr wrap="square" lIns="0" rIns="0" tIns="0" bIns="0" anchor="t">
            <a:noAutofit/>
          </a:bodyPr>
          <a:lstStyle/>
          <a:p>
            <a:pPr algn="l">
              <a:lnSpc>
                <a:spcPct val="100000"/>
              </a:lnSpc>
            </a:pPr>
            <a:r>
              <a:rPr sz="960" b="1" i="0">
                <a:solidFill>
                  <a:srgbClr val="2B6CB0"/>
                </a:solidFill>
                <a:latin typeface="Calibri"/>
              </a:rPr>
              <a:t>1</a:t>
            </a:r>
          </a:p>
        </p:txBody>
      </p:sp>
      <p:sp>
        <p:nvSpPr>
          <p:cNvPr id="9" name="TextBox 8"/>
          <p:cNvSpPr txBox="1"/>
          <p:nvPr/>
        </p:nvSpPr>
        <p:spPr>
          <a:xfrm>
            <a:off x="950976" y="1383289"/>
            <a:ext cx="5422392"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Start from the NPV identity</a:t>
            </a:r>
          </a:p>
        </p:txBody>
      </p:sp>
      <p:sp>
        <p:nvSpPr>
          <p:cNvPr id="10" name="TextBox 9"/>
          <p:cNvSpPr txBox="1"/>
          <p:nvPr/>
        </p:nvSpPr>
        <p:spPr>
          <a:xfrm>
            <a:off x="950976" y="1575496"/>
            <a:ext cx="5422392" cy="336804"/>
          </a:xfrm>
          <a:prstGeom prst="rect">
            <a:avLst/>
          </a:prstGeom>
          <a:noFill/>
        </p:spPr>
        <p:txBody>
          <a:bodyPr wrap="square" lIns="0" rIns="0" tIns="0" bIns="0" anchor="t">
            <a:noAutofit/>
          </a:bodyPr>
          <a:lstStyle/>
          <a:p>
            <a:pPr algn="l">
              <a:lnSpc>
                <a:spcPct val="130000"/>
              </a:lnSpc>
            </a:pPr>
            <a:r>
              <a:rPr sz="919" b="0" i="0">
                <a:solidFill>
                  <a:srgbClr val="44546A"/>
                </a:solidFill>
                <a:latin typeface="Calibri"/>
              </a:rPr>
              <a:t>NPV = PV of inflows − ₹200 crore = +₹50 crore, so the PV of inflows is ₹250 crore. The profitability index is 250 ÷ 200 = </a:t>
            </a:r>
            <a:r>
              <a:rPr sz="919" b="1" i="0">
                <a:solidFill>
                  <a:srgbClr val="12263F"/>
                </a:solidFill>
                <a:latin typeface="Calibri"/>
              </a:rPr>
              <a:t>1.25</a:t>
            </a:r>
            <a:r>
              <a:rPr sz="919" b="0" i="0">
                <a:solidFill>
                  <a:srgbClr val="44546A"/>
                </a:solidFill>
                <a:latin typeface="Calibri"/>
              </a:rPr>
              <a:t> — every rupee invested comes back as ₹1.25 in present value.</a:t>
            </a:r>
          </a:p>
        </p:txBody>
      </p:sp>
      <p:sp>
        <p:nvSpPr>
          <p:cNvPr id="11" name="TextBox 10"/>
          <p:cNvSpPr txBox="1"/>
          <p:nvPr/>
        </p:nvSpPr>
        <p:spPr>
          <a:xfrm>
            <a:off x="658368" y="2113468"/>
            <a:ext cx="274320" cy="201168"/>
          </a:xfrm>
          <a:prstGeom prst="rect">
            <a:avLst/>
          </a:prstGeom>
          <a:noFill/>
        </p:spPr>
        <p:txBody>
          <a:bodyPr wrap="square" lIns="0" rIns="0" tIns="0" bIns="0" anchor="t">
            <a:noAutofit/>
          </a:bodyPr>
          <a:lstStyle/>
          <a:p>
            <a:pPr algn="l">
              <a:lnSpc>
                <a:spcPct val="100000"/>
              </a:lnSpc>
            </a:pPr>
            <a:r>
              <a:rPr sz="960" b="1" i="0">
                <a:solidFill>
                  <a:srgbClr val="2B6CB0"/>
                </a:solidFill>
                <a:latin typeface="Calibri"/>
              </a:rPr>
              <a:t>2</a:t>
            </a:r>
          </a:p>
        </p:txBody>
      </p:sp>
      <p:sp>
        <p:nvSpPr>
          <p:cNvPr id="12" name="TextBox 11"/>
          <p:cNvSpPr txBox="1"/>
          <p:nvPr/>
        </p:nvSpPr>
        <p:spPr>
          <a:xfrm>
            <a:off x="950976" y="2067748"/>
            <a:ext cx="5422392"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NPV always falls as the discount rate rises</a:t>
            </a:r>
          </a:p>
        </p:txBody>
      </p:sp>
      <p:sp>
        <p:nvSpPr>
          <p:cNvPr id="13" name="TextBox 12"/>
          <p:cNvSpPr txBox="1"/>
          <p:nvPr/>
        </p:nvSpPr>
        <p:spPr>
          <a:xfrm>
            <a:off x="950976" y="2259955"/>
            <a:ext cx="5422392" cy="336804"/>
          </a:xfrm>
          <a:prstGeom prst="rect">
            <a:avLst/>
          </a:prstGeom>
          <a:noFill/>
        </p:spPr>
        <p:txBody>
          <a:bodyPr wrap="square" lIns="0" rIns="0" tIns="0" bIns="0" anchor="t">
            <a:noAutofit/>
          </a:bodyPr>
          <a:lstStyle/>
          <a:p>
            <a:pPr algn="l">
              <a:lnSpc>
                <a:spcPct val="130000"/>
              </a:lnSpc>
            </a:pPr>
            <a:r>
              <a:rPr sz="919" b="0" i="0">
                <a:solidFill>
                  <a:srgbClr val="44546A"/>
                </a:solidFill>
                <a:latin typeface="Calibri"/>
              </a:rPr>
              <a:t>Discounting the same cash flows at a higher rate can only shrink their value. At 15% NPV is still +₹50 crore, so it reaches zero only at a rate </a:t>
            </a:r>
            <a:r>
              <a:rPr sz="919" b="1" i="0">
                <a:solidFill>
                  <a:srgbClr val="12263F"/>
                </a:solidFill>
                <a:latin typeface="Calibri"/>
              </a:rPr>
              <a:t>above</a:t>
            </a:r>
            <a:r>
              <a:rPr sz="919" b="0" i="0">
                <a:solidFill>
                  <a:srgbClr val="44546A"/>
                </a:solidFill>
                <a:latin typeface="Calibri"/>
              </a:rPr>
              <a:t> 15%.</a:t>
            </a:r>
          </a:p>
        </p:txBody>
      </p:sp>
      <p:sp>
        <p:nvSpPr>
          <p:cNvPr id="14" name="TextBox 13"/>
          <p:cNvSpPr txBox="1"/>
          <p:nvPr/>
        </p:nvSpPr>
        <p:spPr>
          <a:xfrm>
            <a:off x="658368" y="2797927"/>
            <a:ext cx="274320" cy="201168"/>
          </a:xfrm>
          <a:prstGeom prst="rect">
            <a:avLst/>
          </a:prstGeom>
          <a:noFill/>
        </p:spPr>
        <p:txBody>
          <a:bodyPr wrap="square" lIns="0" rIns="0" tIns="0" bIns="0" anchor="t">
            <a:noAutofit/>
          </a:bodyPr>
          <a:lstStyle/>
          <a:p>
            <a:pPr algn="l">
              <a:lnSpc>
                <a:spcPct val="100000"/>
              </a:lnSpc>
            </a:pPr>
            <a:r>
              <a:rPr sz="960" b="1" i="0">
                <a:solidFill>
                  <a:srgbClr val="2B6CB0"/>
                </a:solidFill>
                <a:latin typeface="Calibri"/>
              </a:rPr>
              <a:t>3</a:t>
            </a:r>
          </a:p>
        </p:txBody>
      </p:sp>
      <p:sp>
        <p:nvSpPr>
          <p:cNvPr id="15" name="TextBox 14"/>
          <p:cNvSpPr txBox="1"/>
          <p:nvPr/>
        </p:nvSpPr>
        <p:spPr>
          <a:xfrm>
            <a:off x="950976" y="2752207"/>
            <a:ext cx="5422392" cy="164775"/>
          </a:xfrm>
          <a:prstGeom prst="rect">
            <a:avLst/>
          </a:prstGeom>
          <a:noFill/>
        </p:spPr>
        <p:txBody>
          <a:bodyPr wrap="square" lIns="0" rIns="0" tIns="0" bIns="0" anchor="t">
            <a:noAutofit/>
          </a:bodyPr>
          <a:lstStyle/>
          <a:p>
            <a:pPr algn="l">
              <a:lnSpc>
                <a:spcPct val="120000"/>
              </a:lnSpc>
            </a:pPr>
            <a:r>
              <a:rPr sz="1060" b="1" i="0">
                <a:solidFill>
                  <a:srgbClr val="12263F"/>
                </a:solidFill>
                <a:latin typeface="Calibri"/>
              </a:rPr>
              <a:t>That crossing point is the IRR</a:t>
            </a:r>
          </a:p>
        </p:txBody>
      </p:sp>
      <p:sp>
        <p:nvSpPr>
          <p:cNvPr id="16" name="TextBox 15"/>
          <p:cNvSpPr txBox="1"/>
          <p:nvPr/>
        </p:nvSpPr>
        <p:spPr>
          <a:xfrm>
            <a:off x="950976" y="2944414"/>
            <a:ext cx="5422392" cy="336804"/>
          </a:xfrm>
          <a:prstGeom prst="rect">
            <a:avLst/>
          </a:prstGeom>
          <a:noFill/>
        </p:spPr>
        <p:txBody>
          <a:bodyPr wrap="square" lIns="0" rIns="0" tIns="0" bIns="0" anchor="t">
            <a:noAutofit/>
          </a:bodyPr>
          <a:lstStyle/>
          <a:p>
            <a:pPr algn="l">
              <a:lnSpc>
                <a:spcPct val="130000"/>
              </a:lnSpc>
            </a:pPr>
            <a:r>
              <a:rPr sz="919" b="0" i="0">
                <a:solidFill>
                  <a:srgbClr val="44546A"/>
                </a:solidFill>
                <a:latin typeface="Calibri"/>
              </a:rPr>
              <a:t>The IRR is the rate at which NPV = 0, so </a:t>
            </a:r>
            <a:r>
              <a:rPr sz="919" b="1" i="0">
                <a:solidFill>
                  <a:srgbClr val="0F766E"/>
                </a:solidFill>
                <a:latin typeface="Calibri"/>
              </a:rPr>
              <a:t>IRR &gt; 15%</a:t>
            </a:r>
            <a:r>
              <a:rPr sz="919" b="0" i="0">
                <a:solidFill>
                  <a:srgbClr val="44546A"/>
                </a:solidFill>
                <a:latin typeface="Calibri"/>
              </a:rPr>
              <a:t> by construction. On level cash flows of about ₹49.8 crore a year for ten years, the IRR is </a:t>
            </a:r>
            <a:r>
              <a:rPr sz="919" b="1" i="0">
                <a:solidFill>
                  <a:srgbClr val="0F766E"/>
                </a:solidFill>
                <a:latin typeface="Calibri"/>
              </a:rPr>
              <a:t>≈ 21.3%</a:t>
            </a:r>
            <a:r>
              <a:rPr sz="919" b="0" i="0">
                <a:solidFill>
                  <a:srgbClr val="44546A"/>
                </a:solidFill>
                <a:latin typeface="Calibri"/>
              </a:rPr>
              <a:t> — a cushion of about 6 percentage points.</a:t>
            </a:r>
          </a:p>
        </p:txBody>
      </p:sp>
      <p:sp>
        <p:nvSpPr>
          <p:cNvPr id="17" name="Rounded Rectangle 16"/>
          <p:cNvSpPr/>
          <p:nvPr/>
        </p:nvSpPr>
        <p:spPr>
          <a:xfrm>
            <a:off x="658368" y="3528106"/>
            <a:ext cx="5715000" cy="566928"/>
          </a:xfrm>
          <a:prstGeom prst="roundRect">
            <a:avLst>
              <a:gd name="adj" fmla="val 4000"/>
            </a:avLst>
          </a:prstGeom>
          <a:solidFill>
            <a:srgbClr val="ECF2FA"/>
          </a:solidFill>
          <a:ln w="7620">
            <a:solidFill>
              <a:srgbClr val="C9DC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8096" y="3610402"/>
            <a:ext cx="1245870" cy="164592"/>
          </a:xfrm>
          <a:prstGeom prst="rect">
            <a:avLst/>
          </a:prstGeom>
          <a:noFill/>
        </p:spPr>
        <p:txBody>
          <a:bodyPr wrap="square" lIns="0" rIns="0" tIns="0" bIns="0" anchor="t">
            <a:noAutofit/>
          </a:bodyPr>
          <a:lstStyle/>
          <a:p>
            <a:pPr algn="l">
              <a:lnSpc>
                <a:spcPct val="100000"/>
              </a:lnSpc>
            </a:pPr>
            <a:r>
              <a:rPr sz="660" b="1" i="0" spc="60">
                <a:solidFill>
                  <a:srgbClr val="7B8B9E"/>
                </a:solidFill>
                <a:latin typeface="Calibri"/>
              </a:rPr>
              <a:t>NPV @ 15%</a:t>
            </a:r>
          </a:p>
        </p:txBody>
      </p:sp>
      <p:sp>
        <p:nvSpPr>
          <p:cNvPr id="19" name="TextBox 18"/>
          <p:cNvSpPr txBox="1"/>
          <p:nvPr/>
        </p:nvSpPr>
        <p:spPr>
          <a:xfrm>
            <a:off x="768096" y="3793282"/>
            <a:ext cx="1245870" cy="219456"/>
          </a:xfrm>
          <a:prstGeom prst="rect">
            <a:avLst/>
          </a:prstGeom>
          <a:noFill/>
        </p:spPr>
        <p:txBody>
          <a:bodyPr wrap="square" lIns="0" rIns="0" tIns="0" bIns="0" anchor="t">
            <a:noAutofit/>
          </a:bodyPr>
          <a:lstStyle/>
          <a:p>
            <a:pPr algn="l">
              <a:lnSpc>
                <a:spcPct val="100000"/>
              </a:lnSpc>
            </a:pPr>
            <a:r>
              <a:rPr sz="1100" b="1" i="0">
                <a:solidFill>
                  <a:srgbClr val="12263F"/>
                </a:solidFill>
                <a:latin typeface="Calibri"/>
              </a:rPr>
              <a:t>+₹50 cr</a:t>
            </a:r>
          </a:p>
        </p:txBody>
      </p:sp>
      <p:cxnSp>
        <p:nvCxnSpPr>
          <p:cNvPr id="20" name="Connector 19"/>
          <p:cNvCxnSpPr/>
          <p:nvPr/>
        </p:nvCxnSpPr>
        <p:spPr>
          <a:xfrm>
            <a:off x="2087118" y="3637834"/>
            <a:ext cx="0" cy="347472"/>
          </a:xfrm>
          <a:prstGeom prst="line">
            <a:avLst/>
          </a:prstGeom>
          <a:ln w="9525">
            <a:solidFill>
              <a:srgbClr val="C9DC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196846" y="3610402"/>
            <a:ext cx="1245870" cy="164592"/>
          </a:xfrm>
          <a:prstGeom prst="rect">
            <a:avLst/>
          </a:prstGeom>
          <a:noFill/>
        </p:spPr>
        <p:txBody>
          <a:bodyPr wrap="square" lIns="0" rIns="0" tIns="0" bIns="0" anchor="t">
            <a:noAutofit/>
          </a:bodyPr>
          <a:lstStyle/>
          <a:p>
            <a:pPr algn="l">
              <a:lnSpc>
                <a:spcPct val="100000"/>
              </a:lnSpc>
            </a:pPr>
            <a:r>
              <a:rPr sz="660" b="1" i="0" spc="60">
                <a:solidFill>
                  <a:srgbClr val="7B8B9E"/>
                </a:solidFill>
                <a:latin typeface="Calibri"/>
              </a:rPr>
              <a:t>PROFITABILITY INDEX</a:t>
            </a:r>
          </a:p>
        </p:txBody>
      </p:sp>
      <p:sp>
        <p:nvSpPr>
          <p:cNvPr id="22" name="TextBox 21"/>
          <p:cNvSpPr txBox="1"/>
          <p:nvPr/>
        </p:nvSpPr>
        <p:spPr>
          <a:xfrm>
            <a:off x="2196846" y="3793282"/>
            <a:ext cx="1245870" cy="219456"/>
          </a:xfrm>
          <a:prstGeom prst="rect">
            <a:avLst/>
          </a:prstGeom>
          <a:noFill/>
        </p:spPr>
        <p:txBody>
          <a:bodyPr wrap="square" lIns="0" rIns="0" tIns="0" bIns="0" anchor="t">
            <a:noAutofit/>
          </a:bodyPr>
          <a:lstStyle/>
          <a:p>
            <a:pPr algn="l">
              <a:lnSpc>
                <a:spcPct val="100000"/>
              </a:lnSpc>
            </a:pPr>
            <a:r>
              <a:rPr sz="1100" b="1" i="0">
                <a:solidFill>
                  <a:srgbClr val="12263F"/>
                </a:solidFill>
                <a:latin typeface="Calibri"/>
              </a:rPr>
              <a:t>1.25</a:t>
            </a:r>
          </a:p>
        </p:txBody>
      </p:sp>
      <p:cxnSp>
        <p:nvCxnSpPr>
          <p:cNvPr id="23" name="Connector 22"/>
          <p:cNvCxnSpPr/>
          <p:nvPr/>
        </p:nvCxnSpPr>
        <p:spPr>
          <a:xfrm>
            <a:off x="3515868" y="3637834"/>
            <a:ext cx="0" cy="347472"/>
          </a:xfrm>
          <a:prstGeom prst="line">
            <a:avLst/>
          </a:prstGeom>
          <a:ln w="9525">
            <a:solidFill>
              <a:srgbClr val="C9DC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25596" y="3610402"/>
            <a:ext cx="1245870" cy="164592"/>
          </a:xfrm>
          <a:prstGeom prst="rect">
            <a:avLst/>
          </a:prstGeom>
          <a:noFill/>
        </p:spPr>
        <p:txBody>
          <a:bodyPr wrap="square" lIns="0" rIns="0" tIns="0" bIns="0" anchor="t">
            <a:noAutofit/>
          </a:bodyPr>
          <a:lstStyle/>
          <a:p>
            <a:pPr algn="l">
              <a:lnSpc>
                <a:spcPct val="100000"/>
              </a:lnSpc>
            </a:pPr>
            <a:r>
              <a:rPr sz="660" b="1" i="0" spc="60">
                <a:solidFill>
                  <a:srgbClr val="7B8B9E"/>
                </a:solidFill>
                <a:latin typeface="Calibri"/>
              </a:rPr>
              <a:t>IRR</a:t>
            </a:r>
          </a:p>
        </p:txBody>
      </p:sp>
      <p:sp>
        <p:nvSpPr>
          <p:cNvPr id="25" name="TextBox 24"/>
          <p:cNvSpPr txBox="1"/>
          <p:nvPr/>
        </p:nvSpPr>
        <p:spPr>
          <a:xfrm>
            <a:off x="3625596" y="3793282"/>
            <a:ext cx="1245870" cy="219456"/>
          </a:xfrm>
          <a:prstGeom prst="rect">
            <a:avLst/>
          </a:prstGeom>
          <a:noFill/>
        </p:spPr>
        <p:txBody>
          <a:bodyPr wrap="square" lIns="0" rIns="0" tIns="0" bIns="0" anchor="t">
            <a:noAutofit/>
          </a:bodyPr>
          <a:lstStyle/>
          <a:p>
            <a:pPr algn="l">
              <a:lnSpc>
                <a:spcPct val="100000"/>
              </a:lnSpc>
            </a:pPr>
            <a:r>
              <a:rPr sz="1100" b="1" i="0">
                <a:solidFill>
                  <a:srgbClr val="12263F"/>
                </a:solidFill>
                <a:latin typeface="Calibri"/>
              </a:rPr>
              <a:t>≈ 21.3%</a:t>
            </a:r>
          </a:p>
        </p:txBody>
      </p:sp>
      <p:cxnSp>
        <p:nvCxnSpPr>
          <p:cNvPr id="26" name="Connector 25"/>
          <p:cNvCxnSpPr/>
          <p:nvPr/>
        </p:nvCxnSpPr>
        <p:spPr>
          <a:xfrm>
            <a:off x="4944618" y="3637834"/>
            <a:ext cx="0" cy="347472"/>
          </a:xfrm>
          <a:prstGeom prst="line">
            <a:avLst/>
          </a:prstGeom>
          <a:ln w="9525">
            <a:solidFill>
              <a:srgbClr val="C9DC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54346" y="3610402"/>
            <a:ext cx="1245870" cy="164592"/>
          </a:xfrm>
          <a:prstGeom prst="rect">
            <a:avLst/>
          </a:prstGeom>
          <a:noFill/>
        </p:spPr>
        <p:txBody>
          <a:bodyPr wrap="square" lIns="0" rIns="0" tIns="0" bIns="0" anchor="t">
            <a:noAutofit/>
          </a:bodyPr>
          <a:lstStyle/>
          <a:p>
            <a:pPr algn="l">
              <a:lnSpc>
                <a:spcPct val="100000"/>
              </a:lnSpc>
            </a:pPr>
            <a:r>
              <a:rPr sz="660" b="1" i="0" spc="60">
                <a:solidFill>
                  <a:srgbClr val="7B8B9E"/>
                </a:solidFill>
                <a:latin typeface="Calibri"/>
              </a:rPr>
              <a:t>DECISION</a:t>
            </a:r>
          </a:p>
        </p:txBody>
      </p:sp>
      <p:sp>
        <p:nvSpPr>
          <p:cNvPr id="28" name="TextBox 27"/>
          <p:cNvSpPr txBox="1"/>
          <p:nvPr/>
        </p:nvSpPr>
        <p:spPr>
          <a:xfrm>
            <a:off x="5054346" y="3793282"/>
            <a:ext cx="1245870" cy="219456"/>
          </a:xfrm>
          <a:prstGeom prst="rect">
            <a:avLst/>
          </a:prstGeom>
          <a:noFill/>
        </p:spPr>
        <p:txBody>
          <a:bodyPr wrap="square" lIns="0" rIns="0" tIns="0" bIns="0" anchor="t">
            <a:noAutofit/>
          </a:bodyPr>
          <a:lstStyle/>
          <a:p>
            <a:pPr algn="l">
              <a:lnSpc>
                <a:spcPct val="100000"/>
              </a:lnSpc>
            </a:pPr>
            <a:r>
              <a:rPr sz="1100" b="1" i="0">
                <a:solidFill>
                  <a:srgbClr val="0F766E"/>
                </a:solidFill>
                <a:latin typeface="Calibri"/>
              </a:rPr>
              <a:t>Accept</a:t>
            </a:r>
          </a:p>
        </p:txBody>
      </p:sp>
      <p:pic>
        <p:nvPicPr>
          <p:cNvPr id="29" name="Picture 28" descr="chart_npv_profile.png"/>
          <p:cNvPicPr>
            <a:picLocks noChangeAspect="1"/>
          </p:cNvPicPr>
          <p:nvPr/>
        </p:nvPicPr>
        <p:blipFill>
          <a:blip r:embed="rId3"/>
          <a:stretch>
            <a:fillRect/>
          </a:stretch>
        </p:blipFill>
        <p:spPr>
          <a:xfrm>
            <a:off x="6824167" y="1401577"/>
            <a:ext cx="4709160" cy="2622959"/>
          </a:xfrm>
          <a:prstGeom prst="rect">
            <a:avLst/>
          </a:prstGeom>
        </p:spPr>
      </p:pic>
      <p:sp>
        <p:nvSpPr>
          <p:cNvPr id="30" name="TextBox 29"/>
          <p:cNvSpPr txBox="1"/>
          <p:nvPr/>
        </p:nvSpPr>
        <p:spPr>
          <a:xfrm>
            <a:off x="6824167" y="4115976"/>
            <a:ext cx="4709160" cy="286283"/>
          </a:xfrm>
          <a:prstGeom prst="rect">
            <a:avLst/>
          </a:prstGeom>
          <a:noFill/>
        </p:spPr>
        <p:txBody>
          <a:bodyPr wrap="square" lIns="0" rIns="0" tIns="0" bIns="0" anchor="t">
            <a:noAutofit/>
          </a:bodyPr>
          <a:lstStyle/>
          <a:p>
            <a:pPr algn="l">
              <a:lnSpc>
                <a:spcPct val="130000"/>
              </a:lnSpc>
            </a:pPr>
            <a:r>
              <a:rPr sz="850" b="0" i="0">
                <a:solidFill>
                  <a:srgbClr val="7B8B9E"/>
                </a:solidFill>
                <a:latin typeface="Calibri"/>
              </a:rPr>
              <a:t>The curve crosses zero exactly at the IRR. Any discount rate below 21.3% — including our 15% hurdle — leaves a positive NPV.</a:t>
            </a:r>
          </a:p>
        </p:txBody>
      </p:sp>
      <p:sp>
        <p:nvSpPr>
          <p:cNvPr id="31" name="TextBox 30"/>
          <p:cNvSpPr txBox="1"/>
          <p:nvPr/>
        </p:nvSpPr>
        <p:spPr>
          <a:xfrm>
            <a:off x="658368" y="4462272"/>
            <a:ext cx="10874959" cy="182880"/>
          </a:xfrm>
          <a:prstGeom prst="rect">
            <a:avLst/>
          </a:prstGeom>
          <a:noFill/>
        </p:spPr>
        <p:txBody>
          <a:bodyPr wrap="square" lIns="0" rIns="0" tIns="0" bIns="0" anchor="t">
            <a:noAutofit/>
          </a:bodyPr>
          <a:lstStyle/>
          <a:p>
            <a:pPr algn="l">
              <a:lnSpc>
                <a:spcPct val="100000"/>
              </a:lnSpc>
            </a:pPr>
            <a:r>
              <a:rPr sz="800" b="1" i="0" spc="110">
                <a:solidFill>
                  <a:srgbClr val="2B6CB0"/>
                </a:solidFill>
                <a:latin typeface="Calibri"/>
              </a:rPr>
              <a:t>IS THE PLANT DECISION MADE UNDER RISK OR UNDER UNCERTAINTY?</a:t>
            </a:r>
          </a:p>
        </p:txBody>
      </p:sp>
      <p:sp>
        <p:nvSpPr>
          <p:cNvPr id="32" name="Rounded Rectangle 31"/>
          <p:cNvSpPr/>
          <p:nvPr/>
        </p:nvSpPr>
        <p:spPr>
          <a:xfrm>
            <a:off x="658368" y="4663440"/>
            <a:ext cx="5318608" cy="950976"/>
          </a:xfrm>
          <a:prstGeom prst="roundRect">
            <a:avLst>
              <a:gd name="adj" fmla="val 4000"/>
            </a:avLst>
          </a:prstGeom>
          <a:solidFill>
            <a:srgbClr val="FDF4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4663440"/>
            <a:ext cx="41148" cy="95097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41248" y="4764024"/>
            <a:ext cx="4971136" cy="182880"/>
          </a:xfrm>
          <a:prstGeom prst="rect">
            <a:avLst/>
          </a:prstGeom>
          <a:noFill/>
        </p:spPr>
        <p:txBody>
          <a:bodyPr wrap="square" lIns="0" rIns="0" tIns="0" bIns="0" anchor="t">
            <a:noAutofit/>
          </a:bodyPr>
          <a:lstStyle/>
          <a:p>
            <a:pPr algn="l">
              <a:lnSpc>
                <a:spcPct val="110000"/>
              </a:lnSpc>
            </a:pPr>
            <a:r>
              <a:rPr sz="880" b="1" i="0" spc="110">
                <a:solidFill>
                  <a:srgbClr val="B45309"/>
                </a:solidFill>
                <a:latin typeface="Calibri"/>
              </a:rPr>
              <a:t>RISK</a:t>
            </a:r>
            <a:r>
              <a:rPr sz="760" b="0" i="0">
                <a:solidFill>
                  <a:srgbClr val="7B8B9E"/>
                </a:solidFill>
                <a:latin typeface="Calibri"/>
              </a:rPr>
              <a:t>     outcomes known · probabilities can be estimated</a:t>
            </a:r>
          </a:p>
        </p:txBody>
      </p:sp>
      <p:sp>
        <p:nvSpPr>
          <p:cNvPr id="35" name="TextBox 34"/>
          <p:cNvSpPr txBox="1"/>
          <p:nvPr/>
        </p:nvSpPr>
        <p:spPr>
          <a:xfrm>
            <a:off x="841248" y="4992624"/>
            <a:ext cx="4952848" cy="548640"/>
          </a:xfrm>
          <a:prstGeom prst="rect">
            <a:avLst/>
          </a:prstGeom>
          <a:noFill/>
        </p:spPr>
        <p:txBody>
          <a:bodyPr wrap="square" lIns="0" rIns="0" tIns="0" bIns="0" anchor="t">
            <a:noAutofit/>
          </a:bodyPr>
          <a:lstStyle/>
          <a:p>
            <a:pPr algn="l">
              <a:lnSpc>
                <a:spcPct val="128000"/>
              </a:lnSpc>
            </a:pPr>
            <a:r>
              <a:rPr sz="860" b="0" i="0">
                <a:solidFill>
                  <a:srgbClr val="44546A"/>
                </a:solidFill>
                <a:latin typeface="Calibri"/>
              </a:rPr>
              <a:t>Cell and commodity prices · rupee–dollar rate · interest on the ₹200 crore debt · warranty claims · dealer ramp-up. Modelled with sensitivity and scenario analysis.</a:t>
            </a:r>
          </a:p>
        </p:txBody>
      </p:sp>
      <p:sp>
        <p:nvSpPr>
          <p:cNvPr id="36" name="Rounded Rectangle 35"/>
          <p:cNvSpPr/>
          <p:nvPr/>
        </p:nvSpPr>
        <p:spPr>
          <a:xfrm>
            <a:off x="6214720" y="4663440"/>
            <a:ext cx="5318608" cy="950976"/>
          </a:xfrm>
          <a:prstGeom prst="roundRect">
            <a:avLst>
              <a:gd name="adj" fmla="val 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214720" y="4663440"/>
            <a:ext cx="41148" cy="95097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397600" y="4764024"/>
            <a:ext cx="4971136" cy="182880"/>
          </a:xfrm>
          <a:prstGeom prst="rect">
            <a:avLst/>
          </a:prstGeom>
          <a:noFill/>
        </p:spPr>
        <p:txBody>
          <a:bodyPr wrap="square" lIns="0" rIns="0" tIns="0" bIns="0" anchor="t">
            <a:noAutofit/>
          </a:bodyPr>
          <a:lstStyle/>
          <a:p>
            <a:pPr algn="l">
              <a:lnSpc>
                <a:spcPct val="110000"/>
              </a:lnSpc>
            </a:pPr>
            <a:r>
              <a:rPr sz="880" b="1" i="0" spc="110">
                <a:solidFill>
                  <a:srgbClr val="B3261E"/>
                </a:solidFill>
                <a:latin typeface="Calibri"/>
              </a:rPr>
              <a:t>UNCERTAINTY</a:t>
            </a:r>
            <a:r>
              <a:rPr sz="760" b="0" i="0">
                <a:solidFill>
                  <a:srgbClr val="7B8B9E"/>
                </a:solidFill>
                <a:latin typeface="Calibri"/>
              </a:rPr>
              <a:t>     outcomes unknown · no probability can be assigned</a:t>
            </a:r>
          </a:p>
        </p:txBody>
      </p:sp>
      <p:sp>
        <p:nvSpPr>
          <p:cNvPr id="39" name="TextBox 38"/>
          <p:cNvSpPr txBox="1"/>
          <p:nvPr/>
        </p:nvSpPr>
        <p:spPr>
          <a:xfrm>
            <a:off x="6397600" y="4992624"/>
            <a:ext cx="4952848" cy="548640"/>
          </a:xfrm>
          <a:prstGeom prst="rect">
            <a:avLst/>
          </a:prstGeom>
          <a:noFill/>
        </p:spPr>
        <p:txBody>
          <a:bodyPr wrap="square" lIns="0" rIns="0" tIns="0" bIns="0" anchor="t">
            <a:noAutofit/>
          </a:bodyPr>
          <a:lstStyle/>
          <a:p>
            <a:pPr algn="l">
              <a:lnSpc>
                <a:spcPct val="128000"/>
              </a:lnSpc>
            </a:pPr>
            <a:r>
              <a:rPr sz="860" b="0" i="0">
                <a:solidFill>
                  <a:srgbClr val="44546A"/>
                </a:solidFill>
                <a:latin typeface="Calibri"/>
              </a:rPr>
              <a:t>A solid-state battery breakthrough · a redesign of the PM E-DRIVE subsidy · consolidation among rivals · a lithium supply shock · a lasting change in buyer taste. Met with staged capex and written exit rules.</a:t>
            </a:r>
          </a:p>
        </p:txBody>
      </p:sp>
      <p:sp>
        <p:nvSpPr>
          <p:cNvPr id="40" name="Rounded Rectangle 39"/>
          <p:cNvSpPr/>
          <p:nvPr/>
        </p:nvSpPr>
        <p:spPr>
          <a:xfrm>
            <a:off x="658368" y="5724144"/>
            <a:ext cx="10874959" cy="402336"/>
          </a:xfrm>
          <a:prstGeom prst="roundRect">
            <a:avLst>
              <a:gd name="adj" fmla="val 4000"/>
            </a:avLst>
          </a:prstGeom>
          <a:solidFill>
            <a:srgbClr val="EC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8368" y="5724144"/>
            <a:ext cx="45720" cy="402336"/>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41248" y="5724144"/>
            <a:ext cx="10509199" cy="402336"/>
          </a:xfrm>
          <a:prstGeom prst="rect">
            <a:avLst/>
          </a:prstGeom>
          <a:noFill/>
        </p:spPr>
        <p:txBody>
          <a:bodyPr wrap="square" lIns="0" rIns="0" tIns="0" bIns="0" anchor="ctr">
            <a:noAutofit/>
          </a:bodyPr>
          <a:lstStyle/>
          <a:p>
            <a:pPr algn="l">
              <a:lnSpc>
                <a:spcPct val="124000"/>
              </a:lnSpc>
            </a:pPr>
            <a:r>
              <a:rPr sz="760" b="1" i="0" spc="100">
                <a:solidFill>
                  <a:srgbClr val="2B6CB0"/>
                </a:solidFill>
                <a:latin typeface="Calibri"/>
              </a:rPr>
              <a:t>VERDICT   </a:t>
            </a:r>
            <a:r>
              <a:rPr sz="900" b="0" i="0">
                <a:solidFill>
                  <a:srgbClr val="12263F"/>
                </a:solidFill>
                <a:latin typeface="Calibri"/>
              </a:rPr>
              <a:t>mainly uncertainty — the ₹50 crore NPV is a point estimate inside a distribution, not a promise.</a:t>
            </a:r>
          </a:p>
        </p:txBody>
      </p:sp>
      <p:cxnSp>
        <p:nvCxnSpPr>
          <p:cNvPr id="43" name="Connector 42"/>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45" name="TextBox 44"/>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46" name="TextBox 45"/>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47" name="TextBox 46"/>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6 of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4 · CONCLUSION</a:t>
            </a:r>
          </a:p>
        </p:txBody>
      </p:sp>
      <p:sp>
        <p:nvSpPr>
          <p:cNvPr id="4" name="TextBox 3"/>
          <p:cNvSpPr txBox="1"/>
          <p:nvPr/>
        </p:nvSpPr>
        <p:spPr>
          <a:xfrm>
            <a:off x="6595567" y="310896"/>
            <a:ext cx="4937760" cy="182880"/>
          </a:xfrm>
          <a:prstGeom prst="rect">
            <a:avLst/>
          </a:prstGeom>
          <a:noFill/>
        </p:spPr>
        <p:txBody>
          <a:bodyPr wrap="square" lIns="0" rIns="0" tIns="0" bIns="0" anchor="t">
            <a:noAutofit/>
          </a:bodyPr>
          <a:lstStyle/>
          <a:p>
            <a:pPr algn="r">
              <a:lnSpc>
                <a:spcPct val="100000"/>
              </a:lnSpc>
            </a:pPr>
            <a:r>
              <a:rPr sz="760" b="1" i="0" spc="110">
                <a:solidFill>
                  <a:srgbClr val="7B8B9E"/>
                </a:solidFill>
                <a:latin typeface="Calibri"/>
              </a:rPr>
              <a:t>SESSIONS 5–9 · RECAP</a:t>
            </a:r>
          </a:p>
        </p:txBody>
      </p:sp>
      <p:sp>
        <p:nvSpPr>
          <p:cNvPr id="5" name="TextBox 4"/>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Proceed — with a staged commitment</a:t>
            </a:r>
          </a:p>
        </p:txBody>
      </p:sp>
      <p:sp>
        <p:nvSpPr>
          <p:cNvPr id="6" name="TextBox 5"/>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All three analyses point the same way. The one refinement is to release capital in stages, because the plant is a bet under uncertainty.</a:t>
            </a:r>
          </a:p>
        </p:txBody>
      </p:sp>
      <p:cxnSp>
        <p:nvCxnSpPr>
          <p:cNvPr id="7" name="Connector 6"/>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419865"/>
            <a:ext cx="3515258" cy="1152144"/>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1419865"/>
            <a:ext cx="3515258" cy="4572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1575313"/>
            <a:ext cx="3112922" cy="182880"/>
          </a:xfrm>
          <a:prstGeom prst="rect">
            <a:avLst/>
          </a:prstGeom>
          <a:noFill/>
        </p:spPr>
        <p:txBody>
          <a:bodyPr wrap="square" lIns="0" rIns="0" tIns="0" bIns="0" anchor="t">
            <a:noAutofit/>
          </a:bodyPr>
          <a:lstStyle/>
          <a:p>
            <a:pPr algn="l">
              <a:lnSpc>
                <a:spcPct val="100000"/>
              </a:lnSpc>
            </a:pPr>
            <a:r>
              <a:rPr sz="740" b="1" i="0" spc="120">
                <a:solidFill>
                  <a:srgbClr val="2B6CB0"/>
                </a:solidFill>
                <a:latin typeface="Calibri"/>
              </a:rPr>
              <a:t>MARKET</a:t>
            </a:r>
          </a:p>
        </p:txBody>
      </p:sp>
      <p:sp>
        <p:nvSpPr>
          <p:cNvPr id="11" name="TextBox 10"/>
          <p:cNvSpPr txBox="1"/>
          <p:nvPr/>
        </p:nvSpPr>
        <p:spPr>
          <a:xfrm>
            <a:off x="859536" y="1749049"/>
            <a:ext cx="3112922" cy="256032"/>
          </a:xfrm>
          <a:prstGeom prst="rect">
            <a:avLst/>
          </a:prstGeom>
          <a:noFill/>
        </p:spPr>
        <p:txBody>
          <a:bodyPr wrap="square" lIns="0" rIns="0" tIns="0" bIns="0" anchor="t">
            <a:noAutofit/>
          </a:bodyPr>
          <a:lstStyle/>
          <a:p>
            <a:pPr algn="l">
              <a:lnSpc>
                <a:spcPct val="102000"/>
              </a:lnSpc>
            </a:pPr>
            <a:r>
              <a:rPr sz="1520" b="1" i="0">
                <a:solidFill>
                  <a:srgbClr val="12263F"/>
                </a:solidFill>
                <a:latin typeface="Calibri"/>
              </a:rPr>
              <a:t>Oligopoly</a:t>
            </a:r>
          </a:p>
        </p:txBody>
      </p:sp>
      <p:sp>
        <p:nvSpPr>
          <p:cNvPr id="12" name="TextBox 11"/>
          <p:cNvSpPr txBox="1"/>
          <p:nvPr/>
        </p:nvSpPr>
        <p:spPr>
          <a:xfrm>
            <a:off x="859536" y="2059945"/>
            <a:ext cx="3112922" cy="457200"/>
          </a:xfrm>
          <a:prstGeom prst="rect">
            <a:avLst/>
          </a:prstGeom>
          <a:noFill/>
        </p:spPr>
        <p:txBody>
          <a:bodyPr wrap="square" lIns="0" rIns="0" tIns="0" bIns="0" anchor="t">
            <a:noAutofit/>
          </a:bodyPr>
          <a:lstStyle/>
          <a:p>
            <a:pPr algn="l">
              <a:lnSpc>
                <a:spcPct val="126000"/>
              </a:lnSpc>
            </a:pPr>
            <a:r>
              <a:rPr sz="860" b="0" i="0">
                <a:solidFill>
                  <a:srgbClr val="44546A"/>
                </a:solidFill>
                <a:latin typeface="Calibri"/>
              </a:rPr>
              <a:t>86% held by four firms. Enter as a differentiated, scale-led challenger — never as a price-taker.</a:t>
            </a:r>
          </a:p>
        </p:txBody>
      </p:sp>
      <p:sp>
        <p:nvSpPr>
          <p:cNvPr id="13" name="Rounded Rectangle 12"/>
          <p:cNvSpPr/>
          <p:nvPr/>
        </p:nvSpPr>
        <p:spPr>
          <a:xfrm>
            <a:off x="4338218" y="1419865"/>
            <a:ext cx="3515258" cy="1152144"/>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38218" y="1419865"/>
            <a:ext cx="351525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39386" y="1575313"/>
            <a:ext cx="3112922" cy="182880"/>
          </a:xfrm>
          <a:prstGeom prst="rect">
            <a:avLst/>
          </a:prstGeom>
          <a:noFill/>
        </p:spPr>
        <p:txBody>
          <a:bodyPr wrap="square" lIns="0" rIns="0" tIns="0" bIns="0" anchor="t">
            <a:noAutofit/>
          </a:bodyPr>
          <a:lstStyle/>
          <a:p>
            <a:pPr algn="l">
              <a:lnSpc>
                <a:spcPct val="100000"/>
              </a:lnSpc>
            </a:pPr>
            <a:r>
              <a:rPr sz="740" b="1" i="0" spc="120">
                <a:solidFill>
                  <a:srgbClr val="0F766E"/>
                </a:solidFill>
                <a:latin typeface="Calibri"/>
              </a:rPr>
              <a:t>PRICE</a:t>
            </a:r>
          </a:p>
        </p:txBody>
      </p:sp>
      <p:sp>
        <p:nvSpPr>
          <p:cNvPr id="16" name="TextBox 15"/>
          <p:cNvSpPr txBox="1"/>
          <p:nvPr/>
        </p:nvSpPr>
        <p:spPr>
          <a:xfrm>
            <a:off x="4539386" y="1749049"/>
            <a:ext cx="3112922" cy="256032"/>
          </a:xfrm>
          <a:prstGeom prst="rect">
            <a:avLst/>
          </a:prstGeom>
          <a:noFill/>
        </p:spPr>
        <p:txBody>
          <a:bodyPr wrap="square" lIns="0" rIns="0" tIns="0" bIns="0" anchor="t">
            <a:noAutofit/>
          </a:bodyPr>
          <a:lstStyle/>
          <a:p>
            <a:pPr algn="l">
              <a:lnSpc>
                <a:spcPct val="102000"/>
              </a:lnSpc>
            </a:pPr>
            <a:r>
              <a:rPr sz="1520" b="1" i="0">
                <a:solidFill>
                  <a:srgbClr val="12263F"/>
                </a:solidFill>
                <a:latin typeface="Calibri"/>
              </a:rPr>
              <a:t>₹74,999</a:t>
            </a:r>
          </a:p>
        </p:txBody>
      </p:sp>
      <p:sp>
        <p:nvSpPr>
          <p:cNvPr id="17" name="TextBox 16"/>
          <p:cNvSpPr txBox="1"/>
          <p:nvPr/>
        </p:nvSpPr>
        <p:spPr>
          <a:xfrm>
            <a:off x="4539386" y="2059945"/>
            <a:ext cx="3112922" cy="457200"/>
          </a:xfrm>
          <a:prstGeom prst="rect">
            <a:avLst/>
          </a:prstGeom>
          <a:noFill/>
        </p:spPr>
        <p:txBody>
          <a:bodyPr wrap="square" lIns="0" rIns="0" tIns="0" bIns="0" anchor="t">
            <a:noAutofit/>
          </a:bodyPr>
          <a:lstStyle/>
          <a:p>
            <a:pPr algn="l">
              <a:lnSpc>
                <a:spcPct val="126000"/>
              </a:lnSpc>
            </a:pPr>
            <a:r>
              <a:rPr sz="860" b="0" i="0">
                <a:solidFill>
                  <a:srgbClr val="44546A"/>
                </a:solidFill>
                <a:latin typeface="Calibri"/>
              </a:rPr>
              <a:t>Penetration pricing. Elastic demand, a positive contribution on every unit, and a response we can anticipate.</a:t>
            </a:r>
          </a:p>
        </p:txBody>
      </p:sp>
      <p:sp>
        <p:nvSpPr>
          <p:cNvPr id="18" name="Rounded Rectangle 17"/>
          <p:cNvSpPr/>
          <p:nvPr/>
        </p:nvSpPr>
        <p:spPr>
          <a:xfrm>
            <a:off x="8018069" y="1419865"/>
            <a:ext cx="3515258" cy="1152144"/>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8069" y="1419865"/>
            <a:ext cx="3515258"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19237" y="1575313"/>
            <a:ext cx="3112922" cy="182880"/>
          </a:xfrm>
          <a:prstGeom prst="rect">
            <a:avLst/>
          </a:prstGeom>
          <a:noFill/>
        </p:spPr>
        <p:txBody>
          <a:bodyPr wrap="square" lIns="0" rIns="0" tIns="0" bIns="0" anchor="t">
            <a:noAutofit/>
          </a:bodyPr>
          <a:lstStyle/>
          <a:p>
            <a:pPr algn="l">
              <a:lnSpc>
                <a:spcPct val="100000"/>
              </a:lnSpc>
            </a:pPr>
            <a:r>
              <a:rPr sz="740" b="1" i="0" spc="120">
                <a:solidFill>
                  <a:srgbClr val="B45309"/>
                </a:solidFill>
                <a:latin typeface="Calibri"/>
              </a:rPr>
              <a:t>CAPITAL</a:t>
            </a:r>
          </a:p>
        </p:txBody>
      </p:sp>
      <p:sp>
        <p:nvSpPr>
          <p:cNvPr id="21" name="TextBox 20"/>
          <p:cNvSpPr txBox="1"/>
          <p:nvPr/>
        </p:nvSpPr>
        <p:spPr>
          <a:xfrm>
            <a:off x="8219237" y="1749049"/>
            <a:ext cx="3112922" cy="256032"/>
          </a:xfrm>
          <a:prstGeom prst="rect">
            <a:avLst/>
          </a:prstGeom>
          <a:noFill/>
        </p:spPr>
        <p:txBody>
          <a:bodyPr wrap="square" lIns="0" rIns="0" tIns="0" bIns="0" anchor="t">
            <a:noAutofit/>
          </a:bodyPr>
          <a:lstStyle/>
          <a:p>
            <a:pPr algn="l">
              <a:lnSpc>
                <a:spcPct val="102000"/>
              </a:lnSpc>
            </a:pPr>
            <a:r>
              <a:rPr sz="1520" b="1" i="0">
                <a:solidFill>
                  <a:srgbClr val="12263F"/>
                </a:solidFill>
                <a:latin typeface="Calibri"/>
              </a:rPr>
              <a:t>Accept</a:t>
            </a:r>
          </a:p>
        </p:txBody>
      </p:sp>
      <p:sp>
        <p:nvSpPr>
          <p:cNvPr id="22" name="TextBox 21"/>
          <p:cNvSpPr txBox="1"/>
          <p:nvPr/>
        </p:nvSpPr>
        <p:spPr>
          <a:xfrm>
            <a:off x="8219237" y="2059945"/>
            <a:ext cx="3112922" cy="457200"/>
          </a:xfrm>
          <a:prstGeom prst="rect">
            <a:avLst/>
          </a:prstGeom>
          <a:noFill/>
        </p:spPr>
        <p:txBody>
          <a:bodyPr wrap="square" lIns="0" rIns="0" tIns="0" bIns="0" anchor="t">
            <a:noAutofit/>
          </a:bodyPr>
          <a:lstStyle/>
          <a:p>
            <a:pPr algn="l">
              <a:lnSpc>
                <a:spcPct val="126000"/>
              </a:lnSpc>
            </a:pPr>
            <a:r>
              <a:rPr sz="860" b="0" i="0">
                <a:solidFill>
                  <a:srgbClr val="44546A"/>
                </a:solidFill>
                <a:latin typeface="Calibri"/>
              </a:rPr>
              <a:t>IRR ≈ 21.3% against a 15% hurdle. Approve the plant — but stage the ₹200 crore against demand gates.</a:t>
            </a:r>
          </a:p>
        </p:txBody>
      </p:sp>
      <p:sp>
        <p:nvSpPr>
          <p:cNvPr id="23" name="Rounded Rectangle 22"/>
          <p:cNvSpPr/>
          <p:nvPr/>
        </p:nvSpPr>
        <p:spPr>
          <a:xfrm>
            <a:off x="658368" y="2791465"/>
            <a:ext cx="6053328" cy="2969255"/>
          </a:xfrm>
          <a:prstGeom prst="roundRect">
            <a:avLst>
              <a:gd name="adj" fmla="val 4000"/>
            </a:avLst>
          </a:prstGeom>
          <a:solidFill>
            <a:srgbClr val="FFFFFF"/>
          </a:solidFill>
          <a:ln w="952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2919481"/>
            <a:ext cx="5614416" cy="182880"/>
          </a:xfrm>
          <a:prstGeom prst="rect">
            <a:avLst/>
          </a:prstGeom>
          <a:noFill/>
        </p:spPr>
        <p:txBody>
          <a:bodyPr wrap="square" lIns="0" rIns="0" tIns="0" bIns="0" anchor="t">
            <a:noAutofit/>
          </a:bodyPr>
          <a:lstStyle/>
          <a:p>
            <a:pPr algn="l">
              <a:lnSpc>
                <a:spcPct val="100000"/>
              </a:lnSpc>
            </a:pPr>
            <a:r>
              <a:rPr sz="780" b="1" i="0" spc="110">
                <a:solidFill>
                  <a:srgbClr val="2B6CB0"/>
                </a:solidFill>
                <a:latin typeface="Calibri"/>
              </a:rPr>
              <a:t>CONDITIONS AND GUARDRAILS</a:t>
            </a:r>
          </a:p>
        </p:txBody>
      </p:sp>
      <p:sp>
        <p:nvSpPr>
          <p:cNvPr id="25" name="TextBox 24"/>
          <p:cNvSpPr txBox="1"/>
          <p:nvPr/>
        </p:nvSpPr>
        <p:spPr>
          <a:xfrm>
            <a:off x="877824" y="3479041"/>
            <a:ext cx="237744" cy="182880"/>
          </a:xfrm>
          <a:prstGeom prst="rect">
            <a:avLst/>
          </a:prstGeom>
          <a:noFill/>
        </p:spPr>
        <p:txBody>
          <a:bodyPr wrap="square" lIns="0" rIns="0" tIns="0" bIns="0" anchor="t">
            <a:noAutofit/>
          </a:bodyPr>
          <a:lstStyle/>
          <a:p>
            <a:pPr algn="l">
              <a:lnSpc>
                <a:spcPct val="100000"/>
              </a:lnSpc>
            </a:pPr>
            <a:r>
              <a:rPr sz="860" b="1" i="0">
                <a:solidFill>
                  <a:srgbClr val="2B6CB0"/>
                </a:solidFill>
                <a:latin typeface="Calibri"/>
              </a:rPr>
              <a:t>1</a:t>
            </a:r>
          </a:p>
        </p:txBody>
      </p:sp>
      <p:sp>
        <p:nvSpPr>
          <p:cNvPr id="26" name="TextBox 25"/>
          <p:cNvSpPr txBox="1"/>
          <p:nvPr/>
        </p:nvSpPr>
        <p:spPr>
          <a:xfrm>
            <a:off x="1170432" y="3465325"/>
            <a:ext cx="5541264" cy="336804"/>
          </a:xfrm>
          <a:prstGeom prst="rect">
            <a:avLst/>
          </a:prstGeom>
          <a:noFill/>
        </p:spPr>
        <p:txBody>
          <a:bodyPr wrap="square" lIns="0" rIns="0" tIns="0" bIns="0" anchor="t">
            <a:noAutofit/>
          </a:bodyPr>
          <a:lstStyle/>
          <a:p>
            <a:pPr algn="l">
              <a:lnSpc>
                <a:spcPct val="130000"/>
              </a:lnSpc>
            </a:pPr>
            <a:r>
              <a:rPr sz="890" b="1" i="0">
                <a:solidFill>
                  <a:srgbClr val="12263F"/>
                </a:solidFill>
                <a:latin typeface="Calibri"/>
              </a:rPr>
              <a:t>Release capital in three gates — </a:t>
            </a:r>
            <a:r>
              <a:rPr sz="890" b="0" i="0">
                <a:solidFill>
                  <a:srgbClr val="44546A"/>
                </a:solidFill>
                <a:latin typeface="Calibri"/>
              </a:rPr>
              <a:t>land and line (₹60 cr) → cell contracts (₹70 cr) → expansion (₹70 cr), each unlocked by measured demand.</a:t>
            </a:r>
          </a:p>
        </p:txBody>
      </p:sp>
      <p:sp>
        <p:nvSpPr>
          <p:cNvPr id="27" name="TextBox 26"/>
          <p:cNvSpPr txBox="1"/>
          <p:nvPr/>
        </p:nvSpPr>
        <p:spPr>
          <a:xfrm>
            <a:off x="877824" y="3971293"/>
            <a:ext cx="237744" cy="182880"/>
          </a:xfrm>
          <a:prstGeom prst="rect">
            <a:avLst/>
          </a:prstGeom>
          <a:noFill/>
        </p:spPr>
        <p:txBody>
          <a:bodyPr wrap="square" lIns="0" rIns="0" tIns="0" bIns="0" anchor="t">
            <a:noAutofit/>
          </a:bodyPr>
          <a:lstStyle/>
          <a:p>
            <a:pPr algn="l">
              <a:lnSpc>
                <a:spcPct val="100000"/>
              </a:lnSpc>
            </a:pPr>
            <a:r>
              <a:rPr sz="860" b="1" i="0">
                <a:solidFill>
                  <a:srgbClr val="2B6CB0"/>
                </a:solidFill>
                <a:latin typeface="Calibri"/>
              </a:rPr>
              <a:t>2</a:t>
            </a:r>
          </a:p>
        </p:txBody>
      </p:sp>
      <p:sp>
        <p:nvSpPr>
          <p:cNvPr id="28" name="TextBox 27"/>
          <p:cNvSpPr txBox="1"/>
          <p:nvPr/>
        </p:nvSpPr>
        <p:spPr>
          <a:xfrm>
            <a:off x="1170432" y="3957577"/>
            <a:ext cx="5541264" cy="336804"/>
          </a:xfrm>
          <a:prstGeom prst="rect">
            <a:avLst/>
          </a:prstGeom>
          <a:noFill/>
        </p:spPr>
        <p:txBody>
          <a:bodyPr wrap="square" lIns="0" rIns="0" tIns="0" bIns="0" anchor="t">
            <a:noAutofit/>
          </a:bodyPr>
          <a:lstStyle/>
          <a:p>
            <a:pPr algn="l">
              <a:lnSpc>
                <a:spcPct val="130000"/>
              </a:lnSpc>
            </a:pPr>
            <a:r>
              <a:rPr sz="890" b="1" i="0">
                <a:solidFill>
                  <a:srgbClr val="12263F"/>
                </a:solidFill>
                <a:latin typeface="Calibri"/>
              </a:rPr>
              <a:t>Write the exit rules now — </a:t>
            </a:r>
            <a:r>
              <a:rPr sz="890" b="0" i="0">
                <a:solidFill>
                  <a:srgbClr val="44546A"/>
                </a:solidFill>
                <a:latin typeface="Calibri"/>
              </a:rPr>
              <a:t>walk away if the run-rate stays below 6,000 scooters a month for two consecutive quarters.</a:t>
            </a:r>
          </a:p>
        </p:txBody>
      </p:sp>
      <p:sp>
        <p:nvSpPr>
          <p:cNvPr id="29" name="TextBox 28"/>
          <p:cNvSpPr txBox="1"/>
          <p:nvPr/>
        </p:nvSpPr>
        <p:spPr>
          <a:xfrm>
            <a:off x="877824" y="4463545"/>
            <a:ext cx="237744" cy="182880"/>
          </a:xfrm>
          <a:prstGeom prst="rect">
            <a:avLst/>
          </a:prstGeom>
          <a:noFill/>
        </p:spPr>
        <p:txBody>
          <a:bodyPr wrap="square" lIns="0" rIns="0" tIns="0" bIns="0" anchor="t">
            <a:noAutofit/>
          </a:bodyPr>
          <a:lstStyle/>
          <a:p>
            <a:pPr algn="l">
              <a:lnSpc>
                <a:spcPct val="100000"/>
              </a:lnSpc>
            </a:pPr>
            <a:r>
              <a:rPr sz="860" b="1" i="0">
                <a:solidFill>
                  <a:srgbClr val="2B6CB0"/>
                </a:solidFill>
                <a:latin typeface="Calibri"/>
              </a:rPr>
              <a:t>3</a:t>
            </a:r>
          </a:p>
        </p:txBody>
      </p:sp>
      <p:sp>
        <p:nvSpPr>
          <p:cNvPr id="30" name="TextBox 29"/>
          <p:cNvSpPr txBox="1"/>
          <p:nvPr/>
        </p:nvSpPr>
        <p:spPr>
          <a:xfrm>
            <a:off x="1170432" y="4449829"/>
            <a:ext cx="5541264" cy="336804"/>
          </a:xfrm>
          <a:prstGeom prst="rect">
            <a:avLst/>
          </a:prstGeom>
          <a:noFill/>
        </p:spPr>
        <p:txBody>
          <a:bodyPr wrap="square" lIns="0" rIns="0" tIns="0" bIns="0" anchor="t">
            <a:noAutofit/>
          </a:bodyPr>
          <a:lstStyle/>
          <a:p>
            <a:pPr algn="l">
              <a:lnSpc>
                <a:spcPct val="130000"/>
              </a:lnSpc>
            </a:pPr>
            <a:r>
              <a:rPr sz="890" b="1" i="0">
                <a:solidFill>
                  <a:srgbClr val="12263F"/>
                </a:solidFill>
                <a:latin typeface="Calibri"/>
              </a:rPr>
              <a:t>Target about 8% share by FY28 — </a:t>
            </a:r>
            <a:r>
              <a:rPr sz="890" b="0" i="0">
                <a:solidFill>
                  <a:srgbClr val="44546A"/>
                </a:solidFill>
                <a:latin typeface="Calibri"/>
              </a:rPr>
              <a:t>roughly 1.6 lakh units a year, enough to recover the ₹200 crore inside the payback window.</a:t>
            </a:r>
          </a:p>
        </p:txBody>
      </p:sp>
      <p:sp>
        <p:nvSpPr>
          <p:cNvPr id="31" name="TextBox 30"/>
          <p:cNvSpPr txBox="1"/>
          <p:nvPr/>
        </p:nvSpPr>
        <p:spPr>
          <a:xfrm>
            <a:off x="877824" y="4955797"/>
            <a:ext cx="237744" cy="182880"/>
          </a:xfrm>
          <a:prstGeom prst="rect">
            <a:avLst/>
          </a:prstGeom>
          <a:noFill/>
        </p:spPr>
        <p:txBody>
          <a:bodyPr wrap="square" lIns="0" rIns="0" tIns="0" bIns="0" anchor="t">
            <a:noAutofit/>
          </a:bodyPr>
          <a:lstStyle/>
          <a:p>
            <a:pPr algn="l">
              <a:lnSpc>
                <a:spcPct val="100000"/>
              </a:lnSpc>
            </a:pPr>
            <a:r>
              <a:rPr sz="860" b="1" i="0">
                <a:solidFill>
                  <a:srgbClr val="2B6CB0"/>
                </a:solidFill>
                <a:latin typeface="Calibri"/>
              </a:rPr>
              <a:t>4</a:t>
            </a:r>
          </a:p>
        </p:txBody>
      </p:sp>
      <p:sp>
        <p:nvSpPr>
          <p:cNvPr id="32" name="TextBox 31"/>
          <p:cNvSpPr txBox="1"/>
          <p:nvPr/>
        </p:nvSpPr>
        <p:spPr>
          <a:xfrm>
            <a:off x="1170432" y="4942081"/>
            <a:ext cx="5541264" cy="168402"/>
          </a:xfrm>
          <a:prstGeom prst="rect">
            <a:avLst/>
          </a:prstGeom>
          <a:noFill/>
        </p:spPr>
        <p:txBody>
          <a:bodyPr wrap="square" lIns="0" rIns="0" tIns="0" bIns="0" anchor="t">
            <a:noAutofit/>
          </a:bodyPr>
          <a:lstStyle/>
          <a:p>
            <a:pPr algn="l">
              <a:lnSpc>
                <a:spcPct val="130000"/>
              </a:lnSpc>
            </a:pPr>
            <a:r>
              <a:rPr sz="890" b="1" i="0">
                <a:solidFill>
                  <a:srgbClr val="12263F"/>
                </a:solidFill>
                <a:latin typeface="Calibri"/>
              </a:rPr>
              <a:t>Hold ₹74,999 for four quarters — </a:t>
            </a:r>
            <a:r>
              <a:rPr sz="890" b="0" i="0">
                <a:solidFill>
                  <a:srgbClr val="44546A"/>
                </a:solidFill>
                <a:latin typeface="Calibri"/>
              </a:rPr>
              <a:t>a second cut invites a price war that no firm in an oligopoly can win.</a:t>
            </a:r>
          </a:p>
        </p:txBody>
      </p:sp>
      <p:sp>
        <p:nvSpPr>
          <p:cNvPr id="33" name="TextBox 32"/>
          <p:cNvSpPr txBox="1"/>
          <p:nvPr/>
        </p:nvSpPr>
        <p:spPr>
          <a:xfrm>
            <a:off x="877824" y="5279647"/>
            <a:ext cx="237744" cy="182880"/>
          </a:xfrm>
          <a:prstGeom prst="rect">
            <a:avLst/>
          </a:prstGeom>
          <a:noFill/>
        </p:spPr>
        <p:txBody>
          <a:bodyPr wrap="square" lIns="0" rIns="0" tIns="0" bIns="0" anchor="t">
            <a:noAutofit/>
          </a:bodyPr>
          <a:lstStyle/>
          <a:p>
            <a:pPr algn="l">
              <a:lnSpc>
                <a:spcPct val="100000"/>
              </a:lnSpc>
            </a:pPr>
            <a:r>
              <a:rPr sz="860" b="1" i="0">
                <a:solidFill>
                  <a:srgbClr val="2B6CB0"/>
                </a:solidFill>
                <a:latin typeface="Calibri"/>
              </a:rPr>
              <a:t>5</a:t>
            </a:r>
          </a:p>
        </p:txBody>
      </p:sp>
      <p:sp>
        <p:nvSpPr>
          <p:cNvPr id="34" name="TextBox 33"/>
          <p:cNvSpPr txBox="1"/>
          <p:nvPr/>
        </p:nvSpPr>
        <p:spPr>
          <a:xfrm>
            <a:off x="1170432" y="5265931"/>
            <a:ext cx="5541264" cy="168402"/>
          </a:xfrm>
          <a:prstGeom prst="rect">
            <a:avLst/>
          </a:prstGeom>
          <a:noFill/>
        </p:spPr>
        <p:txBody>
          <a:bodyPr wrap="square" lIns="0" rIns="0" tIns="0" bIns="0" anchor="t">
            <a:noAutofit/>
          </a:bodyPr>
          <a:lstStyle/>
          <a:p>
            <a:pPr algn="l">
              <a:lnSpc>
                <a:spcPct val="130000"/>
              </a:lnSpc>
            </a:pPr>
            <a:r>
              <a:rPr sz="890" b="1" i="0">
                <a:solidFill>
                  <a:srgbClr val="12263F"/>
                </a:solidFill>
                <a:latin typeface="Calibri"/>
              </a:rPr>
              <a:t>Recover R&amp;D through the premium trim — </a:t>
            </a:r>
            <a:r>
              <a:rPr sz="890" b="0" i="0">
                <a:solidFill>
                  <a:srgbClr val="44546A"/>
                </a:solidFill>
                <a:latin typeface="Calibri"/>
              </a:rPr>
              <a:t>the ₹1,05,000 variant, not the base price, carries the fixed-cost recovery.</a:t>
            </a:r>
          </a:p>
        </p:txBody>
      </p:sp>
      <p:sp>
        <p:nvSpPr>
          <p:cNvPr id="35" name="Rounded Rectangle 34"/>
          <p:cNvSpPr/>
          <p:nvPr/>
        </p:nvSpPr>
        <p:spPr>
          <a:xfrm>
            <a:off x="7077456" y="2791465"/>
            <a:ext cx="4455871" cy="1188720"/>
          </a:xfrm>
          <a:prstGeom prst="roundRect">
            <a:avLst>
              <a:gd name="adj" fmla="val 4000"/>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370064" y="3010921"/>
            <a:ext cx="36576"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552944" y="2974345"/>
            <a:ext cx="3724351" cy="658368"/>
          </a:xfrm>
          <a:prstGeom prst="rect">
            <a:avLst/>
          </a:prstGeom>
          <a:noFill/>
        </p:spPr>
        <p:txBody>
          <a:bodyPr wrap="square" lIns="0" rIns="0" tIns="0" bIns="0" anchor="t">
            <a:noAutofit/>
          </a:bodyPr>
          <a:lstStyle/>
          <a:p>
            <a:pPr algn="l">
              <a:lnSpc>
                <a:spcPct val="130000"/>
              </a:lnSpc>
            </a:pPr>
            <a:r>
              <a:rPr sz="1040" b="1" i="1">
                <a:solidFill>
                  <a:srgbClr val="FFFFFF"/>
                </a:solidFill>
                <a:latin typeface="Calibri"/>
              </a:rPr>
              <a:t>“Pricing low is not a discount strategy. It is a way of buying scale, learning and a cost advantage before rivals can react.”</a:t>
            </a:r>
          </a:p>
        </p:txBody>
      </p:sp>
      <p:cxnSp>
        <p:nvCxnSpPr>
          <p:cNvPr id="38" name="Connector 37"/>
          <p:cNvCxnSpPr/>
          <p:nvPr/>
        </p:nvCxnSpPr>
        <p:spPr>
          <a:xfrm>
            <a:off x="7552944" y="3614425"/>
            <a:ext cx="3724351" cy="0"/>
          </a:xfrm>
          <a:prstGeom prst="line">
            <a:avLst/>
          </a:prstGeom>
          <a:ln w="9525">
            <a:solidFill>
              <a:srgbClr val="2E425C"/>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552944" y="3705865"/>
            <a:ext cx="3724351" cy="201168"/>
          </a:xfrm>
          <a:prstGeom prst="rect">
            <a:avLst/>
          </a:prstGeom>
          <a:noFill/>
        </p:spPr>
        <p:txBody>
          <a:bodyPr wrap="square" lIns="0" rIns="0" tIns="0" bIns="0" anchor="t">
            <a:noAutofit/>
          </a:bodyPr>
          <a:lstStyle/>
          <a:p>
            <a:pPr algn="l">
              <a:lnSpc>
                <a:spcPct val="120000"/>
              </a:lnSpc>
            </a:pPr>
            <a:r>
              <a:rPr sz="940" b="1" i="0">
                <a:solidFill>
                  <a:srgbClr val="8FD8CB"/>
                </a:solidFill>
                <a:latin typeface="Calibri"/>
              </a:rPr>
              <a:t>Build the plant. Price to own the market. Stage the risk.</a:t>
            </a:r>
          </a:p>
        </p:txBody>
      </p:sp>
      <p:sp>
        <p:nvSpPr>
          <p:cNvPr id="40" name="Rounded Rectangle 39"/>
          <p:cNvSpPr/>
          <p:nvPr/>
        </p:nvSpPr>
        <p:spPr>
          <a:xfrm>
            <a:off x="7077456" y="4217929"/>
            <a:ext cx="4455871" cy="1542791"/>
          </a:xfrm>
          <a:prstGeom prst="roundRect">
            <a:avLst>
              <a:gd name="adj" fmla="val 4000"/>
            </a:avLst>
          </a:prstGeom>
          <a:solidFill>
            <a:srgbClr val="FFFFFF"/>
          </a:solidFill>
          <a:ln w="952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296912" y="4345945"/>
            <a:ext cx="4016959" cy="182880"/>
          </a:xfrm>
          <a:prstGeom prst="rect">
            <a:avLst/>
          </a:prstGeom>
          <a:noFill/>
        </p:spPr>
        <p:txBody>
          <a:bodyPr wrap="square" lIns="0" rIns="0" tIns="0" bIns="0" anchor="t">
            <a:noAutofit/>
          </a:bodyPr>
          <a:lstStyle/>
          <a:p>
            <a:pPr algn="l">
              <a:lnSpc>
                <a:spcPct val="100000"/>
              </a:lnSpc>
            </a:pPr>
            <a:r>
              <a:rPr sz="760" b="1" i="0" spc="110">
                <a:solidFill>
                  <a:srgbClr val="2B6CB0"/>
                </a:solidFill>
                <a:latin typeface="Calibri"/>
              </a:rPr>
              <a:t>WHAT WE ASK THE BOARD TO APPROVE</a:t>
            </a:r>
          </a:p>
        </p:txBody>
      </p:sp>
      <p:sp>
        <p:nvSpPr>
          <p:cNvPr id="42" name="TextBox 41"/>
          <p:cNvSpPr txBox="1"/>
          <p:nvPr/>
        </p:nvSpPr>
        <p:spPr>
          <a:xfrm>
            <a:off x="7296912" y="4601977"/>
            <a:ext cx="4016959" cy="165811"/>
          </a:xfrm>
          <a:prstGeom prst="rect">
            <a:avLst/>
          </a:prstGeom>
          <a:noFill/>
        </p:spPr>
        <p:txBody>
          <a:bodyPr wrap="square" lIns="0" rIns="0" tIns="0" bIns="0" anchor="t">
            <a:noAutofit/>
          </a:bodyPr>
          <a:lstStyle/>
          <a:p>
            <a:pPr algn="l">
              <a:lnSpc>
                <a:spcPct val="128000"/>
              </a:lnSpc>
            </a:pPr>
            <a:r>
              <a:rPr sz="819" b="1" i="0">
                <a:solidFill>
                  <a:srgbClr val="0F766E"/>
                </a:solidFill>
                <a:latin typeface="Calibri"/>
              </a:rPr>
              <a:t>▪  </a:t>
            </a:r>
            <a:r>
              <a:rPr sz="860" b="0" i="0">
                <a:solidFill>
                  <a:srgbClr val="44546A"/>
                </a:solidFill>
                <a:latin typeface="Calibri"/>
              </a:rPr>
              <a:t>₹60 crore now for land and the first assembly line in Chennai.</a:t>
            </a:r>
          </a:p>
        </p:txBody>
      </p:sp>
      <p:sp>
        <p:nvSpPr>
          <p:cNvPr id="43" name="TextBox 42"/>
          <p:cNvSpPr txBox="1"/>
          <p:nvPr/>
        </p:nvSpPr>
        <p:spPr>
          <a:xfrm>
            <a:off x="7296912" y="4850084"/>
            <a:ext cx="4016959" cy="165811"/>
          </a:xfrm>
          <a:prstGeom prst="rect">
            <a:avLst/>
          </a:prstGeom>
          <a:noFill/>
        </p:spPr>
        <p:txBody>
          <a:bodyPr wrap="square" lIns="0" rIns="0" tIns="0" bIns="0" anchor="t">
            <a:noAutofit/>
          </a:bodyPr>
          <a:lstStyle/>
          <a:p>
            <a:pPr algn="l">
              <a:lnSpc>
                <a:spcPct val="128000"/>
              </a:lnSpc>
            </a:pPr>
            <a:r>
              <a:rPr sz="819" b="1" i="0">
                <a:solidFill>
                  <a:srgbClr val="0F766E"/>
                </a:solidFill>
                <a:latin typeface="Calibri"/>
              </a:rPr>
              <a:t>▪  </a:t>
            </a:r>
            <a:r>
              <a:rPr sz="860" b="0" i="0">
                <a:solidFill>
                  <a:srgbClr val="44546A"/>
                </a:solidFill>
                <a:latin typeface="Calibri"/>
              </a:rPr>
              <a:t>A launch price of ₹74,999, reviewed after four quarters — not before.</a:t>
            </a:r>
          </a:p>
        </p:txBody>
      </p:sp>
      <p:sp>
        <p:nvSpPr>
          <p:cNvPr id="44" name="TextBox 43"/>
          <p:cNvSpPr txBox="1"/>
          <p:nvPr/>
        </p:nvSpPr>
        <p:spPr>
          <a:xfrm>
            <a:off x="7296912" y="5098191"/>
            <a:ext cx="4016959" cy="165811"/>
          </a:xfrm>
          <a:prstGeom prst="rect">
            <a:avLst/>
          </a:prstGeom>
          <a:noFill/>
        </p:spPr>
        <p:txBody>
          <a:bodyPr wrap="square" lIns="0" rIns="0" tIns="0" bIns="0" anchor="t">
            <a:noAutofit/>
          </a:bodyPr>
          <a:lstStyle/>
          <a:p>
            <a:pPr algn="l">
              <a:lnSpc>
                <a:spcPct val="128000"/>
              </a:lnSpc>
            </a:pPr>
            <a:r>
              <a:rPr sz="819" b="1" i="0">
                <a:solidFill>
                  <a:srgbClr val="0F766E"/>
                </a:solidFill>
                <a:latin typeface="Calibri"/>
              </a:rPr>
              <a:t>▪  </a:t>
            </a:r>
            <a:r>
              <a:rPr sz="860" b="0" i="0">
                <a:solidFill>
                  <a:srgbClr val="44546A"/>
                </a:solidFill>
                <a:latin typeface="Calibri"/>
              </a:rPr>
              <a:t>₹70 crore each for cell contracts and expansion, released only on demand evidence.</a:t>
            </a:r>
          </a:p>
        </p:txBody>
      </p:sp>
      <p:sp>
        <p:nvSpPr>
          <p:cNvPr id="45" name="TextBox 44"/>
          <p:cNvSpPr txBox="1"/>
          <p:nvPr/>
        </p:nvSpPr>
        <p:spPr>
          <a:xfrm>
            <a:off x="7296912" y="5346299"/>
            <a:ext cx="4016959" cy="165811"/>
          </a:xfrm>
          <a:prstGeom prst="rect">
            <a:avLst/>
          </a:prstGeom>
          <a:noFill/>
        </p:spPr>
        <p:txBody>
          <a:bodyPr wrap="square" lIns="0" rIns="0" tIns="0" bIns="0" anchor="t">
            <a:noAutofit/>
          </a:bodyPr>
          <a:lstStyle/>
          <a:p>
            <a:pPr algn="l">
              <a:lnSpc>
                <a:spcPct val="128000"/>
              </a:lnSpc>
            </a:pPr>
            <a:r>
              <a:rPr sz="819" b="1" i="0">
                <a:solidFill>
                  <a:srgbClr val="0F766E"/>
                </a:solidFill>
                <a:latin typeface="Calibri"/>
              </a:rPr>
              <a:t>▪  </a:t>
            </a:r>
            <a:r>
              <a:rPr sz="860" b="0" i="0">
                <a:solidFill>
                  <a:srgbClr val="44546A"/>
                </a:solidFill>
                <a:latin typeface="Calibri"/>
              </a:rPr>
              <a:t>A formal review at the close of FY27, with the three gates as the test.</a:t>
            </a:r>
          </a:p>
        </p:txBody>
      </p:sp>
      <p:sp>
        <p:nvSpPr>
          <p:cNvPr id="46" name="Rounded Rectangle 45"/>
          <p:cNvSpPr/>
          <p:nvPr/>
        </p:nvSpPr>
        <p:spPr>
          <a:xfrm>
            <a:off x="658368" y="5870448"/>
            <a:ext cx="10874959" cy="402336"/>
          </a:xfrm>
          <a:prstGeom prst="roundRect">
            <a:avLst>
              <a:gd name="adj" fmla="val 4000"/>
            </a:avLst>
          </a:prstGeom>
          <a:solidFill>
            <a:srgbClr val="EC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658368" y="5870448"/>
            <a:ext cx="45720" cy="402336"/>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41248" y="5870448"/>
            <a:ext cx="10509199" cy="402336"/>
          </a:xfrm>
          <a:prstGeom prst="rect">
            <a:avLst/>
          </a:prstGeom>
          <a:noFill/>
        </p:spPr>
        <p:txBody>
          <a:bodyPr wrap="square" lIns="0" rIns="0" tIns="0" bIns="0" anchor="ctr">
            <a:noAutofit/>
          </a:bodyPr>
          <a:lstStyle/>
          <a:p>
            <a:pPr algn="l">
              <a:lnSpc>
                <a:spcPct val="124000"/>
              </a:lnSpc>
            </a:pPr>
            <a:r>
              <a:rPr sz="760" b="1" i="0" spc="100">
                <a:solidFill>
                  <a:srgbClr val="2B6CB0"/>
                </a:solidFill>
                <a:latin typeface="Calibri"/>
              </a:rPr>
              <a:t>FINAL ANSWER   </a:t>
            </a:r>
            <a:r>
              <a:rPr sz="900" b="0" i="0">
                <a:solidFill>
                  <a:srgbClr val="12263F"/>
                </a:solidFill>
                <a:latin typeface="Calibri"/>
              </a:rPr>
              <a:t>build in Chennai, launch at ₹74,999, and let measured demand release the rest of the capital.</a:t>
            </a:r>
          </a:p>
        </p:txBody>
      </p:sp>
      <p:cxnSp>
        <p:nvCxnSpPr>
          <p:cNvPr id="49" name="Connector 48"/>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51" name="TextBox 50"/>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52" name="TextBox 51"/>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53" name="TextBox 52"/>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7 of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APPENDIX A</a:t>
            </a:r>
          </a:p>
        </p:txBody>
      </p:sp>
      <p:sp>
        <p:nvSpPr>
          <p:cNvPr id="4" name="TextBox 3"/>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Assumptions and calculations</a:t>
            </a:r>
          </a:p>
        </p:txBody>
      </p:sp>
      <p:sp>
        <p:nvSpPr>
          <p:cNvPr id="5" name="TextBox 4"/>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Every number in the deck can be re-checked from these inputs, so the argument can be re-run with different assumptions.</a:t>
            </a:r>
          </a:p>
        </p:txBody>
      </p:sp>
      <p:cxnSp>
        <p:nvCxnSpPr>
          <p:cNvPr id="6" name="Connector 5"/>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86384" y="1456441"/>
            <a:ext cx="4023360" cy="182880"/>
          </a:xfrm>
          <a:prstGeom prst="rect">
            <a:avLst/>
          </a:prstGeom>
          <a:noFill/>
        </p:spPr>
        <p:txBody>
          <a:bodyPr wrap="square" lIns="0" rIns="0" tIns="0" bIns="0" anchor="t">
            <a:noAutofit/>
          </a:bodyPr>
          <a:lstStyle/>
          <a:p>
            <a:pPr algn="l">
              <a:lnSpc>
                <a:spcPct val="100000"/>
              </a:lnSpc>
            </a:pPr>
            <a:r>
              <a:rPr sz="740" b="1" i="0" spc="110">
                <a:solidFill>
                  <a:srgbClr val="7B8B9E"/>
                </a:solidFill>
                <a:latin typeface="Calibri"/>
              </a:rPr>
              <a:t>INPUT</a:t>
            </a:r>
          </a:p>
        </p:txBody>
      </p:sp>
      <p:sp>
        <p:nvSpPr>
          <p:cNvPr id="8" name="TextBox 7"/>
          <p:cNvSpPr txBox="1"/>
          <p:nvPr/>
        </p:nvSpPr>
        <p:spPr>
          <a:xfrm>
            <a:off x="5321808" y="1456441"/>
            <a:ext cx="4480560" cy="182880"/>
          </a:xfrm>
          <a:prstGeom prst="rect">
            <a:avLst/>
          </a:prstGeom>
          <a:noFill/>
        </p:spPr>
        <p:txBody>
          <a:bodyPr wrap="square" lIns="0" rIns="0" tIns="0" bIns="0" anchor="t">
            <a:noAutofit/>
          </a:bodyPr>
          <a:lstStyle/>
          <a:p>
            <a:pPr algn="l">
              <a:lnSpc>
                <a:spcPct val="100000"/>
              </a:lnSpc>
            </a:pPr>
            <a:r>
              <a:rPr sz="740" b="1" i="0" spc="110">
                <a:solidFill>
                  <a:srgbClr val="7B8B9E"/>
                </a:solidFill>
                <a:latin typeface="Calibri"/>
              </a:rPr>
              <a:t>VALUE</a:t>
            </a:r>
          </a:p>
        </p:txBody>
      </p:sp>
      <p:sp>
        <p:nvSpPr>
          <p:cNvPr id="9" name="TextBox 8"/>
          <p:cNvSpPr txBox="1"/>
          <p:nvPr/>
        </p:nvSpPr>
        <p:spPr>
          <a:xfrm>
            <a:off x="9985248" y="1456441"/>
            <a:ext cx="1463040" cy="182880"/>
          </a:xfrm>
          <a:prstGeom prst="rect">
            <a:avLst/>
          </a:prstGeom>
          <a:noFill/>
        </p:spPr>
        <p:txBody>
          <a:bodyPr wrap="square" lIns="0" rIns="0" tIns="0" bIns="0" anchor="t">
            <a:noAutofit/>
          </a:bodyPr>
          <a:lstStyle/>
          <a:p>
            <a:pPr algn="l">
              <a:lnSpc>
                <a:spcPct val="100000"/>
              </a:lnSpc>
            </a:pPr>
            <a:r>
              <a:rPr sz="740" b="1" i="0" spc="110">
                <a:solidFill>
                  <a:srgbClr val="7B8B9E"/>
                </a:solidFill>
                <a:latin typeface="Calibri"/>
              </a:rPr>
              <a:t>SOURCE</a:t>
            </a:r>
          </a:p>
        </p:txBody>
      </p:sp>
      <p:cxnSp>
        <p:nvCxnSpPr>
          <p:cNvPr id="10" name="Connector 9"/>
          <p:cNvCxnSpPr/>
          <p:nvPr/>
        </p:nvCxnSpPr>
        <p:spPr>
          <a:xfrm>
            <a:off x="658368" y="1639321"/>
            <a:ext cx="10874959" cy="0"/>
          </a:xfrm>
          <a:prstGeom prst="line">
            <a:avLst/>
          </a:prstGeom>
          <a:ln w="11430">
            <a:solidFill>
              <a:srgbClr val="C3CED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58368" y="1671325"/>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1712473"/>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Unit manufacturing cost</a:t>
            </a:r>
          </a:p>
        </p:txBody>
      </p:sp>
      <p:sp>
        <p:nvSpPr>
          <p:cNvPr id="13" name="TextBox 12"/>
          <p:cNvSpPr txBox="1"/>
          <p:nvPr/>
        </p:nvSpPr>
        <p:spPr>
          <a:xfrm>
            <a:off x="5321808" y="1712473"/>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₹60,000 per scooter</a:t>
            </a:r>
          </a:p>
        </p:txBody>
      </p:sp>
      <p:sp>
        <p:nvSpPr>
          <p:cNvPr id="14" name="TextBox 13"/>
          <p:cNvSpPr txBox="1"/>
          <p:nvPr/>
        </p:nvSpPr>
        <p:spPr>
          <a:xfrm>
            <a:off x="9985248" y="1712473"/>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Brief</a:t>
            </a:r>
          </a:p>
        </p:txBody>
      </p:sp>
      <p:sp>
        <p:nvSpPr>
          <p:cNvPr id="15" name="TextBox 14"/>
          <p:cNvSpPr txBox="1"/>
          <p:nvPr/>
        </p:nvSpPr>
        <p:spPr>
          <a:xfrm>
            <a:off x="786384" y="2096521"/>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Recommended launch price</a:t>
            </a:r>
          </a:p>
        </p:txBody>
      </p:sp>
      <p:sp>
        <p:nvSpPr>
          <p:cNvPr id="16" name="TextBox 15"/>
          <p:cNvSpPr txBox="1"/>
          <p:nvPr/>
        </p:nvSpPr>
        <p:spPr>
          <a:xfrm>
            <a:off x="5321808" y="2096521"/>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₹74,999 — contribution ₹14,999 (25% mark-up)</a:t>
            </a:r>
          </a:p>
        </p:txBody>
      </p:sp>
      <p:sp>
        <p:nvSpPr>
          <p:cNvPr id="17" name="TextBox 16"/>
          <p:cNvSpPr txBox="1"/>
          <p:nvPr/>
        </p:nvSpPr>
        <p:spPr>
          <a:xfrm>
            <a:off x="9985248" y="2096521"/>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Analysis</a:t>
            </a:r>
          </a:p>
        </p:txBody>
      </p:sp>
      <p:sp>
        <p:nvSpPr>
          <p:cNvPr id="18" name="Rectangle 17"/>
          <p:cNvSpPr/>
          <p:nvPr/>
        </p:nvSpPr>
        <p:spPr>
          <a:xfrm>
            <a:off x="658368" y="2439421"/>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480569"/>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Skimming alternative</a:t>
            </a:r>
          </a:p>
        </p:txBody>
      </p:sp>
      <p:sp>
        <p:nvSpPr>
          <p:cNvPr id="20" name="TextBox 19"/>
          <p:cNvSpPr txBox="1"/>
          <p:nvPr/>
        </p:nvSpPr>
        <p:spPr>
          <a:xfrm>
            <a:off x="5321808" y="2480569"/>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₹1,10,000 — contribution ₹49,999 (83% mark-up)</a:t>
            </a:r>
          </a:p>
        </p:txBody>
      </p:sp>
      <p:sp>
        <p:nvSpPr>
          <p:cNvPr id="21" name="TextBox 20"/>
          <p:cNvSpPr txBox="1"/>
          <p:nvPr/>
        </p:nvSpPr>
        <p:spPr>
          <a:xfrm>
            <a:off x="9985248" y="2480569"/>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Analysis</a:t>
            </a:r>
          </a:p>
        </p:txBody>
      </p:sp>
      <p:sp>
        <p:nvSpPr>
          <p:cNvPr id="22" name="TextBox 21"/>
          <p:cNvSpPr txBox="1"/>
          <p:nvPr/>
        </p:nvSpPr>
        <p:spPr>
          <a:xfrm>
            <a:off x="786384" y="2864617"/>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Plant investment</a:t>
            </a:r>
          </a:p>
        </p:txBody>
      </p:sp>
      <p:sp>
        <p:nvSpPr>
          <p:cNvPr id="23" name="TextBox 22"/>
          <p:cNvSpPr txBox="1"/>
          <p:nvPr/>
        </p:nvSpPr>
        <p:spPr>
          <a:xfrm>
            <a:off x="5321808" y="2864617"/>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₹200 crore, Chennai</a:t>
            </a:r>
          </a:p>
        </p:txBody>
      </p:sp>
      <p:sp>
        <p:nvSpPr>
          <p:cNvPr id="24" name="TextBox 23"/>
          <p:cNvSpPr txBox="1"/>
          <p:nvPr/>
        </p:nvSpPr>
        <p:spPr>
          <a:xfrm>
            <a:off x="9985248" y="2864617"/>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Brief</a:t>
            </a:r>
          </a:p>
        </p:txBody>
      </p:sp>
      <p:sp>
        <p:nvSpPr>
          <p:cNvPr id="25" name="Rectangle 24"/>
          <p:cNvSpPr/>
          <p:nvPr/>
        </p:nvSpPr>
        <p:spPr>
          <a:xfrm>
            <a:off x="658368" y="3207517"/>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6384" y="3248665"/>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Discount rate / hurdle rate</a:t>
            </a:r>
          </a:p>
        </p:txBody>
      </p:sp>
      <p:sp>
        <p:nvSpPr>
          <p:cNvPr id="27" name="TextBox 26"/>
          <p:cNvSpPr txBox="1"/>
          <p:nvPr/>
        </p:nvSpPr>
        <p:spPr>
          <a:xfrm>
            <a:off x="5321808" y="3248665"/>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15%</a:t>
            </a:r>
          </a:p>
        </p:txBody>
      </p:sp>
      <p:sp>
        <p:nvSpPr>
          <p:cNvPr id="28" name="TextBox 27"/>
          <p:cNvSpPr txBox="1"/>
          <p:nvPr/>
        </p:nvSpPr>
        <p:spPr>
          <a:xfrm>
            <a:off x="9985248" y="3248665"/>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Brief</a:t>
            </a:r>
          </a:p>
        </p:txBody>
      </p:sp>
      <p:sp>
        <p:nvSpPr>
          <p:cNvPr id="29" name="TextBox 28"/>
          <p:cNvSpPr txBox="1"/>
          <p:nvPr/>
        </p:nvSpPr>
        <p:spPr>
          <a:xfrm>
            <a:off x="786384" y="3632713"/>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NPV at 15%</a:t>
            </a:r>
          </a:p>
        </p:txBody>
      </p:sp>
      <p:sp>
        <p:nvSpPr>
          <p:cNvPr id="30" name="TextBox 29"/>
          <p:cNvSpPr txBox="1"/>
          <p:nvPr/>
        </p:nvSpPr>
        <p:spPr>
          <a:xfrm>
            <a:off x="5321808" y="3632713"/>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+₹50 crore → PV of inflows ₹250 crore, profitability index 1.25</a:t>
            </a:r>
          </a:p>
        </p:txBody>
      </p:sp>
      <p:sp>
        <p:nvSpPr>
          <p:cNvPr id="31" name="TextBox 30"/>
          <p:cNvSpPr txBox="1"/>
          <p:nvPr/>
        </p:nvSpPr>
        <p:spPr>
          <a:xfrm>
            <a:off x="9985248" y="3632713"/>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Derived</a:t>
            </a:r>
          </a:p>
        </p:txBody>
      </p:sp>
      <p:sp>
        <p:nvSpPr>
          <p:cNvPr id="32" name="Rectangle 31"/>
          <p:cNvSpPr/>
          <p:nvPr/>
        </p:nvSpPr>
        <p:spPr>
          <a:xfrm>
            <a:off x="658368" y="3975613"/>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86384" y="4016761"/>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Implied IRR</a:t>
            </a:r>
          </a:p>
        </p:txBody>
      </p:sp>
      <p:sp>
        <p:nvSpPr>
          <p:cNvPr id="34" name="TextBox 33"/>
          <p:cNvSpPr txBox="1"/>
          <p:nvPr/>
        </p:nvSpPr>
        <p:spPr>
          <a:xfrm>
            <a:off x="5321808" y="4016761"/>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 21.3% on level cash flows of ₹49.8 crore for 10 years</a:t>
            </a:r>
          </a:p>
        </p:txBody>
      </p:sp>
      <p:sp>
        <p:nvSpPr>
          <p:cNvPr id="35" name="TextBox 34"/>
          <p:cNvSpPr txBox="1"/>
          <p:nvPr/>
        </p:nvSpPr>
        <p:spPr>
          <a:xfrm>
            <a:off x="9985248" y="4016761"/>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Derived, illustrative</a:t>
            </a:r>
          </a:p>
        </p:txBody>
      </p:sp>
      <p:sp>
        <p:nvSpPr>
          <p:cNvPr id="36" name="TextBox 35"/>
          <p:cNvSpPr txBox="1"/>
          <p:nvPr/>
        </p:nvSpPr>
        <p:spPr>
          <a:xfrm>
            <a:off x="786384" y="4400809"/>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Units needed to recover ₹200 crore</a:t>
            </a:r>
          </a:p>
        </p:txBody>
      </p:sp>
      <p:sp>
        <p:nvSpPr>
          <p:cNvPr id="37" name="TextBox 36"/>
          <p:cNvSpPr txBox="1"/>
          <p:nvPr/>
        </p:nvSpPr>
        <p:spPr>
          <a:xfrm>
            <a:off x="5321808" y="4400809"/>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1.33 lakh at ₹74,999  ·  0.40 lakh at ₹1,10,000</a:t>
            </a:r>
          </a:p>
        </p:txBody>
      </p:sp>
      <p:sp>
        <p:nvSpPr>
          <p:cNvPr id="38" name="TextBox 37"/>
          <p:cNvSpPr txBox="1"/>
          <p:nvPr/>
        </p:nvSpPr>
        <p:spPr>
          <a:xfrm>
            <a:off x="9985248" y="4400809"/>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Derived</a:t>
            </a:r>
          </a:p>
        </p:txBody>
      </p:sp>
      <p:sp>
        <p:nvSpPr>
          <p:cNvPr id="39" name="Rectangle 38"/>
          <p:cNvSpPr/>
          <p:nvPr/>
        </p:nvSpPr>
        <p:spPr>
          <a:xfrm>
            <a:off x="658368" y="4743709"/>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86384" y="4784857"/>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Petrol scooter running cost</a:t>
            </a:r>
          </a:p>
        </p:txBody>
      </p:sp>
      <p:sp>
        <p:nvSpPr>
          <p:cNvPr id="41" name="TextBox 40"/>
          <p:cNvSpPr txBox="1"/>
          <p:nvPr/>
        </p:nvSpPr>
        <p:spPr>
          <a:xfrm>
            <a:off x="5321808" y="4784857"/>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60 km/day ÷ 45 km/l × 30 days = 40 litres × ₹105 = ₹4,200</a:t>
            </a:r>
          </a:p>
        </p:txBody>
      </p:sp>
      <p:sp>
        <p:nvSpPr>
          <p:cNvPr id="42" name="TextBox 41"/>
          <p:cNvSpPr txBox="1"/>
          <p:nvPr/>
        </p:nvSpPr>
        <p:spPr>
          <a:xfrm>
            <a:off x="9985248" y="4784857"/>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Analysis</a:t>
            </a:r>
          </a:p>
        </p:txBody>
      </p:sp>
      <p:sp>
        <p:nvSpPr>
          <p:cNvPr id="43" name="TextBox 42"/>
          <p:cNvSpPr txBox="1"/>
          <p:nvPr/>
        </p:nvSpPr>
        <p:spPr>
          <a:xfrm>
            <a:off x="786384" y="5168905"/>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Electric scooter running cost</a:t>
            </a:r>
          </a:p>
        </p:txBody>
      </p:sp>
      <p:sp>
        <p:nvSpPr>
          <p:cNvPr id="44" name="TextBox 43"/>
          <p:cNvSpPr txBox="1"/>
          <p:nvPr/>
        </p:nvSpPr>
        <p:spPr>
          <a:xfrm>
            <a:off x="5321808" y="5168905"/>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60 km/day × 0.025 kWh/km × 30 days × ₹8/kWh ≈ ₹360</a:t>
            </a:r>
          </a:p>
        </p:txBody>
      </p:sp>
      <p:sp>
        <p:nvSpPr>
          <p:cNvPr id="45" name="TextBox 44"/>
          <p:cNvSpPr txBox="1"/>
          <p:nvPr/>
        </p:nvSpPr>
        <p:spPr>
          <a:xfrm>
            <a:off x="9985248" y="5168905"/>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Analysis</a:t>
            </a:r>
          </a:p>
        </p:txBody>
      </p:sp>
      <p:sp>
        <p:nvSpPr>
          <p:cNvPr id="46" name="Rectangle 45"/>
          <p:cNvSpPr/>
          <p:nvPr/>
        </p:nvSpPr>
        <p:spPr>
          <a:xfrm>
            <a:off x="658368" y="5511805"/>
            <a:ext cx="10874959" cy="370332"/>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86384" y="5552953"/>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Market shares, FY25</a:t>
            </a:r>
          </a:p>
        </p:txBody>
      </p:sp>
      <p:sp>
        <p:nvSpPr>
          <p:cNvPr id="48" name="TextBox 47"/>
          <p:cNvSpPr txBox="1"/>
          <p:nvPr/>
        </p:nvSpPr>
        <p:spPr>
          <a:xfrm>
            <a:off x="5321808" y="5552953"/>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Ola 30.0 · TVS 21.4 · Bajaj 20.0 · Ather 11.6 · Hero 5.0</a:t>
            </a:r>
          </a:p>
        </p:txBody>
      </p:sp>
      <p:sp>
        <p:nvSpPr>
          <p:cNvPr id="49" name="TextBox 48"/>
          <p:cNvSpPr txBox="1"/>
          <p:nvPr/>
        </p:nvSpPr>
        <p:spPr>
          <a:xfrm>
            <a:off x="9985248" y="5552953"/>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VAHAN, industry</a:t>
            </a:r>
          </a:p>
        </p:txBody>
      </p:sp>
      <p:sp>
        <p:nvSpPr>
          <p:cNvPr id="50" name="TextBox 49"/>
          <p:cNvSpPr txBox="1"/>
          <p:nvPr/>
        </p:nvSpPr>
        <p:spPr>
          <a:xfrm>
            <a:off x="786384" y="5937001"/>
            <a:ext cx="4343400" cy="310896"/>
          </a:xfrm>
          <a:prstGeom prst="rect">
            <a:avLst/>
          </a:prstGeom>
          <a:noFill/>
        </p:spPr>
        <p:txBody>
          <a:bodyPr wrap="square" lIns="0" rIns="0" tIns="0" bIns="0" anchor="t">
            <a:noAutofit/>
          </a:bodyPr>
          <a:lstStyle/>
          <a:p>
            <a:pPr algn="l">
              <a:lnSpc>
                <a:spcPct val="110000"/>
              </a:lnSpc>
            </a:pPr>
            <a:r>
              <a:rPr sz="860" b="1" i="0">
                <a:solidFill>
                  <a:srgbClr val="12263F"/>
                </a:solidFill>
                <a:latin typeface="Calibri"/>
              </a:rPr>
              <a:t>Concentration measure</a:t>
            </a:r>
          </a:p>
        </p:txBody>
      </p:sp>
      <p:sp>
        <p:nvSpPr>
          <p:cNvPr id="51" name="TextBox 50"/>
          <p:cNvSpPr txBox="1"/>
          <p:nvPr/>
        </p:nvSpPr>
        <p:spPr>
          <a:xfrm>
            <a:off x="5321808" y="5937001"/>
            <a:ext cx="4572000" cy="310896"/>
          </a:xfrm>
          <a:prstGeom prst="rect">
            <a:avLst/>
          </a:prstGeom>
          <a:noFill/>
        </p:spPr>
        <p:txBody>
          <a:bodyPr wrap="square" lIns="0" rIns="0" tIns="0" bIns="0" anchor="t">
            <a:noAutofit/>
          </a:bodyPr>
          <a:lstStyle/>
          <a:p>
            <a:pPr algn="l">
              <a:lnSpc>
                <a:spcPct val="110000"/>
              </a:lnSpc>
            </a:pPr>
            <a:r>
              <a:rPr sz="860" b="0" i="0">
                <a:solidFill>
                  <a:srgbClr val="44546A"/>
                </a:solidFill>
                <a:latin typeface="Calibri"/>
              </a:rPr>
              <a:t>HHI ≈ 1,900 · top-5 share 86%</a:t>
            </a:r>
          </a:p>
        </p:txBody>
      </p:sp>
      <p:sp>
        <p:nvSpPr>
          <p:cNvPr id="52" name="TextBox 51"/>
          <p:cNvSpPr txBox="1"/>
          <p:nvPr/>
        </p:nvSpPr>
        <p:spPr>
          <a:xfrm>
            <a:off x="9985248" y="5937001"/>
            <a:ext cx="1463040" cy="310896"/>
          </a:xfrm>
          <a:prstGeom prst="rect">
            <a:avLst/>
          </a:prstGeom>
          <a:noFill/>
        </p:spPr>
        <p:txBody>
          <a:bodyPr wrap="square" lIns="0" rIns="0" tIns="0" bIns="0" anchor="t">
            <a:noAutofit/>
          </a:bodyPr>
          <a:lstStyle/>
          <a:p>
            <a:pPr algn="l">
              <a:lnSpc>
                <a:spcPct val="110000"/>
              </a:lnSpc>
            </a:pPr>
            <a:r>
              <a:rPr sz="780" b="0" i="0">
                <a:solidFill>
                  <a:srgbClr val="7B8B9E"/>
                </a:solidFill>
                <a:latin typeface="Calibri"/>
              </a:rPr>
              <a:t>Derived</a:t>
            </a:r>
          </a:p>
        </p:txBody>
      </p:sp>
      <p:cxnSp>
        <p:nvCxnSpPr>
          <p:cNvPr id="53" name="Connector 52"/>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55" name="TextBox 54"/>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56" name="TextBox 55"/>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57" name="TextBox 56"/>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8 of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5669280" cy="182880"/>
          </a:xfrm>
          <a:prstGeom prst="rect">
            <a:avLst/>
          </a:prstGeom>
          <a:noFill/>
        </p:spPr>
        <p:txBody>
          <a:bodyPr wrap="square" lIns="0" rIns="0" tIns="0" bIns="0" anchor="t">
            <a:noAutofit/>
          </a:bodyPr>
          <a:lstStyle/>
          <a:p>
            <a:pPr algn="l">
              <a:lnSpc>
                <a:spcPct val="100000"/>
              </a:lnSpc>
            </a:pPr>
            <a:r>
              <a:rPr sz="800" b="1" i="0" spc="150">
                <a:solidFill>
                  <a:srgbClr val="2B6CB0"/>
                </a:solidFill>
                <a:latin typeface="Calibri"/>
              </a:rPr>
              <a:t>APPENDIX B</a:t>
            </a:r>
          </a:p>
        </p:txBody>
      </p:sp>
      <p:sp>
        <p:nvSpPr>
          <p:cNvPr id="4" name="TextBox 3"/>
          <p:cNvSpPr txBox="1"/>
          <p:nvPr/>
        </p:nvSpPr>
        <p:spPr>
          <a:xfrm>
            <a:off x="658368" y="530352"/>
            <a:ext cx="10874959" cy="384048"/>
          </a:xfrm>
          <a:prstGeom prst="rect">
            <a:avLst/>
          </a:prstGeom>
          <a:noFill/>
        </p:spPr>
        <p:txBody>
          <a:bodyPr wrap="square" lIns="0" rIns="0" tIns="0" bIns="0" anchor="t">
            <a:noAutofit/>
          </a:bodyPr>
          <a:lstStyle/>
          <a:p>
            <a:pPr algn="l">
              <a:lnSpc>
                <a:spcPct val="112000"/>
              </a:lnSpc>
            </a:pPr>
            <a:r>
              <a:rPr sz="2300" b="1" i="0">
                <a:solidFill>
                  <a:srgbClr val="12263F"/>
                </a:solidFill>
                <a:latin typeface="Calibri"/>
              </a:rPr>
              <a:t>Lecture sessions used and rubric map</a:t>
            </a:r>
          </a:p>
        </p:txBody>
      </p:sp>
      <p:sp>
        <p:nvSpPr>
          <p:cNvPr id="5" name="TextBox 4"/>
          <p:cNvSpPr txBox="1"/>
          <p:nvPr/>
        </p:nvSpPr>
        <p:spPr>
          <a:xfrm>
            <a:off x="658368" y="955487"/>
            <a:ext cx="10326319" cy="182880"/>
          </a:xfrm>
          <a:prstGeom prst="rect">
            <a:avLst/>
          </a:prstGeom>
          <a:noFill/>
        </p:spPr>
        <p:txBody>
          <a:bodyPr wrap="square" lIns="0" rIns="0" tIns="0" bIns="0" anchor="t">
            <a:noAutofit/>
          </a:bodyPr>
          <a:lstStyle/>
          <a:p>
            <a:pPr algn="l">
              <a:lnSpc>
                <a:spcPct val="130000"/>
              </a:lnSpc>
            </a:pPr>
            <a:r>
              <a:rPr sz="1019" b="0" i="0">
                <a:solidFill>
                  <a:srgbClr val="44546A"/>
                </a:solidFill>
                <a:latin typeface="Calibri"/>
              </a:rPr>
              <a:t>The concepts in this deck come from the recorded sessions listed below. Each slide is tagged with the session it draws on.</a:t>
            </a:r>
          </a:p>
        </p:txBody>
      </p:sp>
      <p:cxnSp>
        <p:nvCxnSpPr>
          <p:cNvPr id="6" name="Connector 5"/>
          <p:cNvCxnSpPr/>
          <p:nvPr/>
        </p:nvCxnSpPr>
        <p:spPr>
          <a:xfrm>
            <a:off x="658368" y="1255273"/>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1438153"/>
            <a:ext cx="5760720" cy="182880"/>
          </a:xfrm>
          <a:prstGeom prst="rect">
            <a:avLst/>
          </a:prstGeom>
          <a:noFill/>
        </p:spPr>
        <p:txBody>
          <a:bodyPr wrap="square" lIns="0" rIns="0" tIns="0" bIns="0" anchor="t">
            <a:noAutofit/>
          </a:bodyPr>
          <a:lstStyle/>
          <a:p>
            <a:pPr algn="l">
              <a:lnSpc>
                <a:spcPct val="100000"/>
              </a:lnSpc>
            </a:pPr>
            <a:r>
              <a:rPr sz="780" b="1" i="0" spc="110">
                <a:solidFill>
                  <a:srgbClr val="2B6CB0"/>
                </a:solidFill>
                <a:latin typeface="Calibri"/>
              </a:rPr>
              <a:t>RECORDED SESSIONS REFERENCED</a:t>
            </a:r>
          </a:p>
        </p:txBody>
      </p:sp>
      <p:sp>
        <p:nvSpPr>
          <p:cNvPr id="8" name="TextBox 7"/>
          <p:cNvSpPr txBox="1"/>
          <p:nvPr/>
        </p:nvSpPr>
        <p:spPr>
          <a:xfrm>
            <a:off x="658368" y="1675897"/>
            <a:ext cx="868680" cy="182880"/>
          </a:xfrm>
          <a:prstGeom prst="rect">
            <a:avLst/>
          </a:prstGeom>
          <a:noFill/>
        </p:spPr>
        <p:txBody>
          <a:bodyPr wrap="square" lIns="0" rIns="0" tIns="0" bIns="0" anchor="t">
            <a:noAutofit/>
          </a:bodyPr>
          <a:lstStyle/>
          <a:p>
            <a:pPr algn="l">
              <a:lnSpc>
                <a:spcPct val="100000"/>
              </a:lnSpc>
            </a:pPr>
            <a:r>
              <a:rPr sz="800" b="1" i="0">
                <a:solidFill>
                  <a:srgbClr val="2B6CB0"/>
                </a:solidFill>
                <a:latin typeface="Calibri"/>
              </a:rPr>
              <a:t>Session 5</a:t>
            </a:r>
          </a:p>
        </p:txBody>
      </p:sp>
      <p:sp>
        <p:nvSpPr>
          <p:cNvPr id="9" name="TextBox 8"/>
          <p:cNvSpPr txBox="1"/>
          <p:nvPr/>
        </p:nvSpPr>
        <p:spPr>
          <a:xfrm>
            <a:off x="1591056" y="1648465"/>
            <a:ext cx="4828032" cy="201168"/>
          </a:xfrm>
          <a:prstGeom prst="rect">
            <a:avLst/>
          </a:prstGeom>
          <a:noFill/>
        </p:spPr>
        <p:txBody>
          <a:bodyPr wrap="square" lIns="0" rIns="0" tIns="0" bIns="0" anchor="t">
            <a:noAutofit/>
          </a:bodyPr>
          <a:lstStyle/>
          <a:p>
            <a:pPr algn="l">
              <a:lnSpc>
                <a:spcPct val="110000"/>
              </a:lnSpc>
            </a:pPr>
            <a:r>
              <a:rPr sz="960" b="1" i="0">
                <a:solidFill>
                  <a:srgbClr val="12263F"/>
                </a:solidFill>
                <a:latin typeface="Calibri"/>
              </a:rPr>
              <a:t>Pricing Strategies</a:t>
            </a:r>
          </a:p>
        </p:txBody>
      </p:sp>
      <p:sp>
        <p:nvSpPr>
          <p:cNvPr id="10" name="TextBox 9"/>
          <p:cNvSpPr txBox="1"/>
          <p:nvPr/>
        </p:nvSpPr>
        <p:spPr>
          <a:xfrm>
            <a:off x="1591056" y="1849633"/>
            <a:ext cx="4828032" cy="182880"/>
          </a:xfrm>
          <a:prstGeom prst="rect">
            <a:avLst/>
          </a:prstGeom>
          <a:noFill/>
        </p:spPr>
        <p:txBody>
          <a:bodyPr wrap="square" lIns="0" rIns="0" tIns="0" bIns="0" anchor="t">
            <a:noAutofit/>
          </a:bodyPr>
          <a:lstStyle/>
          <a:p>
            <a:pPr algn="l">
              <a:lnSpc>
                <a:spcPct val="120000"/>
              </a:lnSpc>
            </a:pPr>
            <a:r>
              <a:rPr sz="819" b="0" i="0">
                <a:solidFill>
                  <a:srgbClr val="7B8B9E"/>
                </a:solidFill>
                <a:latin typeface="Calibri"/>
              </a:rPr>
              <a:t>Penetration vs skimming, mark-up pricing, elasticity and price setting</a:t>
            </a:r>
          </a:p>
        </p:txBody>
      </p:sp>
      <p:sp>
        <p:nvSpPr>
          <p:cNvPr id="11" name="TextBox 10"/>
          <p:cNvSpPr txBox="1"/>
          <p:nvPr/>
        </p:nvSpPr>
        <p:spPr>
          <a:xfrm>
            <a:off x="1591056" y="2023369"/>
            <a:ext cx="4828032" cy="164592"/>
          </a:xfrm>
          <a:prstGeom prst="rect">
            <a:avLst/>
          </a:prstGeom>
          <a:noFill/>
        </p:spPr>
        <p:txBody>
          <a:bodyPr wrap="square" lIns="0" rIns="0" tIns="0" bIns="0" anchor="t">
            <a:noAutofit/>
          </a:bodyPr>
          <a:lstStyle/>
          <a:p>
            <a:pPr algn="l">
              <a:lnSpc>
                <a:spcPct val="100000"/>
              </a:lnSpc>
            </a:pPr>
            <a:r>
              <a:rPr sz="780" b="0" i="0">
                <a:solidFill>
                  <a:srgbClr val="2B6CB0"/>
                </a:solidFill>
                <a:latin typeface="Calibri"/>
                <a:hlinkClick r:id="rId2"/>
              </a:rPr>
              <a:t>https://youtu.be/T25QYasiVrM</a:t>
            </a:r>
          </a:p>
        </p:txBody>
      </p:sp>
      <p:cxnSp>
        <p:nvCxnSpPr>
          <p:cNvPr id="12" name="Connector 11"/>
          <p:cNvCxnSpPr/>
          <p:nvPr/>
        </p:nvCxnSpPr>
        <p:spPr>
          <a:xfrm>
            <a:off x="658368" y="2169673"/>
            <a:ext cx="576072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2297689"/>
            <a:ext cx="868680" cy="182880"/>
          </a:xfrm>
          <a:prstGeom prst="rect">
            <a:avLst/>
          </a:prstGeom>
          <a:noFill/>
        </p:spPr>
        <p:txBody>
          <a:bodyPr wrap="square" lIns="0" rIns="0" tIns="0" bIns="0" anchor="t">
            <a:noAutofit/>
          </a:bodyPr>
          <a:lstStyle/>
          <a:p>
            <a:pPr algn="l">
              <a:lnSpc>
                <a:spcPct val="100000"/>
              </a:lnSpc>
            </a:pPr>
            <a:r>
              <a:rPr sz="800" b="1" i="0">
                <a:solidFill>
                  <a:srgbClr val="2B6CB0"/>
                </a:solidFill>
                <a:latin typeface="Calibri"/>
              </a:rPr>
              <a:t>Session 6</a:t>
            </a:r>
          </a:p>
        </p:txBody>
      </p:sp>
      <p:sp>
        <p:nvSpPr>
          <p:cNvPr id="14" name="TextBox 13"/>
          <p:cNvSpPr txBox="1"/>
          <p:nvPr/>
        </p:nvSpPr>
        <p:spPr>
          <a:xfrm>
            <a:off x="1591056" y="2270257"/>
            <a:ext cx="4828032" cy="201168"/>
          </a:xfrm>
          <a:prstGeom prst="rect">
            <a:avLst/>
          </a:prstGeom>
          <a:noFill/>
        </p:spPr>
        <p:txBody>
          <a:bodyPr wrap="square" lIns="0" rIns="0" tIns="0" bIns="0" anchor="t">
            <a:noAutofit/>
          </a:bodyPr>
          <a:lstStyle/>
          <a:p>
            <a:pPr algn="l">
              <a:lnSpc>
                <a:spcPct val="110000"/>
              </a:lnSpc>
            </a:pPr>
            <a:r>
              <a:rPr sz="960" b="1" i="0">
                <a:solidFill>
                  <a:srgbClr val="12263F"/>
                </a:solidFill>
                <a:latin typeface="Calibri"/>
              </a:rPr>
              <a:t>Profit</a:t>
            </a:r>
          </a:p>
        </p:txBody>
      </p:sp>
      <p:sp>
        <p:nvSpPr>
          <p:cNvPr id="15" name="TextBox 14"/>
          <p:cNvSpPr txBox="1"/>
          <p:nvPr/>
        </p:nvSpPr>
        <p:spPr>
          <a:xfrm>
            <a:off x="1591056" y="2471425"/>
            <a:ext cx="4828032" cy="182880"/>
          </a:xfrm>
          <a:prstGeom prst="rect">
            <a:avLst/>
          </a:prstGeom>
          <a:noFill/>
        </p:spPr>
        <p:txBody>
          <a:bodyPr wrap="square" lIns="0" rIns="0" tIns="0" bIns="0" anchor="t">
            <a:noAutofit/>
          </a:bodyPr>
          <a:lstStyle/>
          <a:p>
            <a:pPr algn="l">
              <a:lnSpc>
                <a:spcPct val="120000"/>
              </a:lnSpc>
            </a:pPr>
            <a:r>
              <a:rPr sz="819" b="0" i="0">
                <a:solidFill>
                  <a:srgbClr val="7B8B9E"/>
                </a:solidFill>
                <a:latin typeface="Calibri"/>
              </a:rPr>
              <a:t>Contribution margin, break-even volume and economic profit</a:t>
            </a:r>
          </a:p>
        </p:txBody>
      </p:sp>
      <p:sp>
        <p:nvSpPr>
          <p:cNvPr id="16" name="TextBox 15"/>
          <p:cNvSpPr txBox="1"/>
          <p:nvPr/>
        </p:nvSpPr>
        <p:spPr>
          <a:xfrm>
            <a:off x="1591056" y="2645161"/>
            <a:ext cx="4828032" cy="164592"/>
          </a:xfrm>
          <a:prstGeom prst="rect">
            <a:avLst/>
          </a:prstGeom>
          <a:noFill/>
        </p:spPr>
        <p:txBody>
          <a:bodyPr wrap="square" lIns="0" rIns="0" tIns="0" bIns="0" anchor="t">
            <a:noAutofit/>
          </a:bodyPr>
          <a:lstStyle/>
          <a:p>
            <a:pPr algn="l">
              <a:lnSpc>
                <a:spcPct val="100000"/>
              </a:lnSpc>
            </a:pPr>
            <a:r>
              <a:rPr sz="780" b="0" i="0">
                <a:solidFill>
                  <a:srgbClr val="2B6CB0"/>
                </a:solidFill>
                <a:latin typeface="Calibri"/>
                <a:hlinkClick r:id="rId3"/>
              </a:rPr>
              <a:t>https://youtu.be/d7Qw3Bu-23E</a:t>
            </a:r>
          </a:p>
        </p:txBody>
      </p:sp>
      <p:cxnSp>
        <p:nvCxnSpPr>
          <p:cNvPr id="17" name="Connector 16"/>
          <p:cNvCxnSpPr/>
          <p:nvPr/>
        </p:nvCxnSpPr>
        <p:spPr>
          <a:xfrm>
            <a:off x="658368" y="2791465"/>
            <a:ext cx="576072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2919481"/>
            <a:ext cx="868680" cy="182880"/>
          </a:xfrm>
          <a:prstGeom prst="rect">
            <a:avLst/>
          </a:prstGeom>
          <a:noFill/>
        </p:spPr>
        <p:txBody>
          <a:bodyPr wrap="square" lIns="0" rIns="0" tIns="0" bIns="0" anchor="t">
            <a:noAutofit/>
          </a:bodyPr>
          <a:lstStyle/>
          <a:p>
            <a:pPr algn="l">
              <a:lnSpc>
                <a:spcPct val="100000"/>
              </a:lnSpc>
            </a:pPr>
            <a:r>
              <a:rPr sz="800" b="1" i="0">
                <a:solidFill>
                  <a:srgbClr val="2B6CB0"/>
                </a:solidFill>
                <a:latin typeface="Calibri"/>
              </a:rPr>
              <a:t>Session 7</a:t>
            </a:r>
          </a:p>
        </p:txBody>
      </p:sp>
      <p:sp>
        <p:nvSpPr>
          <p:cNvPr id="19" name="TextBox 18"/>
          <p:cNvSpPr txBox="1"/>
          <p:nvPr/>
        </p:nvSpPr>
        <p:spPr>
          <a:xfrm>
            <a:off x="1591056" y="2892049"/>
            <a:ext cx="4828032" cy="201168"/>
          </a:xfrm>
          <a:prstGeom prst="rect">
            <a:avLst/>
          </a:prstGeom>
          <a:noFill/>
        </p:spPr>
        <p:txBody>
          <a:bodyPr wrap="square" lIns="0" rIns="0" tIns="0" bIns="0" anchor="t">
            <a:noAutofit/>
          </a:bodyPr>
          <a:lstStyle/>
          <a:p>
            <a:pPr algn="l">
              <a:lnSpc>
                <a:spcPct val="110000"/>
              </a:lnSpc>
            </a:pPr>
            <a:r>
              <a:rPr sz="960" b="1" i="0">
                <a:solidFill>
                  <a:srgbClr val="12263F"/>
                </a:solidFill>
                <a:latin typeface="Calibri"/>
              </a:rPr>
              <a:t>Game Theory</a:t>
            </a:r>
          </a:p>
        </p:txBody>
      </p:sp>
      <p:sp>
        <p:nvSpPr>
          <p:cNvPr id="20" name="TextBox 19"/>
          <p:cNvSpPr txBox="1"/>
          <p:nvPr/>
        </p:nvSpPr>
        <p:spPr>
          <a:xfrm>
            <a:off x="1591056" y="3093217"/>
            <a:ext cx="4828032" cy="182880"/>
          </a:xfrm>
          <a:prstGeom prst="rect">
            <a:avLst/>
          </a:prstGeom>
          <a:noFill/>
        </p:spPr>
        <p:txBody>
          <a:bodyPr wrap="square" lIns="0" rIns="0" tIns="0" bIns="0" anchor="t">
            <a:noAutofit/>
          </a:bodyPr>
          <a:lstStyle/>
          <a:p>
            <a:pPr algn="l">
              <a:lnSpc>
                <a:spcPct val="120000"/>
              </a:lnSpc>
            </a:pPr>
            <a:r>
              <a:rPr sz="819" b="0" i="0">
                <a:solidFill>
                  <a:srgbClr val="7B8B9E"/>
                </a:solidFill>
                <a:latin typeface="Calibri"/>
              </a:rPr>
              <a:t>Payoff matrix, dominant strategy, Nash equilibrium, tit-for-tat</a:t>
            </a:r>
          </a:p>
        </p:txBody>
      </p:sp>
      <p:sp>
        <p:nvSpPr>
          <p:cNvPr id="21" name="TextBox 20"/>
          <p:cNvSpPr txBox="1"/>
          <p:nvPr/>
        </p:nvSpPr>
        <p:spPr>
          <a:xfrm>
            <a:off x="1591056" y="3266953"/>
            <a:ext cx="4828032" cy="164592"/>
          </a:xfrm>
          <a:prstGeom prst="rect">
            <a:avLst/>
          </a:prstGeom>
          <a:noFill/>
        </p:spPr>
        <p:txBody>
          <a:bodyPr wrap="square" lIns="0" rIns="0" tIns="0" bIns="0" anchor="t">
            <a:noAutofit/>
          </a:bodyPr>
          <a:lstStyle/>
          <a:p>
            <a:pPr algn="l">
              <a:lnSpc>
                <a:spcPct val="100000"/>
              </a:lnSpc>
            </a:pPr>
            <a:r>
              <a:rPr sz="780" b="0" i="0">
                <a:solidFill>
                  <a:srgbClr val="2B6CB0"/>
                </a:solidFill>
                <a:latin typeface="Calibri"/>
                <a:hlinkClick r:id="rId4"/>
              </a:rPr>
              <a:t>https://youtu.be/f91JEkm7XZg</a:t>
            </a:r>
          </a:p>
        </p:txBody>
      </p:sp>
      <p:cxnSp>
        <p:nvCxnSpPr>
          <p:cNvPr id="22" name="Connector 21"/>
          <p:cNvCxnSpPr/>
          <p:nvPr/>
        </p:nvCxnSpPr>
        <p:spPr>
          <a:xfrm>
            <a:off x="658368" y="3413257"/>
            <a:ext cx="576072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3541273"/>
            <a:ext cx="868680" cy="182880"/>
          </a:xfrm>
          <a:prstGeom prst="rect">
            <a:avLst/>
          </a:prstGeom>
          <a:noFill/>
        </p:spPr>
        <p:txBody>
          <a:bodyPr wrap="square" lIns="0" rIns="0" tIns="0" bIns="0" anchor="t">
            <a:noAutofit/>
          </a:bodyPr>
          <a:lstStyle/>
          <a:p>
            <a:pPr algn="l">
              <a:lnSpc>
                <a:spcPct val="100000"/>
              </a:lnSpc>
            </a:pPr>
            <a:r>
              <a:rPr sz="800" b="1" i="0">
                <a:solidFill>
                  <a:srgbClr val="2B6CB0"/>
                </a:solidFill>
                <a:latin typeface="Calibri"/>
              </a:rPr>
              <a:t>Session 8</a:t>
            </a:r>
          </a:p>
        </p:txBody>
      </p:sp>
      <p:sp>
        <p:nvSpPr>
          <p:cNvPr id="24" name="TextBox 23"/>
          <p:cNvSpPr txBox="1"/>
          <p:nvPr/>
        </p:nvSpPr>
        <p:spPr>
          <a:xfrm>
            <a:off x="1591056" y="3513841"/>
            <a:ext cx="4828032" cy="201168"/>
          </a:xfrm>
          <a:prstGeom prst="rect">
            <a:avLst/>
          </a:prstGeom>
          <a:noFill/>
        </p:spPr>
        <p:txBody>
          <a:bodyPr wrap="square" lIns="0" rIns="0" tIns="0" bIns="0" anchor="t">
            <a:noAutofit/>
          </a:bodyPr>
          <a:lstStyle/>
          <a:p>
            <a:pPr algn="l">
              <a:lnSpc>
                <a:spcPct val="110000"/>
              </a:lnSpc>
            </a:pPr>
            <a:r>
              <a:rPr sz="960" b="1" i="0">
                <a:solidFill>
                  <a:srgbClr val="12263F"/>
                </a:solidFill>
                <a:latin typeface="Calibri"/>
              </a:rPr>
              <a:t>Risk</a:t>
            </a:r>
          </a:p>
        </p:txBody>
      </p:sp>
      <p:sp>
        <p:nvSpPr>
          <p:cNvPr id="25" name="TextBox 24"/>
          <p:cNvSpPr txBox="1"/>
          <p:nvPr/>
        </p:nvSpPr>
        <p:spPr>
          <a:xfrm>
            <a:off x="1591056" y="3715009"/>
            <a:ext cx="4828032" cy="182880"/>
          </a:xfrm>
          <a:prstGeom prst="rect">
            <a:avLst/>
          </a:prstGeom>
          <a:noFill/>
        </p:spPr>
        <p:txBody>
          <a:bodyPr wrap="square" lIns="0" rIns="0" tIns="0" bIns="0" anchor="t">
            <a:noAutofit/>
          </a:bodyPr>
          <a:lstStyle/>
          <a:p>
            <a:pPr algn="l">
              <a:lnSpc>
                <a:spcPct val="120000"/>
              </a:lnSpc>
            </a:pPr>
            <a:r>
              <a:rPr sz="819" b="0" i="0">
                <a:solidFill>
                  <a:srgbClr val="7B8B9E"/>
                </a:solidFill>
                <a:latin typeface="Calibri"/>
              </a:rPr>
              <a:t>Knight's risk vs uncertainty, sensitivity and scenario analysis</a:t>
            </a:r>
          </a:p>
        </p:txBody>
      </p:sp>
      <p:sp>
        <p:nvSpPr>
          <p:cNvPr id="26" name="TextBox 25"/>
          <p:cNvSpPr txBox="1"/>
          <p:nvPr/>
        </p:nvSpPr>
        <p:spPr>
          <a:xfrm>
            <a:off x="1591056" y="3888745"/>
            <a:ext cx="4828032" cy="164592"/>
          </a:xfrm>
          <a:prstGeom prst="rect">
            <a:avLst/>
          </a:prstGeom>
          <a:noFill/>
        </p:spPr>
        <p:txBody>
          <a:bodyPr wrap="square" lIns="0" rIns="0" tIns="0" bIns="0" anchor="t">
            <a:noAutofit/>
          </a:bodyPr>
          <a:lstStyle/>
          <a:p>
            <a:pPr algn="l">
              <a:lnSpc>
                <a:spcPct val="100000"/>
              </a:lnSpc>
            </a:pPr>
            <a:r>
              <a:rPr sz="780" b="0" i="0">
                <a:solidFill>
                  <a:srgbClr val="2B6CB0"/>
                </a:solidFill>
                <a:latin typeface="Calibri"/>
                <a:hlinkClick r:id="rId5"/>
              </a:rPr>
              <a:t>https://youtu.be/LsGQdSKB80o</a:t>
            </a:r>
          </a:p>
        </p:txBody>
      </p:sp>
      <p:cxnSp>
        <p:nvCxnSpPr>
          <p:cNvPr id="27" name="Connector 26"/>
          <p:cNvCxnSpPr/>
          <p:nvPr/>
        </p:nvCxnSpPr>
        <p:spPr>
          <a:xfrm>
            <a:off x="658368" y="4035049"/>
            <a:ext cx="576072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4163065"/>
            <a:ext cx="868680" cy="182880"/>
          </a:xfrm>
          <a:prstGeom prst="rect">
            <a:avLst/>
          </a:prstGeom>
          <a:noFill/>
        </p:spPr>
        <p:txBody>
          <a:bodyPr wrap="square" lIns="0" rIns="0" tIns="0" bIns="0" anchor="t">
            <a:noAutofit/>
          </a:bodyPr>
          <a:lstStyle/>
          <a:p>
            <a:pPr algn="l">
              <a:lnSpc>
                <a:spcPct val="100000"/>
              </a:lnSpc>
            </a:pPr>
            <a:r>
              <a:rPr sz="800" b="1" i="0">
                <a:solidFill>
                  <a:srgbClr val="2B6CB0"/>
                </a:solidFill>
                <a:latin typeface="Calibri"/>
              </a:rPr>
              <a:t>Session 9</a:t>
            </a:r>
          </a:p>
        </p:txBody>
      </p:sp>
      <p:sp>
        <p:nvSpPr>
          <p:cNvPr id="29" name="TextBox 28"/>
          <p:cNvSpPr txBox="1"/>
          <p:nvPr/>
        </p:nvSpPr>
        <p:spPr>
          <a:xfrm>
            <a:off x="1591056" y="4135633"/>
            <a:ext cx="4828032" cy="201168"/>
          </a:xfrm>
          <a:prstGeom prst="rect">
            <a:avLst/>
          </a:prstGeom>
          <a:noFill/>
        </p:spPr>
        <p:txBody>
          <a:bodyPr wrap="square" lIns="0" rIns="0" tIns="0" bIns="0" anchor="t">
            <a:noAutofit/>
          </a:bodyPr>
          <a:lstStyle/>
          <a:p>
            <a:pPr algn="l">
              <a:lnSpc>
                <a:spcPct val="110000"/>
              </a:lnSpc>
            </a:pPr>
            <a:r>
              <a:rPr sz="960" b="1" i="0">
                <a:solidFill>
                  <a:srgbClr val="12263F"/>
                </a:solidFill>
                <a:latin typeface="Calibri"/>
              </a:rPr>
              <a:t>Capital Budgeting &amp; Fiscal Policy</a:t>
            </a:r>
          </a:p>
        </p:txBody>
      </p:sp>
      <p:sp>
        <p:nvSpPr>
          <p:cNvPr id="30" name="TextBox 29"/>
          <p:cNvSpPr txBox="1"/>
          <p:nvPr/>
        </p:nvSpPr>
        <p:spPr>
          <a:xfrm>
            <a:off x="1591056" y="4336801"/>
            <a:ext cx="4828032" cy="182880"/>
          </a:xfrm>
          <a:prstGeom prst="rect">
            <a:avLst/>
          </a:prstGeom>
          <a:noFill/>
        </p:spPr>
        <p:txBody>
          <a:bodyPr wrap="square" lIns="0" rIns="0" tIns="0" bIns="0" anchor="t">
            <a:noAutofit/>
          </a:bodyPr>
          <a:lstStyle/>
          <a:p>
            <a:pPr algn="l">
              <a:lnSpc>
                <a:spcPct val="120000"/>
              </a:lnSpc>
            </a:pPr>
            <a:r>
              <a:rPr sz="819" b="0" i="0">
                <a:solidFill>
                  <a:srgbClr val="7B8B9E"/>
                </a:solidFill>
                <a:latin typeface="Calibri"/>
              </a:rPr>
              <a:t>NPV, IRR, profitability index, discount rate, subsidy policy</a:t>
            </a:r>
          </a:p>
        </p:txBody>
      </p:sp>
      <p:sp>
        <p:nvSpPr>
          <p:cNvPr id="31" name="TextBox 30"/>
          <p:cNvSpPr txBox="1"/>
          <p:nvPr/>
        </p:nvSpPr>
        <p:spPr>
          <a:xfrm>
            <a:off x="1591056" y="4510537"/>
            <a:ext cx="4828032" cy="164592"/>
          </a:xfrm>
          <a:prstGeom prst="rect">
            <a:avLst/>
          </a:prstGeom>
          <a:noFill/>
        </p:spPr>
        <p:txBody>
          <a:bodyPr wrap="square" lIns="0" rIns="0" tIns="0" bIns="0" anchor="t">
            <a:noAutofit/>
          </a:bodyPr>
          <a:lstStyle/>
          <a:p>
            <a:pPr algn="l">
              <a:lnSpc>
                <a:spcPct val="100000"/>
              </a:lnSpc>
            </a:pPr>
            <a:r>
              <a:rPr sz="780" b="0" i="0">
                <a:solidFill>
                  <a:srgbClr val="2B6CB0"/>
                </a:solidFill>
                <a:latin typeface="Calibri"/>
                <a:hlinkClick r:id="rId6"/>
              </a:rPr>
              <a:t>https://youtu.be/Y_NwyfpzUIo</a:t>
            </a:r>
          </a:p>
        </p:txBody>
      </p:sp>
      <p:cxnSp>
        <p:nvCxnSpPr>
          <p:cNvPr id="32" name="Connector 31"/>
          <p:cNvCxnSpPr/>
          <p:nvPr/>
        </p:nvCxnSpPr>
        <p:spPr>
          <a:xfrm>
            <a:off x="658368" y="4656841"/>
            <a:ext cx="5760720" cy="0"/>
          </a:xfrm>
          <a:prstGeom prst="line">
            <a:avLst/>
          </a:prstGeom>
          <a:ln w="7620">
            <a:solidFill>
              <a:srgbClr val="DCE3E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059168" y="1438153"/>
            <a:ext cx="4474159" cy="182880"/>
          </a:xfrm>
          <a:prstGeom prst="rect">
            <a:avLst/>
          </a:prstGeom>
          <a:noFill/>
        </p:spPr>
        <p:txBody>
          <a:bodyPr wrap="square" lIns="0" rIns="0" tIns="0" bIns="0" anchor="t">
            <a:noAutofit/>
          </a:bodyPr>
          <a:lstStyle/>
          <a:p>
            <a:pPr algn="l">
              <a:lnSpc>
                <a:spcPct val="100000"/>
              </a:lnSpc>
            </a:pPr>
            <a:r>
              <a:rPr sz="780" b="1" i="0" spc="110">
                <a:solidFill>
                  <a:srgbClr val="2B6CB0"/>
                </a:solidFill>
                <a:latin typeface="Calibri"/>
              </a:rPr>
              <a:t>HOW THIS DECK MAPS TO THE RUBRIC</a:t>
            </a:r>
          </a:p>
        </p:txBody>
      </p:sp>
      <p:sp>
        <p:nvSpPr>
          <p:cNvPr id="34" name="Rectangle 33"/>
          <p:cNvSpPr/>
          <p:nvPr/>
        </p:nvSpPr>
        <p:spPr>
          <a:xfrm>
            <a:off x="7059168" y="1675897"/>
            <a:ext cx="4474159" cy="29260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68896" y="1675897"/>
            <a:ext cx="3285439" cy="292608"/>
          </a:xfrm>
          <a:prstGeom prst="rect">
            <a:avLst/>
          </a:prstGeom>
          <a:noFill/>
        </p:spPr>
        <p:txBody>
          <a:bodyPr wrap="square" lIns="0" rIns="0" tIns="0" bIns="0" anchor="ctr">
            <a:noAutofit/>
          </a:bodyPr>
          <a:lstStyle/>
          <a:p>
            <a:pPr algn="l">
              <a:lnSpc>
                <a:spcPct val="100000"/>
              </a:lnSpc>
            </a:pPr>
            <a:r>
              <a:rPr sz="700" b="1" i="0" spc="80">
                <a:solidFill>
                  <a:srgbClr val="FFFFFF"/>
                </a:solidFill>
                <a:latin typeface="Calibri"/>
              </a:rPr>
              <a:t>COMPONENT</a:t>
            </a:r>
          </a:p>
        </p:txBody>
      </p:sp>
      <p:sp>
        <p:nvSpPr>
          <p:cNvPr id="36" name="TextBox 35"/>
          <p:cNvSpPr txBox="1"/>
          <p:nvPr/>
        </p:nvSpPr>
        <p:spPr>
          <a:xfrm>
            <a:off x="10509199" y="1675897"/>
            <a:ext cx="420624" cy="292608"/>
          </a:xfrm>
          <a:prstGeom prst="rect">
            <a:avLst/>
          </a:prstGeom>
          <a:noFill/>
        </p:spPr>
        <p:txBody>
          <a:bodyPr wrap="square" lIns="0" rIns="0" tIns="0" bIns="0" anchor="ctr">
            <a:noAutofit/>
          </a:bodyPr>
          <a:lstStyle/>
          <a:p>
            <a:pPr algn="ctr">
              <a:lnSpc>
                <a:spcPct val="100000"/>
              </a:lnSpc>
            </a:pPr>
            <a:r>
              <a:rPr sz="700" b="1" i="0" spc="80">
                <a:solidFill>
                  <a:srgbClr val="FFFFFF"/>
                </a:solidFill>
                <a:latin typeface="Calibri"/>
              </a:rPr>
              <a:t>MARKS</a:t>
            </a:r>
          </a:p>
        </p:txBody>
      </p:sp>
      <p:sp>
        <p:nvSpPr>
          <p:cNvPr id="37" name="TextBox 36"/>
          <p:cNvSpPr txBox="1"/>
          <p:nvPr/>
        </p:nvSpPr>
        <p:spPr>
          <a:xfrm>
            <a:off x="10966399" y="1675897"/>
            <a:ext cx="475488" cy="292608"/>
          </a:xfrm>
          <a:prstGeom prst="rect">
            <a:avLst/>
          </a:prstGeom>
          <a:noFill/>
        </p:spPr>
        <p:txBody>
          <a:bodyPr wrap="square" lIns="0" rIns="0" tIns="0" bIns="0" anchor="ctr">
            <a:noAutofit/>
          </a:bodyPr>
          <a:lstStyle/>
          <a:p>
            <a:pPr algn="ctr">
              <a:lnSpc>
                <a:spcPct val="100000"/>
              </a:lnSpc>
            </a:pPr>
            <a:r>
              <a:rPr sz="700" b="1" i="0" spc="80">
                <a:solidFill>
                  <a:srgbClr val="FFFFFF"/>
                </a:solidFill>
                <a:latin typeface="Calibri"/>
              </a:rPr>
              <a:t>SLIDE</a:t>
            </a:r>
          </a:p>
        </p:txBody>
      </p:sp>
      <p:sp>
        <p:nvSpPr>
          <p:cNvPr id="38" name="Rectangle 37"/>
          <p:cNvSpPr/>
          <p:nvPr/>
        </p:nvSpPr>
        <p:spPr>
          <a:xfrm>
            <a:off x="7059168" y="1968505"/>
            <a:ext cx="4474159" cy="365760"/>
          </a:xfrm>
          <a:prstGeom prst="rect">
            <a:avLst/>
          </a:prstGeom>
          <a:solidFill>
            <a:srgbClr val="F7F9FC"/>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68896" y="1968505"/>
            <a:ext cx="3285439" cy="365760"/>
          </a:xfrm>
          <a:prstGeom prst="rect">
            <a:avLst/>
          </a:prstGeom>
          <a:noFill/>
        </p:spPr>
        <p:txBody>
          <a:bodyPr wrap="square" lIns="0" rIns="0" tIns="0" bIns="0" anchor="ctr">
            <a:noAutofit/>
          </a:bodyPr>
          <a:lstStyle/>
          <a:p>
            <a:pPr algn="l">
              <a:lnSpc>
                <a:spcPct val="110000"/>
              </a:lnSpc>
            </a:pPr>
            <a:r>
              <a:rPr sz="840" b="0" i="0">
                <a:solidFill>
                  <a:srgbClr val="12263F"/>
                </a:solidFill>
                <a:latin typeface="Calibri"/>
              </a:rPr>
              <a:t>Market &amp; demand analysis</a:t>
            </a:r>
          </a:p>
        </p:txBody>
      </p:sp>
      <p:sp>
        <p:nvSpPr>
          <p:cNvPr id="40" name="TextBox 39"/>
          <p:cNvSpPr txBox="1"/>
          <p:nvPr/>
        </p:nvSpPr>
        <p:spPr>
          <a:xfrm>
            <a:off x="10509199" y="1968505"/>
            <a:ext cx="420624" cy="365760"/>
          </a:xfrm>
          <a:prstGeom prst="rect">
            <a:avLst/>
          </a:prstGeom>
          <a:noFill/>
        </p:spPr>
        <p:txBody>
          <a:bodyPr wrap="square" lIns="0" rIns="0" tIns="0" bIns="0" anchor="ctr">
            <a:noAutofit/>
          </a:bodyPr>
          <a:lstStyle/>
          <a:p>
            <a:pPr algn="ctr">
              <a:lnSpc>
                <a:spcPct val="100000"/>
              </a:lnSpc>
            </a:pPr>
            <a:r>
              <a:rPr sz="880" b="1" i="0">
                <a:solidFill>
                  <a:srgbClr val="12263F"/>
                </a:solidFill>
                <a:latin typeface="Calibri"/>
              </a:rPr>
              <a:t>25</a:t>
            </a:r>
          </a:p>
        </p:txBody>
      </p:sp>
      <p:sp>
        <p:nvSpPr>
          <p:cNvPr id="41" name="TextBox 40"/>
          <p:cNvSpPr txBox="1"/>
          <p:nvPr/>
        </p:nvSpPr>
        <p:spPr>
          <a:xfrm>
            <a:off x="10966399" y="1968505"/>
            <a:ext cx="475488" cy="365760"/>
          </a:xfrm>
          <a:prstGeom prst="rect">
            <a:avLst/>
          </a:prstGeom>
          <a:noFill/>
        </p:spPr>
        <p:txBody>
          <a:bodyPr wrap="square" lIns="0" rIns="0" tIns="0" bIns="0" anchor="ctr">
            <a:noAutofit/>
          </a:bodyPr>
          <a:lstStyle/>
          <a:p>
            <a:pPr algn="ctr">
              <a:lnSpc>
                <a:spcPct val="100000"/>
              </a:lnSpc>
            </a:pPr>
            <a:r>
              <a:rPr sz="740" b="0" i="0">
                <a:solidFill>
                  <a:srgbClr val="7B8B9E"/>
                </a:solidFill>
                <a:latin typeface="Calibri"/>
              </a:rPr>
              <a:t>Slides 2–3</a:t>
            </a:r>
          </a:p>
        </p:txBody>
      </p:sp>
      <p:sp>
        <p:nvSpPr>
          <p:cNvPr id="42" name="Rectangle 41"/>
          <p:cNvSpPr/>
          <p:nvPr/>
        </p:nvSpPr>
        <p:spPr>
          <a:xfrm>
            <a:off x="7059168" y="2334265"/>
            <a:ext cx="4474159" cy="365760"/>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168896" y="2334265"/>
            <a:ext cx="3285439" cy="365760"/>
          </a:xfrm>
          <a:prstGeom prst="rect">
            <a:avLst/>
          </a:prstGeom>
          <a:noFill/>
        </p:spPr>
        <p:txBody>
          <a:bodyPr wrap="square" lIns="0" rIns="0" tIns="0" bIns="0" anchor="ctr">
            <a:noAutofit/>
          </a:bodyPr>
          <a:lstStyle/>
          <a:p>
            <a:pPr algn="l">
              <a:lnSpc>
                <a:spcPct val="110000"/>
              </a:lnSpc>
            </a:pPr>
            <a:r>
              <a:rPr sz="840" b="0" i="0">
                <a:solidFill>
                  <a:srgbClr val="12263F"/>
                </a:solidFill>
                <a:latin typeface="Calibri"/>
              </a:rPr>
              <a:t>Pricing &amp; game theory</a:t>
            </a:r>
          </a:p>
        </p:txBody>
      </p:sp>
      <p:sp>
        <p:nvSpPr>
          <p:cNvPr id="44" name="TextBox 43"/>
          <p:cNvSpPr txBox="1"/>
          <p:nvPr/>
        </p:nvSpPr>
        <p:spPr>
          <a:xfrm>
            <a:off x="10509199" y="2334265"/>
            <a:ext cx="420624" cy="365760"/>
          </a:xfrm>
          <a:prstGeom prst="rect">
            <a:avLst/>
          </a:prstGeom>
          <a:noFill/>
        </p:spPr>
        <p:txBody>
          <a:bodyPr wrap="square" lIns="0" rIns="0" tIns="0" bIns="0" anchor="ctr">
            <a:noAutofit/>
          </a:bodyPr>
          <a:lstStyle/>
          <a:p>
            <a:pPr algn="ctr">
              <a:lnSpc>
                <a:spcPct val="100000"/>
              </a:lnSpc>
            </a:pPr>
            <a:r>
              <a:rPr sz="880" b="1" i="0">
                <a:solidFill>
                  <a:srgbClr val="12263F"/>
                </a:solidFill>
                <a:latin typeface="Calibri"/>
              </a:rPr>
              <a:t>30</a:t>
            </a:r>
          </a:p>
        </p:txBody>
      </p:sp>
      <p:sp>
        <p:nvSpPr>
          <p:cNvPr id="45" name="TextBox 44"/>
          <p:cNvSpPr txBox="1"/>
          <p:nvPr/>
        </p:nvSpPr>
        <p:spPr>
          <a:xfrm>
            <a:off x="10966399" y="2334265"/>
            <a:ext cx="475488" cy="365760"/>
          </a:xfrm>
          <a:prstGeom prst="rect">
            <a:avLst/>
          </a:prstGeom>
          <a:noFill/>
        </p:spPr>
        <p:txBody>
          <a:bodyPr wrap="square" lIns="0" rIns="0" tIns="0" bIns="0" anchor="ctr">
            <a:noAutofit/>
          </a:bodyPr>
          <a:lstStyle/>
          <a:p>
            <a:pPr algn="ctr">
              <a:lnSpc>
                <a:spcPct val="100000"/>
              </a:lnSpc>
            </a:pPr>
            <a:r>
              <a:rPr sz="740" b="0" i="0">
                <a:solidFill>
                  <a:srgbClr val="7B8B9E"/>
                </a:solidFill>
                <a:latin typeface="Calibri"/>
              </a:rPr>
              <a:t>Slides 4–5</a:t>
            </a:r>
          </a:p>
        </p:txBody>
      </p:sp>
      <p:sp>
        <p:nvSpPr>
          <p:cNvPr id="46" name="Rectangle 45"/>
          <p:cNvSpPr/>
          <p:nvPr/>
        </p:nvSpPr>
        <p:spPr>
          <a:xfrm>
            <a:off x="7059168" y="2700025"/>
            <a:ext cx="4474159" cy="365760"/>
          </a:xfrm>
          <a:prstGeom prst="rect">
            <a:avLst/>
          </a:prstGeom>
          <a:solidFill>
            <a:srgbClr val="F7F9FC"/>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168896" y="2700025"/>
            <a:ext cx="3285439" cy="365760"/>
          </a:xfrm>
          <a:prstGeom prst="rect">
            <a:avLst/>
          </a:prstGeom>
          <a:noFill/>
        </p:spPr>
        <p:txBody>
          <a:bodyPr wrap="square" lIns="0" rIns="0" tIns="0" bIns="0" anchor="ctr">
            <a:noAutofit/>
          </a:bodyPr>
          <a:lstStyle/>
          <a:p>
            <a:pPr algn="l">
              <a:lnSpc>
                <a:spcPct val="110000"/>
              </a:lnSpc>
            </a:pPr>
            <a:r>
              <a:rPr sz="840" b="0" i="0">
                <a:solidFill>
                  <a:srgbClr val="12263F"/>
                </a:solidFill>
                <a:latin typeface="Calibri"/>
              </a:rPr>
              <a:t>Capital budgeting</a:t>
            </a:r>
          </a:p>
        </p:txBody>
      </p:sp>
      <p:sp>
        <p:nvSpPr>
          <p:cNvPr id="48" name="TextBox 47"/>
          <p:cNvSpPr txBox="1"/>
          <p:nvPr/>
        </p:nvSpPr>
        <p:spPr>
          <a:xfrm>
            <a:off x="10509199" y="2700025"/>
            <a:ext cx="420624" cy="365760"/>
          </a:xfrm>
          <a:prstGeom prst="rect">
            <a:avLst/>
          </a:prstGeom>
          <a:noFill/>
        </p:spPr>
        <p:txBody>
          <a:bodyPr wrap="square" lIns="0" rIns="0" tIns="0" bIns="0" anchor="ctr">
            <a:noAutofit/>
          </a:bodyPr>
          <a:lstStyle/>
          <a:p>
            <a:pPr algn="ctr">
              <a:lnSpc>
                <a:spcPct val="100000"/>
              </a:lnSpc>
            </a:pPr>
            <a:r>
              <a:rPr sz="880" b="1" i="0">
                <a:solidFill>
                  <a:srgbClr val="12263F"/>
                </a:solidFill>
                <a:latin typeface="Calibri"/>
              </a:rPr>
              <a:t>35</a:t>
            </a:r>
          </a:p>
        </p:txBody>
      </p:sp>
      <p:sp>
        <p:nvSpPr>
          <p:cNvPr id="49" name="TextBox 48"/>
          <p:cNvSpPr txBox="1"/>
          <p:nvPr/>
        </p:nvSpPr>
        <p:spPr>
          <a:xfrm>
            <a:off x="10966399" y="2700025"/>
            <a:ext cx="475488" cy="365760"/>
          </a:xfrm>
          <a:prstGeom prst="rect">
            <a:avLst/>
          </a:prstGeom>
          <a:noFill/>
        </p:spPr>
        <p:txBody>
          <a:bodyPr wrap="square" lIns="0" rIns="0" tIns="0" bIns="0" anchor="ctr">
            <a:noAutofit/>
          </a:bodyPr>
          <a:lstStyle/>
          <a:p>
            <a:pPr algn="ctr">
              <a:lnSpc>
                <a:spcPct val="100000"/>
              </a:lnSpc>
            </a:pPr>
            <a:r>
              <a:rPr sz="740" b="0" i="0">
                <a:solidFill>
                  <a:srgbClr val="7B8B9E"/>
                </a:solidFill>
                <a:latin typeface="Calibri"/>
              </a:rPr>
              <a:t>Slide 6 (+ A)</a:t>
            </a:r>
          </a:p>
        </p:txBody>
      </p:sp>
      <p:sp>
        <p:nvSpPr>
          <p:cNvPr id="50" name="Rectangle 49"/>
          <p:cNvSpPr/>
          <p:nvPr/>
        </p:nvSpPr>
        <p:spPr>
          <a:xfrm>
            <a:off x="7059168" y="3065785"/>
            <a:ext cx="4474159" cy="365760"/>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168896" y="3065785"/>
            <a:ext cx="3285439" cy="365760"/>
          </a:xfrm>
          <a:prstGeom prst="rect">
            <a:avLst/>
          </a:prstGeom>
          <a:noFill/>
        </p:spPr>
        <p:txBody>
          <a:bodyPr wrap="square" lIns="0" rIns="0" tIns="0" bIns="0" anchor="ctr">
            <a:noAutofit/>
          </a:bodyPr>
          <a:lstStyle/>
          <a:p>
            <a:pPr algn="l">
              <a:lnSpc>
                <a:spcPct val="110000"/>
              </a:lnSpc>
            </a:pPr>
            <a:r>
              <a:rPr sz="840" b="0" i="0">
                <a:solidFill>
                  <a:srgbClr val="12263F"/>
                </a:solidFill>
                <a:latin typeface="Calibri"/>
              </a:rPr>
              <a:t>Presentation quality</a:t>
            </a:r>
          </a:p>
        </p:txBody>
      </p:sp>
      <p:sp>
        <p:nvSpPr>
          <p:cNvPr id="52" name="TextBox 51"/>
          <p:cNvSpPr txBox="1"/>
          <p:nvPr/>
        </p:nvSpPr>
        <p:spPr>
          <a:xfrm>
            <a:off x="10509199" y="3065785"/>
            <a:ext cx="420624" cy="365760"/>
          </a:xfrm>
          <a:prstGeom prst="rect">
            <a:avLst/>
          </a:prstGeom>
          <a:noFill/>
        </p:spPr>
        <p:txBody>
          <a:bodyPr wrap="square" lIns="0" rIns="0" tIns="0" bIns="0" anchor="ctr">
            <a:noAutofit/>
          </a:bodyPr>
          <a:lstStyle/>
          <a:p>
            <a:pPr algn="ctr">
              <a:lnSpc>
                <a:spcPct val="100000"/>
              </a:lnSpc>
            </a:pPr>
            <a:r>
              <a:rPr sz="880" b="1" i="0">
                <a:solidFill>
                  <a:srgbClr val="12263F"/>
                </a:solidFill>
                <a:latin typeface="Calibri"/>
              </a:rPr>
              <a:t>10</a:t>
            </a:r>
          </a:p>
        </p:txBody>
      </p:sp>
      <p:sp>
        <p:nvSpPr>
          <p:cNvPr id="53" name="TextBox 52"/>
          <p:cNvSpPr txBox="1"/>
          <p:nvPr/>
        </p:nvSpPr>
        <p:spPr>
          <a:xfrm>
            <a:off x="10966399" y="3065785"/>
            <a:ext cx="475488" cy="365760"/>
          </a:xfrm>
          <a:prstGeom prst="rect">
            <a:avLst/>
          </a:prstGeom>
          <a:noFill/>
        </p:spPr>
        <p:txBody>
          <a:bodyPr wrap="square" lIns="0" rIns="0" tIns="0" bIns="0" anchor="ctr">
            <a:noAutofit/>
          </a:bodyPr>
          <a:lstStyle/>
          <a:p>
            <a:pPr algn="ctr">
              <a:lnSpc>
                <a:spcPct val="100000"/>
              </a:lnSpc>
            </a:pPr>
            <a:r>
              <a:rPr sz="740" b="0" i="0">
                <a:solidFill>
                  <a:srgbClr val="7B8B9E"/>
                </a:solidFill>
                <a:latin typeface="Calibri"/>
              </a:rPr>
              <a:t>All slides</a:t>
            </a:r>
          </a:p>
        </p:txBody>
      </p:sp>
      <p:sp>
        <p:nvSpPr>
          <p:cNvPr id="54" name="Rectangle 53"/>
          <p:cNvSpPr/>
          <p:nvPr/>
        </p:nvSpPr>
        <p:spPr>
          <a:xfrm>
            <a:off x="7059168" y="3431545"/>
            <a:ext cx="4474159" cy="365760"/>
          </a:xfrm>
          <a:prstGeom prst="rect">
            <a:avLst/>
          </a:prstGeom>
          <a:solidFill>
            <a:srgbClr val="FFFFFF"/>
          </a:solidFill>
          <a:ln w="63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168896" y="3431545"/>
            <a:ext cx="3285439" cy="365760"/>
          </a:xfrm>
          <a:prstGeom prst="rect">
            <a:avLst/>
          </a:prstGeom>
          <a:noFill/>
        </p:spPr>
        <p:txBody>
          <a:bodyPr wrap="square" lIns="0" rIns="0" tIns="0" bIns="0" anchor="ctr">
            <a:noAutofit/>
          </a:bodyPr>
          <a:lstStyle/>
          <a:p>
            <a:pPr algn="l">
              <a:lnSpc>
                <a:spcPct val="110000"/>
              </a:lnSpc>
            </a:pPr>
            <a:r>
              <a:rPr sz="840" b="1" i="0">
                <a:solidFill>
                  <a:srgbClr val="12263F"/>
                </a:solidFill>
                <a:latin typeface="Calibri"/>
              </a:rPr>
              <a:t>Total</a:t>
            </a:r>
          </a:p>
        </p:txBody>
      </p:sp>
      <p:sp>
        <p:nvSpPr>
          <p:cNvPr id="56" name="TextBox 55"/>
          <p:cNvSpPr txBox="1"/>
          <p:nvPr/>
        </p:nvSpPr>
        <p:spPr>
          <a:xfrm>
            <a:off x="10509199" y="3431545"/>
            <a:ext cx="420624" cy="365760"/>
          </a:xfrm>
          <a:prstGeom prst="rect">
            <a:avLst/>
          </a:prstGeom>
          <a:noFill/>
        </p:spPr>
        <p:txBody>
          <a:bodyPr wrap="square" lIns="0" rIns="0" tIns="0" bIns="0" anchor="ctr">
            <a:noAutofit/>
          </a:bodyPr>
          <a:lstStyle/>
          <a:p>
            <a:pPr algn="ctr">
              <a:lnSpc>
                <a:spcPct val="100000"/>
              </a:lnSpc>
            </a:pPr>
            <a:r>
              <a:rPr sz="880" b="1" i="0">
                <a:solidFill>
                  <a:srgbClr val="12263F"/>
                </a:solidFill>
                <a:latin typeface="Calibri"/>
              </a:rPr>
              <a:t>100</a:t>
            </a:r>
          </a:p>
        </p:txBody>
      </p:sp>
      <p:sp>
        <p:nvSpPr>
          <p:cNvPr id="57" name="TextBox 56"/>
          <p:cNvSpPr txBox="1"/>
          <p:nvPr/>
        </p:nvSpPr>
        <p:spPr>
          <a:xfrm>
            <a:off x="10966399" y="3431545"/>
            <a:ext cx="475488" cy="365760"/>
          </a:xfrm>
          <a:prstGeom prst="rect">
            <a:avLst/>
          </a:prstGeom>
          <a:noFill/>
        </p:spPr>
        <p:txBody>
          <a:bodyPr wrap="square" lIns="0" rIns="0" tIns="0" bIns="0" anchor="ctr">
            <a:noAutofit/>
          </a:bodyPr>
          <a:lstStyle/>
          <a:p>
            <a:pPr algn="ctr">
              <a:lnSpc>
                <a:spcPct val="100000"/>
              </a:lnSpc>
            </a:pPr>
            <a:r>
              <a:rPr sz="740" b="0" i="0">
                <a:solidFill>
                  <a:srgbClr val="7B8B9E"/>
                </a:solidFill>
                <a:latin typeface="Calibri"/>
              </a:rPr>
              <a:t/>
            </a:r>
          </a:p>
        </p:txBody>
      </p:sp>
      <p:sp>
        <p:nvSpPr>
          <p:cNvPr id="58" name="Rounded Rectangle 57"/>
          <p:cNvSpPr/>
          <p:nvPr/>
        </p:nvSpPr>
        <p:spPr>
          <a:xfrm>
            <a:off x="658368" y="4967737"/>
            <a:ext cx="5760720" cy="896112"/>
          </a:xfrm>
          <a:prstGeom prst="roundRect">
            <a:avLst>
              <a:gd name="adj" fmla="val 4000"/>
            </a:avLst>
          </a:prstGeom>
          <a:solidFill>
            <a:srgbClr val="ECF2FA"/>
          </a:solidFill>
          <a:ln w="7620">
            <a:solidFill>
              <a:srgbClr val="C9DC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58368" y="4967737"/>
            <a:ext cx="45720" cy="89611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59536" y="5114041"/>
            <a:ext cx="5358384" cy="603504"/>
          </a:xfrm>
          <a:prstGeom prst="rect">
            <a:avLst/>
          </a:prstGeom>
          <a:noFill/>
        </p:spPr>
        <p:txBody>
          <a:bodyPr wrap="square" lIns="0" rIns="0" tIns="0" bIns="0" anchor="t">
            <a:noAutofit/>
          </a:bodyPr>
          <a:lstStyle/>
          <a:p>
            <a:pPr algn="l">
              <a:lnSpc>
                <a:spcPct val="100000"/>
              </a:lnSpc>
            </a:pPr>
            <a:r>
              <a:rPr sz="720" b="1" i="0" spc="100">
                <a:solidFill>
                  <a:srgbClr val="2B6CB0"/>
                </a:solidFill>
                <a:latin typeface="Calibri"/>
              </a:rPr>
              <a:t>DECLARATION</a:t>
            </a:r>
          </a:p>
          <a:p>
            <a:pPr algn="l">
              <a:lnSpc>
                <a:spcPct val="126000"/>
              </a:lnSpc>
              <a:spcBef>
                <a:spcPts val="400"/>
              </a:spcBef>
            </a:pPr>
            <a:r>
              <a:rPr sz="840" b="0" i="0">
                <a:solidFill>
                  <a:srgbClr val="44546A"/>
                </a:solidFill>
                <a:latin typeface="Calibri"/>
              </a:rPr>
              <a:t>This assignment is my own work, prepared from the recorded sessions and the case brief, and is submitted on or before the deadline set in Google Classroom.</a:t>
            </a:r>
          </a:p>
        </p:txBody>
      </p:sp>
      <p:sp>
        <p:nvSpPr>
          <p:cNvPr id="61" name="TextBox 60"/>
          <p:cNvSpPr txBox="1"/>
          <p:nvPr/>
        </p:nvSpPr>
        <p:spPr>
          <a:xfrm>
            <a:off x="7059168" y="3998473"/>
            <a:ext cx="4474159" cy="182880"/>
          </a:xfrm>
          <a:prstGeom prst="rect">
            <a:avLst/>
          </a:prstGeom>
          <a:noFill/>
        </p:spPr>
        <p:txBody>
          <a:bodyPr wrap="square" lIns="0" rIns="0" tIns="0" bIns="0" anchor="t">
            <a:noAutofit/>
          </a:bodyPr>
          <a:lstStyle/>
          <a:p>
            <a:pPr algn="l">
              <a:lnSpc>
                <a:spcPct val="100000"/>
              </a:lnSpc>
            </a:pPr>
            <a:r>
              <a:rPr sz="760" b="1" i="0" spc="110">
                <a:solidFill>
                  <a:srgbClr val="2B6CB0"/>
                </a:solidFill>
                <a:latin typeface="Calibri"/>
              </a:rPr>
              <a:t>THE WHOLE ARGUMENT IN FOUR LINES</a:t>
            </a:r>
          </a:p>
        </p:txBody>
      </p:sp>
      <p:sp>
        <p:nvSpPr>
          <p:cNvPr id="62" name="TextBox 61"/>
          <p:cNvSpPr txBox="1"/>
          <p:nvPr/>
        </p:nvSpPr>
        <p:spPr>
          <a:xfrm>
            <a:off x="7059168" y="4236217"/>
            <a:ext cx="859536" cy="182880"/>
          </a:xfrm>
          <a:prstGeom prst="rect">
            <a:avLst/>
          </a:prstGeom>
          <a:noFill/>
        </p:spPr>
        <p:txBody>
          <a:bodyPr wrap="square" lIns="0" rIns="0" tIns="0" bIns="0" anchor="t">
            <a:noAutofit/>
          </a:bodyPr>
          <a:lstStyle/>
          <a:p>
            <a:pPr algn="l">
              <a:lnSpc>
                <a:spcPct val="115000"/>
              </a:lnSpc>
            </a:pPr>
            <a:r>
              <a:rPr sz="860" b="1" i="0">
                <a:solidFill>
                  <a:srgbClr val="12263F"/>
                </a:solidFill>
                <a:latin typeface="Calibri"/>
              </a:rPr>
              <a:t>Market</a:t>
            </a:r>
          </a:p>
        </p:txBody>
      </p:sp>
      <p:sp>
        <p:nvSpPr>
          <p:cNvPr id="63" name="TextBox 62"/>
          <p:cNvSpPr txBox="1"/>
          <p:nvPr/>
        </p:nvSpPr>
        <p:spPr>
          <a:xfrm>
            <a:off x="7973568" y="4236217"/>
            <a:ext cx="3559759" cy="138141"/>
          </a:xfrm>
          <a:prstGeom prst="rect">
            <a:avLst/>
          </a:prstGeom>
          <a:noFill/>
        </p:spPr>
        <p:txBody>
          <a:bodyPr wrap="square" lIns="0" rIns="0" tIns="0" bIns="0" anchor="t">
            <a:noAutofit/>
          </a:bodyPr>
          <a:lstStyle/>
          <a:p>
            <a:pPr algn="l">
              <a:lnSpc>
                <a:spcPct val="124000"/>
              </a:lnSpc>
            </a:pPr>
            <a:r>
              <a:rPr sz="860" b="0" i="0">
                <a:solidFill>
                  <a:srgbClr val="44546A"/>
                </a:solidFill>
                <a:latin typeface="Calibri"/>
              </a:rPr>
              <a:t>four firms, 86% share, mutual dependence → oligopoly</a:t>
            </a:r>
          </a:p>
        </p:txBody>
      </p:sp>
      <p:sp>
        <p:nvSpPr>
          <p:cNvPr id="64" name="TextBox 63"/>
          <p:cNvSpPr txBox="1"/>
          <p:nvPr/>
        </p:nvSpPr>
        <p:spPr>
          <a:xfrm>
            <a:off x="7059168" y="4465799"/>
            <a:ext cx="859536" cy="182880"/>
          </a:xfrm>
          <a:prstGeom prst="rect">
            <a:avLst/>
          </a:prstGeom>
          <a:noFill/>
        </p:spPr>
        <p:txBody>
          <a:bodyPr wrap="square" lIns="0" rIns="0" tIns="0" bIns="0" anchor="t">
            <a:noAutofit/>
          </a:bodyPr>
          <a:lstStyle/>
          <a:p>
            <a:pPr algn="l">
              <a:lnSpc>
                <a:spcPct val="115000"/>
              </a:lnSpc>
            </a:pPr>
            <a:r>
              <a:rPr sz="860" b="1" i="0">
                <a:solidFill>
                  <a:srgbClr val="12263F"/>
                </a:solidFill>
                <a:latin typeface="Calibri"/>
              </a:rPr>
              <a:t>Demand</a:t>
            </a:r>
          </a:p>
        </p:txBody>
      </p:sp>
      <p:sp>
        <p:nvSpPr>
          <p:cNvPr id="65" name="TextBox 64"/>
          <p:cNvSpPr txBox="1"/>
          <p:nvPr/>
        </p:nvSpPr>
        <p:spPr>
          <a:xfrm>
            <a:off x="7973568" y="4465799"/>
            <a:ext cx="3559759" cy="138141"/>
          </a:xfrm>
          <a:prstGeom prst="rect">
            <a:avLst/>
          </a:prstGeom>
          <a:noFill/>
        </p:spPr>
        <p:txBody>
          <a:bodyPr wrap="square" lIns="0" rIns="0" tIns="0" bIns="0" anchor="t">
            <a:noAutofit/>
          </a:bodyPr>
          <a:lstStyle/>
          <a:p>
            <a:pPr algn="l">
              <a:lnSpc>
                <a:spcPct val="124000"/>
              </a:lnSpc>
            </a:pPr>
            <a:r>
              <a:rPr sz="860" b="0" i="0">
                <a:solidFill>
                  <a:srgbClr val="44546A"/>
                </a:solidFill>
                <a:latin typeface="Calibri"/>
              </a:rPr>
              <a:t>petrol is a complement, so higher petrol shifts our demand right</a:t>
            </a:r>
          </a:p>
        </p:txBody>
      </p:sp>
      <p:sp>
        <p:nvSpPr>
          <p:cNvPr id="66" name="TextBox 65"/>
          <p:cNvSpPr txBox="1"/>
          <p:nvPr/>
        </p:nvSpPr>
        <p:spPr>
          <a:xfrm>
            <a:off x="7059168" y="4695380"/>
            <a:ext cx="859536" cy="182880"/>
          </a:xfrm>
          <a:prstGeom prst="rect">
            <a:avLst/>
          </a:prstGeom>
          <a:noFill/>
        </p:spPr>
        <p:txBody>
          <a:bodyPr wrap="square" lIns="0" rIns="0" tIns="0" bIns="0" anchor="t">
            <a:noAutofit/>
          </a:bodyPr>
          <a:lstStyle/>
          <a:p>
            <a:pPr algn="l">
              <a:lnSpc>
                <a:spcPct val="115000"/>
              </a:lnSpc>
            </a:pPr>
            <a:r>
              <a:rPr sz="860" b="1" i="0">
                <a:solidFill>
                  <a:srgbClr val="12263F"/>
                </a:solidFill>
                <a:latin typeface="Calibri"/>
              </a:rPr>
              <a:t>Pricing</a:t>
            </a:r>
          </a:p>
        </p:txBody>
      </p:sp>
      <p:sp>
        <p:nvSpPr>
          <p:cNvPr id="67" name="TextBox 66"/>
          <p:cNvSpPr txBox="1"/>
          <p:nvPr/>
        </p:nvSpPr>
        <p:spPr>
          <a:xfrm>
            <a:off x="7973568" y="4695380"/>
            <a:ext cx="3559759" cy="138141"/>
          </a:xfrm>
          <a:prstGeom prst="rect">
            <a:avLst/>
          </a:prstGeom>
          <a:noFill/>
        </p:spPr>
        <p:txBody>
          <a:bodyPr wrap="square" lIns="0" rIns="0" tIns="0" bIns="0" anchor="t">
            <a:noAutofit/>
          </a:bodyPr>
          <a:lstStyle/>
          <a:p>
            <a:pPr algn="l">
              <a:lnSpc>
                <a:spcPct val="124000"/>
              </a:lnSpc>
            </a:pPr>
            <a:r>
              <a:rPr sz="860" b="0" i="0">
                <a:solidFill>
                  <a:srgbClr val="44546A"/>
                </a:solidFill>
                <a:latin typeface="Calibri"/>
              </a:rPr>
              <a:t>penetration at ₹74,999; rivals match, margin settles lower</a:t>
            </a:r>
          </a:p>
        </p:txBody>
      </p:sp>
      <p:sp>
        <p:nvSpPr>
          <p:cNvPr id="68" name="TextBox 67"/>
          <p:cNvSpPr txBox="1"/>
          <p:nvPr/>
        </p:nvSpPr>
        <p:spPr>
          <a:xfrm>
            <a:off x="7059168" y="4924961"/>
            <a:ext cx="859536" cy="182880"/>
          </a:xfrm>
          <a:prstGeom prst="rect">
            <a:avLst/>
          </a:prstGeom>
          <a:noFill/>
        </p:spPr>
        <p:txBody>
          <a:bodyPr wrap="square" lIns="0" rIns="0" tIns="0" bIns="0" anchor="t">
            <a:noAutofit/>
          </a:bodyPr>
          <a:lstStyle/>
          <a:p>
            <a:pPr algn="l">
              <a:lnSpc>
                <a:spcPct val="115000"/>
              </a:lnSpc>
            </a:pPr>
            <a:r>
              <a:rPr sz="860" b="1" i="0">
                <a:solidFill>
                  <a:srgbClr val="12263F"/>
                </a:solidFill>
                <a:latin typeface="Calibri"/>
              </a:rPr>
              <a:t>Capital</a:t>
            </a:r>
          </a:p>
        </p:txBody>
      </p:sp>
      <p:sp>
        <p:nvSpPr>
          <p:cNvPr id="69" name="TextBox 68"/>
          <p:cNvSpPr txBox="1"/>
          <p:nvPr/>
        </p:nvSpPr>
        <p:spPr>
          <a:xfrm>
            <a:off x="7973568" y="4924961"/>
            <a:ext cx="3559759" cy="138141"/>
          </a:xfrm>
          <a:prstGeom prst="rect">
            <a:avLst/>
          </a:prstGeom>
          <a:noFill/>
        </p:spPr>
        <p:txBody>
          <a:bodyPr wrap="square" lIns="0" rIns="0" tIns="0" bIns="0" anchor="t">
            <a:noAutofit/>
          </a:bodyPr>
          <a:lstStyle/>
          <a:p>
            <a:pPr algn="l">
              <a:lnSpc>
                <a:spcPct val="124000"/>
              </a:lnSpc>
            </a:pPr>
            <a:r>
              <a:rPr sz="860" b="0" i="0">
                <a:solidFill>
                  <a:srgbClr val="44546A"/>
                </a:solidFill>
                <a:latin typeface="Calibri"/>
              </a:rPr>
              <a:t>+₹50 cr NPV at 15% → IRR ≈ 21.3% → accept, in stages</a:t>
            </a:r>
          </a:p>
        </p:txBody>
      </p:sp>
      <p:sp>
        <p:nvSpPr>
          <p:cNvPr id="70" name="Rounded Rectangle 69"/>
          <p:cNvSpPr/>
          <p:nvPr/>
        </p:nvSpPr>
        <p:spPr>
          <a:xfrm>
            <a:off x="7059168" y="5300847"/>
            <a:ext cx="4474159" cy="914400"/>
          </a:xfrm>
          <a:prstGeom prst="roundRect">
            <a:avLst>
              <a:gd name="adj" fmla="val 4000"/>
            </a:avLst>
          </a:prstGeom>
          <a:solidFill>
            <a:srgbClr val="F7F9FC"/>
          </a:solidFill>
          <a:ln w="762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7223760" y="5300847"/>
            <a:ext cx="4144975" cy="914400"/>
          </a:xfrm>
          <a:prstGeom prst="rect">
            <a:avLst/>
          </a:prstGeom>
          <a:noFill/>
        </p:spPr>
        <p:txBody>
          <a:bodyPr wrap="square" lIns="0" rIns="0" tIns="0" bIns="0" anchor="t">
            <a:noAutofit/>
          </a:bodyPr>
          <a:lstStyle/>
          <a:p>
            <a:pPr algn="l">
              <a:lnSpc>
                <a:spcPct val="100000"/>
              </a:lnSpc>
            </a:pPr>
            <a:r>
              <a:rPr sz="700" b="1" i="0" spc="100">
                <a:solidFill>
                  <a:srgbClr val="2B6CB0"/>
                </a:solidFill>
                <a:latin typeface="Calibri"/>
              </a:rPr>
              <a:t>NOTE ON THE DATA</a:t>
            </a:r>
          </a:p>
          <a:p>
            <a:pPr algn="l">
              <a:lnSpc>
                <a:spcPct val="130000"/>
              </a:lnSpc>
              <a:spcBef>
                <a:spcPts val="400"/>
              </a:spcBef>
            </a:pPr>
            <a:r>
              <a:rPr sz="819" b="0" i="0">
                <a:solidFill>
                  <a:srgbClr val="44546A"/>
                </a:solidFill>
                <a:latin typeface="Calibri"/>
              </a:rPr>
              <a:t>Market shares are FY25 VAHAN-based industry estimates, used to establish the market structure — not to forecast our own volumes. The IRR is illustrative, since the brief supplies only the NPV at 15%.</a:t>
            </a:r>
          </a:p>
        </p:txBody>
      </p:sp>
      <p:cxnSp>
        <p:nvCxnSpPr>
          <p:cNvPr id="72" name="Connector 71"/>
          <p:cNvCxnSpPr/>
          <p:nvPr/>
        </p:nvCxnSpPr>
        <p:spPr>
          <a:xfrm>
            <a:off x="658368" y="6382512"/>
            <a:ext cx="10874959" cy="0"/>
          </a:xfrm>
          <a:prstGeom prst="line">
            <a:avLst/>
          </a:prstGeom>
          <a:ln w="9525">
            <a:solidFill>
              <a:srgbClr val="DCE3EC"/>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58368" y="6473952"/>
            <a:ext cx="1335024" cy="164592"/>
          </a:xfrm>
          <a:prstGeom prst="rect">
            <a:avLst/>
          </a:prstGeom>
          <a:noFill/>
        </p:spPr>
        <p:txBody>
          <a:bodyPr wrap="square" lIns="0" rIns="0" tIns="0" bIns="0" anchor="t">
            <a:noAutofit/>
          </a:bodyPr>
          <a:lstStyle/>
          <a:p>
            <a:pPr algn="l">
              <a:lnSpc>
                <a:spcPct val="100000"/>
              </a:lnSpc>
            </a:pPr>
            <a:r>
              <a:rPr sz="819" b="1" i="0" spc="40">
                <a:solidFill>
                  <a:srgbClr val="12263F"/>
                </a:solidFill>
                <a:latin typeface="Calibri"/>
              </a:rPr>
              <a:t>J GANESH KUMAR REDDY</a:t>
            </a:r>
          </a:p>
        </p:txBody>
      </p:sp>
      <p:sp>
        <p:nvSpPr>
          <p:cNvPr id="74" name="TextBox 73"/>
          <p:cNvSpPr txBox="1"/>
          <p:nvPr/>
        </p:nvSpPr>
        <p:spPr>
          <a:xfrm>
            <a:off x="2029968" y="6473952"/>
            <a:ext cx="749808" cy="164592"/>
          </a:xfrm>
          <a:prstGeom prst="rect">
            <a:avLst/>
          </a:prstGeom>
          <a:noFill/>
        </p:spPr>
        <p:txBody>
          <a:bodyPr wrap="square" lIns="0" rIns="0" tIns="0" bIns="0" anchor="t">
            <a:noAutofit/>
          </a:bodyPr>
          <a:lstStyle/>
          <a:p>
            <a:pPr algn="l">
              <a:lnSpc>
                <a:spcPct val="100000"/>
              </a:lnSpc>
            </a:pPr>
            <a:r>
              <a:rPr sz="819" b="0" i="0">
                <a:solidFill>
                  <a:srgbClr val="7B8B9E"/>
                </a:solidFill>
                <a:latin typeface="Calibri"/>
              </a:rPr>
              <a:t>·  23BDS024</a:t>
            </a:r>
          </a:p>
        </p:txBody>
      </p:sp>
      <p:sp>
        <p:nvSpPr>
          <p:cNvPr id="75" name="TextBox 74"/>
          <p:cNvSpPr txBox="1"/>
          <p:nvPr/>
        </p:nvSpPr>
        <p:spPr>
          <a:xfrm>
            <a:off x="4526280" y="6473952"/>
            <a:ext cx="3127248" cy="164592"/>
          </a:xfrm>
          <a:prstGeom prst="rect">
            <a:avLst/>
          </a:prstGeom>
          <a:noFill/>
        </p:spPr>
        <p:txBody>
          <a:bodyPr wrap="square" lIns="0" rIns="0" tIns="0" bIns="0" anchor="t">
            <a:noAutofit/>
          </a:bodyPr>
          <a:lstStyle/>
          <a:p>
            <a:pPr algn="ctr">
              <a:lnSpc>
                <a:spcPct val="100000"/>
              </a:lnSpc>
            </a:pPr>
            <a:r>
              <a:rPr sz="760" b="0" i="0">
                <a:solidFill>
                  <a:srgbClr val="7B8B9E"/>
                </a:solidFill>
                <a:latin typeface="Calibri"/>
              </a:rPr>
              <a:t>Managerial Economics  ·  Zenith-V Case Study  ·  IIIT Dharwad</a:t>
            </a:r>
          </a:p>
        </p:txBody>
      </p:sp>
      <p:sp>
        <p:nvSpPr>
          <p:cNvPr id="76" name="TextBox 75"/>
          <p:cNvSpPr txBox="1"/>
          <p:nvPr/>
        </p:nvSpPr>
        <p:spPr>
          <a:xfrm>
            <a:off x="10527487" y="6473952"/>
            <a:ext cx="1005840" cy="164592"/>
          </a:xfrm>
          <a:prstGeom prst="rect">
            <a:avLst/>
          </a:prstGeom>
          <a:noFill/>
        </p:spPr>
        <p:txBody>
          <a:bodyPr wrap="square" lIns="0" rIns="0" tIns="0" bIns="0" anchor="t">
            <a:noAutofit/>
          </a:bodyPr>
          <a:lstStyle/>
          <a:p>
            <a:pPr algn="r">
              <a:lnSpc>
                <a:spcPct val="100000"/>
              </a:lnSpc>
            </a:pPr>
            <a:r>
              <a:rPr sz="780" b="1" i="0">
                <a:solidFill>
                  <a:srgbClr val="7B8B9E"/>
                </a:solidFill>
                <a:latin typeface="Calibri"/>
              </a:rPr>
              <a:t>Page 9 of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Zenith-V Launch Decision</dc:title>
  <dc:subject>Managerial Economics case study — IIIT Dharwad</dc:subject>
  <dc:creator>J Ganesh Kumar Reddy (23BDS024)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