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 GANESH KUMAR REDDY 23BDS024 — IIIT Dharwad | Submitted to Dr. K. T. Deepak] Slide 1 introduces the Zenith-V EV Scooter Launch presentation by J GANESH KUMAR REDDY 23BDS024, submitted to Dr. K. T. Deepak, Associate Dean, IIIT Dharwad.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 GANESH KUMAR REDDY 23BDS024 — IIIT Dharwad | Submitted to Dr. K. T. Deepak] Slide 2 explains why the Indian EV scooter market is an Oligopoly using Session 4 Market DNA and Session 3 Economies of Scale (Tesla Gigafactory parallel).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 GANESH KUMAR REDDY 23BDS024 — IIIT Dharwad | Submitted to Dr. K. T. Deepak] Slide 3 explains Session 2 Demand Curve Shift and Cross-Price Elasticity of Demand (Exy) for both Petrol (Exy &gt; 0) and EV Charging Complements (Exy &lt;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 GANESH KUMAR REDDY 23BDS024 — IIIT Dharwad | Submitted to Dr. K. T. Deepak] Slide 4 justifies Penetration Pricing at ₹79,999 using Session 5 (Warren Buffett value principle &amp; elasticity), Session 6 (Break-Even at 1,00,000 units where TR = TC = ₹800 Cr, Margin of Safety, Economic Profit), and Session 3 (Tesla Gigafactory Economies of Scale).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 GANESH KUMAR REDDY 23BDS024 — IIIT Dharwad | Submitted to Dr. K. T. Deepak] Slide 5 applies Session 7 Game Theory: Strategic Interdependence (Reliance Jio parallel), Sweezy's Kinked Demand Curve, Dominant Strategy, Prisoner's Dilemma, and Nash Equilibrium.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 GANESH KUMAR REDDY 23BDS024 — IIIT Dharwad | Submitted to Dr. K. T. Deepak] Slide 6 deduces IRR &gt; 15% (~23.0%) from NPV = +₹50 Cr @ 15% (Session 9) and distinguishes Measurable Risk (Expected Value, Insurance, Contingency, Parallel Execution) from Unmeasurable Uncertainty (Maximin, Minimax Regret) per Session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 GANESH KUMAR REDDY 23BDS024 — IIIT Dharwad | Submitted to Dr. K. T. Deepak] Slide 7 synthesizes all 3 project tasks across Sessions 1–9 and presents the final recommendation by J GANESH KUMAR REDDY 23BDS024 to Dr. K. T. Deepak, IIIT Dharwad.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09728"/>
            <a:ext cx="7498079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DejaVu Sans"/>
              </a:rPr>
              <a:t>INDIAN INSTITUTE OF INFORMATION TECHNOLOGY (IIIT) DHARWAD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438912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AE6FD"/>
                </a:solidFill>
                <a:latin typeface="DejaVu Sans"/>
              </a:rPr>
              <a:t>Course Assignment: Managerial Economics (Recorded Sessions 1–9)  •  Ittigatti Road, Dharwad - 580009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"/>
            <a:ext cx="3822191" cy="603504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137160"/>
            <a:ext cx="3712463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>
                <a:solidFill>
                  <a:srgbClr val="93C5FD"/>
                </a:solidFill>
                <a:latin typeface="DejaVu Sans"/>
              </a:rPr>
              <a:t>STUDENT NAME &amp; REGISTER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583" y="347472"/>
            <a:ext cx="3712463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024128"/>
            <a:ext cx="690372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024128"/>
            <a:ext cx="690372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170432"/>
            <a:ext cx="653796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365D"/>
                </a:solidFill>
                <a:latin typeface="DejaVu Sans"/>
              </a:rPr>
              <a:t>The "Zenith-V" EV Scooter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627632"/>
            <a:ext cx="6537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2563EB"/>
                </a:solidFill>
                <a:latin typeface="DejaVu Sans"/>
              </a:rPr>
              <a:t>Market &amp; Demand Analysis, Game-Theoretic Pricing &amp; ₹200 Cr Capital Budgeting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1975104"/>
            <a:ext cx="65379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066543"/>
            <a:ext cx="6565392" cy="1645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450"/>
              </a:spcAft>
            </a:pPr>
            <a:r>
              <a:rPr sz="950" b="1">
                <a:solidFill>
                  <a:srgbClr val="1B365D"/>
                </a:solidFill>
                <a:latin typeface="DejaVu Sans"/>
              </a:rPr>
              <a:t>• Role &amp; Company: </a:t>
            </a:r>
            <a:r>
              <a:rPr sz="950" b="0">
                <a:solidFill>
                  <a:srgbClr val="334155"/>
                </a:solidFill>
                <a:latin typeface="DejaVu Sans"/>
              </a:rPr>
              <a:t>Senior Analyst at E-Mobility India, an EV startup in Bengaluru launching flagship scooter 'Zenith-V'.</a:t>
            </a:r>
          </a:p>
          <a:p>
            <a:pPr algn="l">
              <a:spcAft>
                <a:spcPts val="450"/>
              </a:spcAft>
            </a:pPr>
            <a:r>
              <a:rPr sz="950" b="1">
                <a:solidFill>
                  <a:srgbClr val="1B365D"/>
                </a:solidFill>
                <a:latin typeface="DejaVu Sans"/>
              </a:rPr>
              <a:t>• Task 1 — Market &amp; Demand (Sessions 2 &amp; 4): </a:t>
            </a:r>
            <a:r>
              <a:rPr sz="950" b="0">
                <a:solidFill>
                  <a:srgbClr val="334155"/>
                </a:solidFill>
                <a:latin typeface="DejaVu Sans"/>
              </a:rPr>
              <a:t>Indian EV scooter Oligopoly (Ola, Ather, TVS) &amp; Cross-Price Elasticity of petrol and charging complements.</a:t>
            </a:r>
          </a:p>
          <a:p>
            <a:pPr algn="l">
              <a:spcAft>
                <a:spcPts val="450"/>
              </a:spcAft>
            </a:pPr>
            <a:r>
              <a:rPr sz="950" b="1">
                <a:solidFill>
                  <a:srgbClr val="1B365D"/>
                </a:solidFill>
                <a:latin typeface="DejaVu Sans"/>
              </a:rPr>
              <a:t>• Task 2 — Pricing &amp; Game Theory (Sessions 5–7): </a:t>
            </a:r>
            <a:r>
              <a:rPr sz="950" b="0">
                <a:solidFill>
                  <a:srgbClr val="334155"/>
                </a:solidFill>
                <a:latin typeface="DejaVu Sans"/>
              </a:rPr>
              <a:t>Unit cost = ₹60,000; Penetration Pricing (₹79,999) vs. Price Skimming, Break-Even (1,00,000 units), and Strategic Interdependence.</a:t>
            </a:r>
          </a:p>
          <a:p>
            <a:pPr algn="l"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DejaVu Sans"/>
              </a:rPr>
              <a:t>• Task 3 — Capital Budgeting &amp; Risk (Sessions 8–9): </a:t>
            </a:r>
            <a:r>
              <a:rPr sz="950" b="0">
                <a:solidFill>
                  <a:srgbClr val="334155"/>
                </a:solidFill>
                <a:latin typeface="DejaVu Sans"/>
              </a:rPr>
              <a:t>₹200 Crore Chennai plant with NPV = +₹50 Cr @ 15% discount rate; IRR deduction and Measurable Risk vs. Uncertainty.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" y="3767328"/>
            <a:ext cx="6537960" cy="1060704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22191"/>
            <a:ext cx="62636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365D"/>
                </a:solidFill>
                <a:latin typeface="DejaVu Sans"/>
              </a:rPr>
              <a:t>Submitted By:  J GANESH KUMAR REDDY 23BDS024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133087"/>
            <a:ext cx="6263640" cy="6217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4155"/>
                </a:solidFill>
                <a:latin typeface="DejaVu Sans"/>
              </a:rPr>
              <a:t>Submitted To:  Dr. K. T. Deepak, Associate Dean (Innovation, Entrepreneurship and IDRP)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334155"/>
                </a:solidFill>
                <a:latin typeface="DejaVu Sans"/>
              </a:rPr>
              <a:t>Institution:  IIIT (Triple-IT) Dharwad, Ittigatti Road, Near Sattur Colony, Dharwad - 580009 (www.iiitdwd.ac.in)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8352" y="1024128"/>
            <a:ext cx="448056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8352" y="1024128"/>
            <a:ext cx="4480560" cy="32918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069848"/>
            <a:ext cx="4261104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1. Case Study Key Financial &amp; Market 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1408176"/>
            <a:ext cx="4297680" cy="151790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5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Market Structure: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Oligopoly (Ola, TVS, Bajaj, Ather = 83% share)</a:t>
            </a:r>
          </a:p>
          <a:p>
            <a:pPr algn="l">
              <a:spcAft>
                <a:spcPts val="35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Unit Manufacturing Cost: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₹60,000 per Zenith-V scooter (explicit VC)</a:t>
            </a:r>
          </a:p>
          <a:p>
            <a:pPr algn="l">
              <a:spcAft>
                <a:spcPts val="35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Recommended Launch Price: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₹79,999 Penetration Price (+₹20,000 margin)</a:t>
            </a:r>
          </a:p>
          <a:p>
            <a:pPr algn="l">
              <a:spcAft>
                <a:spcPts val="35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Chennai Plant Investment: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₹200 Crore Fixed Outlay (Break-Even = 100k units)</a:t>
            </a:r>
          </a:p>
          <a:p>
            <a:pPr algn="l">
              <a:spcAft>
                <a:spcPts val="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Expected NPV @ r = 15%: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+₹50 Crore (PV Inflows = ₹250 Cr ⇒ IRR ≈ 23.0%)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3054096"/>
            <a:ext cx="44805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8352" y="3054096"/>
            <a:ext cx="4480560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3099815"/>
            <a:ext cx="4261104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2. IIIT Dharwad Recorded Sessions 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438144"/>
            <a:ext cx="4297680" cy="14996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250"/>
              </a:spcAft>
            </a:pPr>
            <a:r>
              <a:rPr sz="860" b="1">
                <a:solidFill>
                  <a:srgbClr val="1B365D"/>
                </a:solidFill>
                <a:latin typeface="DejaVu Sans"/>
              </a:rPr>
              <a:t>Sessions 2–4: </a:t>
            </a:r>
            <a:r>
              <a:rPr sz="860" b="0">
                <a:solidFill>
                  <a:srgbClr val="334155"/>
                </a:solidFill>
                <a:latin typeface="DejaVu Sans"/>
              </a:rPr>
              <a:t>Demand Shift, Cross-Elasticity, Scale, Market DNA</a:t>
            </a:r>
          </a:p>
          <a:p>
            <a:pPr algn="l">
              <a:spcAft>
                <a:spcPts val="250"/>
              </a:spcAft>
            </a:pPr>
            <a:r>
              <a:rPr sz="860" b="1">
                <a:solidFill>
                  <a:srgbClr val="1B365D"/>
                </a:solidFill>
                <a:latin typeface="DejaVu Sans"/>
              </a:rPr>
              <a:t>Session 5 (Pricing): </a:t>
            </a:r>
            <a:r>
              <a:rPr sz="860" b="0">
                <a:solidFill>
                  <a:srgbClr val="334155"/>
                </a:solidFill>
                <a:latin typeface="DejaVu Sans"/>
              </a:rPr>
              <a:t>Penetration vs. Skimming &amp; Buffett's Value Rule</a:t>
            </a:r>
          </a:p>
          <a:p>
            <a:pPr algn="l">
              <a:spcAft>
                <a:spcPts val="250"/>
              </a:spcAft>
            </a:pPr>
            <a:r>
              <a:rPr sz="860" b="1">
                <a:solidFill>
                  <a:srgbClr val="1B365D"/>
                </a:solidFill>
                <a:latin typeface="DejaVu Sans"/>
              </a:rPr>
              <a:t>Session 6 (Profit): </a:t>
            </a:r>
            <a:r>
              <a:rPr sz="860" b="0">
                <a:solidFill>
                  <a:srgbClr val="334155"/>
                </a:solidFill>
                <a:latin typeface="DejaVu Sans"/>
              </a:rPr>
              <a:t>Accounting/Economic Profit &amp; Break-Even (TR=TC)</a:t>
            </a:r>
          </a:p>
          <a:p>
            <a:pPr algn="l">
              <a:spcAft>
                <a:spcPts val="250"/>
              </a:spcAft>
            </a:pPr>
            <a:r>
              <a:rPr sz="860" b="1">
                <a:solidFill>
                  <a:srgbClr val="1B365D"/>
                </a:solidFill>
                <a:latin typeface="DejaVu Sans"/>
              </a:rPr>
              <a:t>Session 7 (Game Theory): </a:t>
            </a:r>
            <a:r>
              <a:rPr sz="860" b="0">
                <a:solidFill>
                  <a:srgbClr val="334155"/>
                </a:solidFill>
                <a:latin typeface="DejaVu Sans"/>
              </a:rPr>
              <a:t>Strategic Interdependence (Jio) &amp; Nash Eq.</a:t>
            </a:r>
          </a:p>
          <a:p>
            <a:pPr algn="l">
              <a:spcAft>
                <a:spcPts val="0"/>
              </a:spcAft>
            </a:pPr>
            <a:r>
              <a:rPr sz="860" b="1">
                <a:solidFill>
                  <a:srgbClr val="1B365D"/>
                </a:solidFill>
                <a:latin typeface="DejaVu Sans"/>
              </a:rPr>
              <a:t>Sessions 8–9 (Risk &amp; CapEx): </a:t>
            </a:r>
            <a:r>
              <a:rPr sz="860" b="0">
                <a:solidFill>
                  <a:srgbClr val="334155"/>
                </a:solidFill>
                <a:latin typeface="DejaVu Sans"/>
              </a:rPr>
              <a:t>Risk vs. Uncertainty, NPV, IRR &amp; Fiscal Policy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" y="5084064"/>
            <a:ext cx="11539728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138928"/>
            <a:ext cx="11247120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PRESENTATION STRUCTURE (7 SLIDES AS REQUIRED BY PROJECT RUBRIC — 100 MARKS):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5394960"/>
          <a:ext cx="11283692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956"/>
                <a:gridCol w="1611956"/>
                <a:gridCol w="1611956"/>
                <a:gridCol w="1611956"/>
                <a:gridCol w="1611956"/>
                <a:gridCol w="1611956"/>
                <a:gridCol w="1611956"/>
              </a:tblGrid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Slide 1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Slide 2 (25M)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Slide 3 (25M)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Slide 4 (30M)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Slide 5 (30M)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Slide 6 (35M)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Slide 7 (10M)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Title &amp; Case 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Market Structure (Oligopoly DNA)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Demand &amp; Petrol Elasticity (Exy)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Penetration Pricing &amp; Break-Even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Competitor Reaction &amp; Game Theory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Capital Budgeting (NPV, IRR, Risk)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Final Verdict &amp; Conclusion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6556248"/>
            <a:ext cx="41148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CBD5E1"/>
                </a:solidFill>
                <a:latin typeface="DejaVu Sans"/>
              </a:rPr>
              <a:t>The "Zenith-V" EV Scooter Launch • E-Mobility India (Bengaluru)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547104"/>
            <a:ext cx="3749039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7DD3FC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6556248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DejaVu Sans"/>
              </a:rPr>
              <a:t>IIIT Dharwad (www.iiitdwd.ac.in)  |  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73152"/>
            <a:ext cx="76352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Slide 2: Market Structure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48056"/>
            <a:ext cx="7589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AE6FD"/>
                </a:solidFill>
                <a:latin typeface="DejaVu Sans"/>
              </a:rPr>
              <a:t>Task 1A &amp; Session 4 (Market DNA): Why the Indian EV Scooter Market is an Oligopoly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91440"/>
            <a:ext cx="3858768" cy="603504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118872"/>
            <a:ext cx="3749039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>
                <a:solidFill>
                  <a:srgbClr val="93C5FD"/>
                </a:solidFill>
                <a:latin typeface="DejaVu Sans"/>
              </a:rPr>
              <a:t>IIIT DHARWAD • DR. K. T. DEEPAK (SESSIONS 1–9)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583" y="338328"/>
            <a:ext cx="374903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6556248"/>
            <a:ext cx="41148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CBD5E1"/>
                </a:solidFill>
                <a:latin typeface="DejaVu Sans"/>
              </a:rPr>
              <a:t>The "Zenith-V" EV Scooter Launch • E-Mobility India (Bengaluru)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6547104"/>
            <a:ext cx="3749039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7DD3FC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6556248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DejaVu Sans"/>
              </a:rPr>
              <a:t>IIIT Dharwad (www.iiitdwd.ac.in)  |  Slide 2 of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" y="914400"/>
            <a:ext cx="11539728" cy="493776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960120"/>
            <a:ext cx="11283696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DejaVu Sans"/>
              </a:rPr>
              <a:t>Core Answer (Session 4 Market DNA): A market structure is defined by competitor count, product nature, and entry barriers. The Indian EV scooter market is an OLIGOPOLY because 4 dominant firms (Ola Electric, TVS, Bajaj, Ather = 83% share) control supply behind high capital barriers.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1499616"/>
            <a:ext cx="5596128" cy="48646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1499616"/>
            <a:ext cx="5596128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545336"/>
            <a:ext cx="537667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Key Characteristics of Oligopoly Present in the Zenith-V 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" y="1883664"/>
            <a:ext cx="5413248" cy="444398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750"/>
              </a:spcAft>
            </a:pPr>
            <a:r>
              <a:rPr sz="960" b="1">
                <a:solidFill>
                  <a:srgbClr val="1B365D"/>
                </a:solidFill>
                <a:latin typeface="DejaVu Sans"/>
              </a:rPr>
              <a:t>1. Few Dominant Sellers (High Concentration — CR4 = 83%): </a:t>
            </a:r>
            <a:r>
              <a:rPr sz="960" b="0">
                <a:solidFill>
                  <a:srgbClr val="334155"/>
                </a:solidFill>
                <a:latin typeface="DejaVu Sans"/>
              </a:rPr>
              <a:t>Instead of hundreds of tiny sellers, top 4 players — Ola Electric (~34%), TVS (~21%), Bajaj (~16%), and Ather (~12%) — control ~83% of India's EV scooter sales, giving each major firm significant market power.</a:t>
            </a:r>
          </a:p>
          <a:p>
            <a:pPr algn="l">
              <a:spcAft>
                <a:spcPts val="750"/>
              </a:spcAft>
            </a:pPr>
            <a:r>
              <a:rPr sz="960" b="1">
                <a:solidFill>
                  <a:srgbClr val="1B365D"/>
                </a:solidFill>
                <a:latin typeface="DejaVu Sans"/>
              </a:rPr>
              <a:t>2. High Barriers to Entry &amp; Economies of Scale (Session 3): </a:t>
            </a:r>
            <a:r>
              <a:rPr sz="960" b="0">
                <a:solidFill>
                  <a:srgbClr val="334155"/>
                </a:solidFill>
                <a:latin typeface="DejaVu Sans"/>
              </a:rPr>
              <a:t>Directly illustrated in our case by the massive ₹200 Crore capital investment required to build the Chennai manufacturing plant. Just like the Tesla Gigafactory (Session 3), large plants achieve lower Long-Run Average Cost (LRAC), while battery BMS R&amp;D and AIS-156 safety norms deter small entrants.</a:t>
            </a:r>
          </a:p>
          <a:p>
            <a:pPr algn="l">
              <a:spcAft>
                <a:spcPts val="750"/>
              </a:spcAft>
            </a:pPr>
            <a:r>
              <a:rPr sz="960" b="1">
                <a:solidFill>
                  <a:srgbClr val="1B365D"/>
                </a:solidFill>
                <a:latin typeface="DejaVu Sans"/>
              </a:rPr>
              <a:t>3. Strategic Interdependence (Session 7): </a:t>
            </a:r>
            <a:r>
              <a:rPr sz="960" b="0">
                <a:solidFill>
                  <a:srgbClr val="334155"/>
                </a:solidFill>
                <a:latin typeface="DejaVu Sans"/>
              </a:rPr>
              <a:t>Firms cannot set prices independently. E-Mobility India's choice between Penetration Pricing and Price Skimming directly impacts Ola and Ather's market shares and triggers immediate competitive counter-moves.</a:t>
            </a:r>
          </a:p>
          <a:p>
            <a:pPr algn="l">
              <a:spcAft>
                <a:spcPts val="0"/>
              </a:spcAft>
            </a:pPr>
            <a:r>
              <a:rPr sz="960" b="1">
                <a:solidFill>
                  <a:srgbClr val="1B365D"/>
                </a:solidFill>
                <a:latin typeface="DejaVu Sans"/>
              </a:rPr>
              <a:t>4. Differentiated Products (Differentiated Oligopoly): </a:t>
            </a:r>
            <a:r>
              <a:rPr sz="960" b="0">
                <a:solidFill>
                  <a:srgbClr val="334155"/>
                </a:solidFill>
                <a:latin typeface="DejaVu Sans"/>
              </a:rPr>
              <a:t>While all firms sell electric 2-wheelers, they differentiate via battery range, smart dashboard UI, 8-year warranties, and proprietary charging networks (Ather Grid, Ola Hypercharger).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1499616"/>
            <a:ext cx="5797296" cy="29626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1499616"/>
            <a:ext cx="5797296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art1_oligopo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591056"/>
            <a:ext cx="5614416" cy="276042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71616" y="4572000"/>
            <a:ext cx="5797296" cy="17922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4626864"/>
            <a:ext cx="554126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SESSION 4 MARKET DNA COMPARISON: WHY OLIGOPOLY FITS BEST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99632" y="4882896"/>
          <a:ext cx="554126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/>
                <a:gridCol w="1188720"/>
                <a:gridCol w="1920240"/>
                <a:gridCol w="1170432"/>
              </a:tblGrid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Market DNA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Perfect Comp.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EV Oligopoly (Zenith-V)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Monopoly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334155"/>
                          </a:solidFill>
                          <a:latin typeface="DejaVu Sans"/>
                        </a:rPr>
                        <a:t>Number of Sellers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334155"/>
                          </a:solidFill>
                          <a:latin typeface="DejaVu Sans"/>
                        </a:rPr>
                        <a:t>Many Small Firms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2563EB"/>
                          </a:solidFill>
                          <a:latin typeface="DejaVu Sans"/>
                        </a:rPr>
                        <a:t>Few Dominant (Ola, Ather, TVS)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334155"/>
                          </a:solidFill>
                          <a:latin typeface="DejaVu Sans"/>
                        </a:rPr>
                        <a:t>Single Seller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334155"/>
                          </a:solidFill>
                          <a:latin typeface="DejaVu Sans"/>
                        </a:rPr>
                        <a:t>Entry Barriers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334155"/>
                          </a:solidFill>
                          <a:latin typeface="DejaVu Sans"/>
                        </a:rPr>
                        <a:t>None (Free Entry)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2563EB"/>
                          </a:solidFill>
                          <a:latin typeface="DejaVu Sans"/>
                        </a:rPr>
                        <a:t>Very High (₹200 Cr Plant Capex)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334155"/>
                          </a:solidFill>
                          <a:latin typeface="DejaVu Sans"/>
                        </a:rPr>
                        <a:t>Absolute Block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334155"/>
                          </a:solidFill>
                          <a:latin typeface="DejaVu Sans"/>
                        </a:rPr>
                        <a:t>Pricing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334155"/>
                          </a:solidFill>
                          <a:latin typeface="DejaVu Sans"/>
                        </a:rPr>
                        <a:t>Price Taker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2563EB"/>
                          </a:solidFill>
                          <a:latin typeface="DejaVu Sans"/>
                        </a:rPr>
                        <a:t>Interdependent (Game Theory)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334155"/>
                          </a:solidFill>
                          <a:latin typeface="DejaVu Sans"/>
                        </a:rPr>
                        <a:t>Price Maker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73152"/>
            <a:ext cx="76352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Slide 3: Demand &amp; Elasticity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48056"/>
            <a:ext cx="7589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AE6FD"/>
                </a:solidFill>
                <a:latin typeface="DejaVu Sans"/>
              </a:rPr>
              <a:t>Task 1B &amp; Session 2: How Petrol &amp; Complement Prices Shift Zenith-V Demand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91440"/>
            <a:ext cx="3858768" cy="603504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118872"/>
            <a:ext cx="3749039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>
                <a:solidFill>
                  <a:srgbClr val="93C5FD"/>
                </a:solidFill>
                <a:latin typeface="DejaVu Sans"/>
              </a:rPr>
              <a:t>IIIT DHARWAD • DR. K. T. DEEPAK (SESSIONS 1–9)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583" y="338328"/>
            <a:ext cx="374903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6556248"/>
            <a:ext cx="41148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CBD5E1"/>
                </a:solidFill>
                <a:latin typeface="DejaVu Sans"/>
              </a:rPr>
              <a:t>The "Zenith-V" EV Scooter Launch • E-Mobility India (Bengaluru)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6547104"/>
            <a:ext cx="3749039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7DD3FC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6556248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DejaVu Sans"/>
              </a:rPr>
              <a:t>IIIT Dharwad (www.iiitdwd.ac.in)  |  Slide 3 of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" y="914400"/>
            <a:ext cx="11539728" cy="493776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960120"/>
            <a:ext cx="11283696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B365D"/>
                </a:solidFill>
                <a:latin typeface="DejaVu Sans"/>
              </a:rPr>
              <a:t>Causal Mechanism (Session 2): Petrol Price Rises (&gt;₹100/L)  ⇒  ICE Scooter Running Cost Rises (~₹2.45/km vs. ₹0.25/km for EV)  ⇒  Demand for ICE Scooters Falls  ⇒  Commuters Switch to Substitute Zenith-V (Rightward Demand Curve Shift D1 → D2).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1499616"/>
            <a:ext cx="5596128" cy="2450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1499616"/>
            <a:ext cx="5596128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545336"/>
            <a:ext cx="537667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1. How Petrol Prices Affect Zenith-V Demand (Exy &gt;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" y="1883664"/>
            <a:ext cx="5413248" cy="202996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450"/>
              </a:spcAft>
            </a:pPr>
            <a:r>
              <a:rPr sz="930" b="1">
                <a:solidFill>
                  <a:srgbClr val="1B365D"/>
                </a:solidFill>
                <a:latin typeface="DejaVu Sans"/>
              </a:rPr>
              <a:t>Concept Illustrated (Session 2): </a:t>
            </a:r>
            <a:r>
              <a:rPr sz="930" b="0">
                <a:solidFill>
                  <a:srgbClr val="334155"/>
                </a:solidFill>
                <a:latin typeface="DejaVu Sans"/>
              </a:rPr>
              <a:t>Cross-Price Elasticity of Demand (Exy = %ΔQd of Good X ÷ %ΔP of Good Y) and a Rightward Shift of the Demand Curve (vs. movement along the curve).</a:t>
            </a:r>
          </a:p>
          <a:p>
            <a:pPr algn="l">
              <a:spcAft>
                <a:spcPts val="450"/>
              </a:spcAft>
            </a:pPr>
            <a:r>
              <a:rPr sz="930" b="1">
                <a:solidFill>
                  <a:srgbClr val="1B365D"/>
                </a:solidFill>
                <a:latin typeface="DejaVu Sans"/>
              </a:rPr>
              <a:t>Positive Cross-Price Elasticity (Exy &gt; 0 — Substitutes): </a:t>
            </a:r>
            <a:r>
              <a:rPr sz="930" b="0">
                <a:solidFill>
                  <a:srgbClr val="334155"/>
                </a:solidFill>
                <a:latin typeface="DejaVu Sans"/>
              </a:rPr>
              <a:t>Petrol (ICE) scooters and Zenith-V EV scooters are substitutes. When petrol prices rise, total cost of owning an ICE scooter rises, shifting the entire Zenith-V demand curve rightward (D1 → D2) at every price level.</a:t>
            </a:r>
          </a:p>
          <a:p>
            <a:pPr algn="l">
              <a:spcAft>
                <a:spcPts val="0"/>
              </a:spcAft>
            </a:pPr>
            <a:r>
              <a:rPr sz="930" b="1">
                <a:solidFill>
                  <a:srgbClr val="1B365D"/>
                </a:solidFill>
                <a:latin typeface="DejaVu Sans"/>
              </a:rPr>
              <a:t>90% Operating Cost Advantage: </a:t>
            </a:r>
            <a:r>
              <a:rPr sz="930" b="0">
                <a:solidFill>
                  <a:srgbClr val="334155"/>
                </a:solidFill>
                <a:latin typeface="DejaVu Sans"/>
              </a:rPr>
              <a:t>Zenith-V costs ~₹0.25/km to run on electricity vs. ~₹2.45/km on petrol, saving daily commuters ₹25,000–₹30,000 per year.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" y="4059936"/>
            <a:ext cx="5596128" cy="230428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" y="4059936"/>
            <a:ext cx="5596128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4105656"/>
            <a:ext cx="537667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2. Impact of a Complement's Price on Demand (Rubric Focus)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3" y="4443984"/>
            <a:ext cx="5413248" cy="188366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Complement Price Rule (Exy &lt; 0):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Complementary goods are used jointly — a rise in a complement's price reduces demand for the primary good (Negative Cross-Price Elasticity).</a:t>
            </a:r>
          </a:p>
          <a:p>
            <a:pPr algn="l">
              <a:spcAft>
                <a:spcPts val="40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A. Petrol as a Complement to ICE Scooters: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Petrol is a direct complement to ICE scooters (Exy &lt; 0). Higher petrol prices reduce ICE scooter demand, pushing buyers to our substitute Zenith-V.</a:t>
            </a:r>
          </a:p>
          <a:p>
            <a:pPr algn="l">
              <a:spcAft>
                <a:spcPts val="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B. Electricity &amp; Chargers as Complements to Zenith-V: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Domestic EV power tariffs, home chargers, and fast-charging grids are direct complements to Zenith-V (Exy &lt; 0): lower charging costs directly increase Zenith-V demand.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71616" y="1499616"/>
            <a:ext cx="5797296" cy="29626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71616" y="1499616"/>
            <a:ext cx="579729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art2_cross_elast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591056"/>
            <a:ext cx="5614416" cy="2760421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071616" y="4572000"/>
            <a:ext cx="5797296" cy="17922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2" y="4626864"/>
            <a:ext cx="554126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SUMMARY OF CROSS-PRICE ELASTICITY (Exy) EFFECTS ON ZENITH-V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99632" y="4882896"/>
          <a:ext cx="554126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1353312"/>
                <a:gridCol w="1170432"/>
                <a:gridCol w="1719072"/>
              </a:tblGrid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FFFFFF"/>
                          </a:solidFill>
                          <a:latin typeface="DejaVu Sans"/>
                        </a:rPr>
                        <a:t>Related Good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FFFFFF"/>
                          </a:solidFill>
                          <a:latin typeface="DejaVu Sans"/>
                        </a:rPr>
                        <a:t>Economic Relation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FFFFFF"/>
                          </a:solidFill>
                          <a:latin typeface="DejaVu Sans"/>
                        </a:rPr>
                        <a:t>Elasticity (Exy)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FFFFFF"/>
                          </a:solidFill>
                          <a:latin typeface="DejaVu Sans"/>
                        </a:rPr>
                        <a:t>Impact on Zenith-V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334155"/>
                          </a:solidFill>
                          <a:latin typeface="DejaVu Sans"/>
                        </a:rPr>
                        <a:t>Petrol (ICE Fuel)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Complement to 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E11D48"/>
                          </a:solidFill>
                          <a:latin typeface="DejaVu Sans"/>
                        </a:rPr>
                        <a:t>Positive (Exy &gt;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↑ Petrol Price ⇒ ↑ EV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334155"/>
                          </a:solidFill>
                          <a:latin typeface="DejaVu Sans"/>
                        </a:rPr>
                        <a:t>EV Charging Power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Complement to EV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59669"/>
                          </a:solidFill>
                          <a:latin typeface="DejaVu Sans"/>
                        </a:rPr>
                        <a:t>Negative (Exy &lt; 0)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↓ Power Cost ⇒ ↑ EV Demand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334155"/>
                          </a:solidFill>
                          <a:latin typeface="DejaVu Sans"/>
                        </a:rPr>
                        <a:t>Rival Petrol Scooters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Direct Substitutes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563EB"/>
                          </a:solidFill>
                          <a:latin typeface="DejaVu Sans"/>
                        </a:rPr>
                        <a:t>Positive (Exy &gt;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334155"/>
                          </a:solidFill>
                          <a:latin typeface="DejaVu Sans"/>
                        </a:rPr>
                        <a:t>↑ ICE Price ⇒ ↑ EV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73152"/>
            <a:ext cx="76352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Slide 4: Recommended Pricing Strategy &amp;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48056"/>
            <a:ext cx="7589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AE6FD"/>
                </a:solidFill>
                <a:latin typeface="DejaVu Sans"/>
              </a:rPr>
              <a:t>Task 2A &amp; Sessions 5–6: Penetration Pricing (₹79,999), Value Perception &amp; Break-Even Profit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91440"/>
            <a:ext cx="3858768" cy="603504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118872"/>
            <a:ext cx="3749039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>
                <a:solidFill>
                  <a:srgbClr val="93C5FD"/>
                </a:solidFill>
                <a:latin typeface="DejaVu Sans"/>
              </a:rPr>
              <a:t>IIIT DHARWAD • DR. K. T. DEEPAK (SESSIONS 1–9)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583" y="338328"/>
            <a:ext cx="374903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6556248"/>
            <a:ext cx="41148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CBD5E1"/>
                </a:solidFill>
                <a:latin typeface="DejaVu Sans"/>
              </a:rPr>
              <a:t>The "Zenith-V" EV Scooter Launch • E-Mobility India (Bengaluru)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6547104"/>
            <a:ext cx="3749039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7DD3FC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6556248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DejaVu Sans"/>
              </a:rPr>
              <a:t>IIIT Dharwad (www.iiitdwd.ac.in)  |  Slide 4 of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" y="914400"/>
            <a:ext cx="11539728" cy="493776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960120"/>
            <a:ext cx="11283696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B365D"/>
                </a:solidFill>
                <a:latin typeface="DejaVu Sans"/>
              </a:rPr>
              <a:t>Strategic Advice (Sessions 5 &amp; 6): Adopt PENETRATION PRICING at ₹79,999 (over ₹60,000 unit manufacturing cost = +₹20,000 unit margin) and reject Price Skimming. This maximizes customer value perception, achieves Break-Even at 1,00,000 units, and scales the ₹200 Cr Chennai plant.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1499616"/>
            <a:ext cx="5596128" cy="48646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1499616"/>
            <a:ext cx="5596128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545336"/>
            <a:ext cx="537667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Economic Justification for Penetration Pricing (Sessions 3, 5 &amp; 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" y="1883664"/>
            <a:ext cx="5413248" cy="444398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650"/>
              </a:spcAft>
            </a:pPr>
            <a:r>
              <a:rPr sz="940" b="1">
                <a:solidFill>
                  <a:srgbClr val="1B365D"/>
                </a:solidFill>
                <a:latin typeface="DejaVu Sans"/>
              </a:rPr>
              <a:t>1. Value Perception &amp; Elasticity (Session 5 — Pricing Strategies): </a:t>
            </a:r>
            <a:r>
              <a:rPr sz="940" b="0">
                <a:solidFill>
                  <a:srgbClr val="334155"/>
                </a:solidFill>
                <a:latin typeface="DejaVu Sans"/>
              </a:rPr>
              <a:t>Per Warren Buffett's principle ('Price is what you pay; Value is what you get'), launching at ₹79,999 against Ola, Ather &amp; TVS (₹1.10L–₹1.45L) creates unmatched value perception among price-elastic Indian commuters (|Ep| &gt; 1.5).</a:t>
            </a:r>
          </a:p>
          <a:p>
            <a:pPr algn="l">
              <a:spcAft>
                <a:spcPts val="650"/>
              </a:spcAft>
            </a:pPr>
            <a:r>
              <a:rPr sz="940" b="1">
                <a:solidFill>
                  <a:srgbClr val="1B365D"/>
                </a:solidFill>
                <a:latin typeface="DejaVu Sans"/>
              </a:rPr>
              <a:t>2. Break-Even Point &amp; Margin of Safety (Session 6 — Profit): </a:t>
            </a:r>
            <a:r>
              <a:rPr sz="940" b="0">
                <a:solidFill>
                  <a:srgbClr val="334155"/>
                </a:solidFill>
                <a:latin typeface="DejaVu Sans"/>
              </a:rPr>
              <a:t>With Chennai plant Fixed Cost FC = ₹200 Crore, explicit unit cost AVC = ₹60,000, and price P = ₹80,000 (₹79,999), unit contribution is +₹20,000. Break-Even Quantity (TR = TC) is Q_BEP = ₹200 Cr ÷ ₹20,000 = 1,00,000 units (₹800 Cr revenue). High penetration volume rapidly pushes sales into the Margin of Safety zone to generate positive Economic Profit.</a:t>
            </a:r>
          </a:p>
          <a:p>
            <a:pPr algn="l">
              <a:spcAft>
                <a:spcPts val="650"/>
              </a:spcAft>
            </a:pPr>
            <a:r>
              <a:rPr sz="940" b="1">
                <a:solidFill>
                  <a:srgbClr val="1B365D"/>
                </a:solidFill>
                <a:latin typeface="DejaVu Sans"/>
              </a:rPr>
              <a:t>3. Economies of Scale in the ₹200 Cr Chennai Plant (Session 3): </a:t>
            </a:r>
            <a:r>
              <a:rPr sz="940" b="0">
                <a:solidFill>
                  <a:srgbClr val="334155"/>
                </a:solidFill>
                <a:latin typeface="DejaVu Sans"/>
              </a:rPr>
              <a:t>Like the Tesla Gigafactory (Session 3), our ₹200 Cr plant requires high capacity utilization to spread Fixed Costs (AFC = FC/Q) and unlock bulk LFP battery cell discounts.</a:t>
            </a:r>
          </a:p>
          <a:p>
            <a:pPr algn="l">
              <a:spcAft>
                <a:spcPts val="0"/>
              </a:spcAft>
            </a:pPr>
            <a:r>
              <a:rPr sz="940" b="1">
                <a:solidFill>
                  <a:srgbClr val="1B365D"/>
                </a:solidFill>
                <a:latin typeface="DejaVu Sans"/>
              </a:rPr>
              <a:t>4. Why Price Skimming Fails + Phase-2 Decoy Tiering (Session 5): </a:t>
            </a:r>
            <a:r>
              <a:rPr sz="940" b="0">
                <a:solidFill>
                  <a:srgbClr val="334155"/>
                </a:solidFill>
                <a:latin typeface="DejaVu Sans"/>
              </a:rPr>
              <a:t>Skimming works only with a monopoly innovation and inelastic demand. As a new Bengaluru startup in an oligopoly, skimming leaves the ₹200 Cr plant idle. After winning base share, we can introduce 'Zenith-V Pro' (2nd/3rd degree price discrimination).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1499616"/>
            <a:ext cx="5797296" cy="29626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1499616"/>
            <a:ext cx="5797296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art3_pricing_lr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591056"/>
            <a:ext cx="5614416" cy="276042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71616" y="4572000"/>
            <a:ext cx="5797296" cy="17922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4626864"/>
            <a:ext cx="554126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SESSION 5 &amp; 6 EVALUATION: PENETRATION PRICING vs. PRICE SKIMMING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99632" y="4882896"/>
          <a:ext cx="554126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2103120"/>
                <a:gridCol w="2011680"/>
              </a:tblGrid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FFFFFF"/>
                          </a:solidFill>
                          <a:latin typeface="DejaVu Sans"/>
                        </a:rPr>
                        <a:t>Economic Criterion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FFFFFF"/>
                          </a:solidFill>
                          <a:latin typeface="DejaVu Sans"/>
                        </a:rPr>
                        <a:t>Penetration Pricing (CHOSEN)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FFFFFF"/>
                          </a:solidFill>
                          <a:latin typeface="DejaVu Sans"/>
                        </a:rPr>
                        <a:t>Price Skimming (REJECTED)</a:t>
                      </a:r>
                    </a:p>
                  </a:txBody>
                  <a:tcPr>
                    <a:solidFill>
                      <a:srgbClr val="E11D48"/>
                    </a:solidFill>
                  </a:tcPr>
                </a:tc>
              </a:tr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B365D"/>
                          </a:solidFill>
                          <a:latin typeface="DejaVu Sans"/>
                        </a:rPr>
                        <a:t>Launch Price &amp;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59669"/>
                          </a:solidFill>
                          <a:latin typeface="DejaVu Sans"/>
                        </a:rPr>
                        <a:t>₹79,999 (+₹20k unit margin)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E11D48"/>
                          </a:solidFill>
                          <a:latin typeface="DejaVu Sans"/>
                        </a:rPr>
                        <a:t>₹1,15,000+ (Tiny sales volume)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B365D"/>
                          </a:solidFill>
                          <a:latin typeface="DejaVu Sans"/>
                        </a:rPr>
                        <a:t>Break-Even (100k units)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59669"/>
                          </a:solidFill>
                          <a:latin typeface="DejaVu Sans"/>
                        </a:rPr>
                        <a:t>Reaches BEP fast; wide safety margin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E11D48"/>
                          </a:solidFill>
                          <a:latin typeface="DejaVu Sans"/>
                        </a:rPr>
                        <a:t>Fails to reach BEP; Economic Loss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290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B365D"/>
                          </a:solidFill>
                          <a:latin typeface="DejaVu Sans"/>
                        </a:rPr>
                        <a:t>₹200 Cr Plant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59669"/>
                          </a:solidFill>
                          <a:latin typeface="DejaVu Sans"/>
                        </a:rPr>
                        <a:t>High utilization &amp; low LRAC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E11D48"/>
                          </a:solidFill>
                          <a:latin typeface="DejaVu Sans"/>
                        </a:rPr>
                        <a:t>Idle capacity &amp; high fixed cost/unit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73152"/>
            <a:ext cx="76352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Slide 5: Competitor Response &amp; Strategic Interdependence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48056"/>
            <a:ext cx="7589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AE6FD"/>
                </a:solidFill>
                <a:latin typeface="DejaVu Sans"/>
              </a:rPr>
              <a:t>Task 2B &amp; Session 7 (Game Theory): Reliance Jio Parallel, Kinked Demand &amp; Nash Equilibrium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91440"/>
            <a:ext cx="3858768" cy="603504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118872"/>
            <a:ext cx="3749039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>
                <a:solidFill>
                  <a:srgbClr val="93C5FD"/>
                </a:solidFill>
                <a:latin typeface="DejaVu Sans"/>
              </a:rPr>
              <a:t>IIIT DHARWAD • DR. K. T. DEEPAK (SESSIONS 1–9)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583" y="338328"/>
            <a:ext cx="374903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6556248"/>
            <a:ext cx="41148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CBD5E1"/>
                </a:solidFill>
                <a:latin typeface="DejaVu Sans"/>
              </a:rPr>
              <a:t>The "Zenith-V" EV Scooter Launch • E-Mobility India (Bengaluru)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6547104"/>
            <a:ext cx="3749039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7DD3FC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6556248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DejaVu Sans"/>
              </a:rPr>
              <a:t>IIIT Dharwad (www.iiitdwd.ac.in)  |  Slide 5 of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" y="914400"/>
            <a:ext cx="11539728" cy="493776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960120"/>
            <a:ext cx="11283696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B365D"/>
                </a:solidFill>
                <a:latin typeface="DejaVu Sans"/>
              </a:rPr>
              <a:t>Strategic Interdependence (Session 7): In an oligopoly, one firm's pricing directly alters rivals' payoffs. Just as Airtel &amp; Vodafone had to slash prices when Reliance Jio entered with penetration pricing, Ola Electric and Ather will retaliate when Zenith-V launches at ₹79,999.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1499616"/>
            <a:ext cx="5596128" cy="48646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1499616"/>
            <a:ext cx="5596128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545336"/>
            <a:ext cx="537667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Game-Theoretic Analysis of Competitor Reaction (Session 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" y="1883664"/>
            <a:ext cx="5413248" cy="444398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55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1. Strategic Interdependence &amp; Reliance Jio Parallel (Session 7):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When Reliance Jio disrupted Indian telecom with penetration pricing, incumbents (Airtel, Vodafone, Idea) could not ignore it — they had to cut tariffs and consolidate to survive. Similarly, Ola, Ather &amp; TVS cannot ignore Zenith-V's ₹79,999 entry.</a:t>
            </a:r>
          </a:p>
          <a:p>
            <a:pPr algn="l">
              <a:spcAft>
                <a:spcPts val="55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2. Sweezy's Kinked Demand Curve Explanation: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Above launch price P* (₹79,999), demand is elastic because rivals ignore price hikes. Below P*, demand is relatively inelastic because Ola and Ather will match price cuts to defend their market share.</a:t>
            </a:r>
          </a:p>
          <a:p>
            <a:pPr algn="l">
              <a:spcAft>
                <a:spcPts val="55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3. Expected Retaliation by Ola Electric, Ather &amp; TVS: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• Price Matching on Base Trims: Cutting prices on entry flanker models (Ola S1X, Ather Rizta) and offering ₹10k–₹15k festive/exchange discounts while protecting flagship S1 Pro / 450X margins.
• Non-Price Competition: Bundling 8-year battery warranties, 0% down-payment EMIs, and free fast-charging credits (Ather Grid / Ola Hypercharger).</a:t>
            </a:r>
          </a:p>
          <a:p>
            <a:pPr algn="l">
              <a:spcAft>
                <a:spcPts val="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4. Dominant Strategy, Prisoner's Dilemma &amp; Counter-Move: </a:t>
            </a:r>
            <a:r>
              <a:rPr sz="919" b="0">
                <a:solidFill>
                  <a:srgbClr val="334155"/>
                </a:solidFill>
                <a:latin typeface="DejaVu Sans"/>
              </a:rPr>
              <a:t>Penetration pricing is our Dominant Strategy. To avoid a margin-destroying Prisoner's Dilemma price war, E-Mobility India should pair ₹79,999 with a 5-year warranty, Battery-as-a-Service (BaaS) plans, and a higher-margin 'Zenith-V Pro' trim.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1499616"/>
            <a:ext cx="5797296" cy="29626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1499616"/>
            <a:ext cx="5797296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art4_kinked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591056"/>
            <a:ext cx="5614416" cy="276042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71616" y="4572000"/>
            <a:ext cx="5797296" cy="17922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4626864"/>
            <a:ext cx="554126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SESSION 7 PAYOFF MATRIX: DOMINANT STRATEGY &amp; NASH EQUILIBRIUM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99632" y="4864608"/>
          <a:ext cx="5541264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76"/>
                <a:gridCol w="2194560"/>
                <a:gridCol w="1938528"/>
              </a:tblGrid>
              <a:tr h="475488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DejaVu Sans"/>
                        </a:rPr>
                        <a:t>Zenith-V \ Rivals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5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DejaVu Sans"/>
                        </a:rPr>
                        <a:t>Ola &amp; Ather: Match Cut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DejaVu Sans"/>
                        </a:rPr>
                        <a:t>on Base Trims</a:t>
                      </a:r>
                    </a:p>
                  </a:txBody>
                  <a:tcPr>
                    <a:solidFill>
                      <a:srgbClr val="E11D48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5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DejaVu Sans"/>
                        </a:rPr>
                        <a:t>Ola &amp; Ather: Keep High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DejaVu Sans"/>
                        </a:rPr>
                        <a:t>Prices (Ignore Entry)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75488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5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DejaVu Sans"/>
                        </a:rPr>
                        <a:t>Penetration (₹79,999)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DejaVu Sans"/>
                        </a:rPr>
                        <a:t>[Dominant Strategy]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50"/>
                        </a:spcAft>
                      </a:pPr>
                      <a:r>
                        <a:rPr sz="790" b="1">
                          <a:solidFill>
                            <a:srgbClr val="059669"/>
                          </a:solidFill>
                          <a:latin typeface="DejaVu Sans"/>
                        </a:rPr>
                        <a:t>NASH EQUILIBRIUM ★ (+₹50 Cr)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90" b="1">
                          <a:solidFill>
                            <a:srgbClr val="059669"/>
                          </a:solidFill>
                          <a:latin typeface="DejaVu Sans"/>
                        </a:rPr>
                        <a:t>Zenith-V: 10% | Rivals: Base Cut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50"/>
                        </a:spcAft>
                      </a:pPr>
                      <a:r>
                        <a:rPr sz="790" b="0">
                          <a:solidFill>
                            <a:srgbClr val="334155"/>
                          </a:solidFill>
                          <a:latin typeface="DejaVu Sans"/>
                        </a:rPr>
                        <a:t>Zenith-V: 18% share (+₹85 Cr NPV)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90" b="0">
                          <a:solidFill>
                            <a:srgbClr val="334155"/>
                          </a:solidFill>
                          <a:latin typeface="DejaVu Sans"/>
                        </a:rPr>
                        <a:t>Rivals: Lose heavy market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5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DejaVu Sans"/>
                        </a:rPr>
                        <a:t>Price Skimming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DejaVu Sans"/>
                        </a:rPr>
                        <a:t>(₹1,15,000)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50"/>
                        </a:spcAft>
                      </a:pPr>
                      <a:r>
                        <a:rPr sz="790" b="0">
                          <a:solidFill>
                            <a:srgbClr val="E11D48"/>
                          </a:solidFill>
                          <a:latin typeface="DejaVu Sans"/>
                        </a:rPr>
                        <a:t>Zenith-V fails (&lt;2% share, -₹30 Cr)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90" b="0">
                          <a:solidFill>
                            <a:srgbClr val="E11D48"/>
                          </a:solidFill>
                          <a:latin typeface="DejaVu Sans"/>
                        </a:rPr>
                        <a:t>Ola &amp; Ather dominate market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50"/>
                        </a:spcAft>
                      </a:pPr>
                      <a:r>
                        <a:rPr sz="790" b="0">
                          <a:solidFill>
                            <a:srgbClr val="334155"/>
                          </a:solidFill>
                          <a:latin typeface="DejaVu Sans"/>
                        </a:rPr>
                        <a:t>Zenith-V gets tiny niche (3% share)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90" b="0">
                          <a:solidFill>
                            <a:srgbClr val="334155"/>
                          </a:solidFill>
                          <a:latin typeface="DejaVu Sans"/>
                        </a:rPr>
                        <a:t>₹200 Cr Chennai plant stays idle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73152"/>
            <a:ext cx="76352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Slide 6: Capital Budgeting Analysis (NPV, IRR, Risk/Uncertainty)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48056"/>
            <a:ext cx="7589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AE6FD"/>
                </a:solidFill>
                <a:latin typeface="DejaVu Sans"/>
              </a:rPr>
              <a:t>Task 3A &amp; 3B (Sessions 8–9): Evaluating the ₹200 Crore Chennai Manufacturing Plant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91440"/>
            <a:ext cx="3858768" cy="603504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118872"/>
            <a:ext cx="3749039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>
                <a:solidFill>
                  <a:srgbClr val="93C5FD"/>
                </a:solidFill>
                <a:latin typeface="DejaVu Sans"/>
              </a:rPr>
              <a:t>IIIT DHARWAD • DR. K. T. DEEPAK (SESSIONS 1–9)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583" y="338328"/>
            <a:ext cx="374903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6556248"/>
            <a:ext cx="41148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CBD5E1"/>
                </a:solidFill>
                <a:latin typeface="DejaVu Sans"/>
              </a:rPr>
              <a:t>The "Zenith-V" EV Scooter Launch • E-Mobility India (Bengaluru)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6547104"/>
            <a:ext cx="3749039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7DD3FC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6556248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DejaVu Sans"/>
              </a:rPr>
              <a:t>IIIT Dharwad (www.iiitdwd.ac.in)  |  Slide 6 of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" y="914400"/>
            <a:ext cx="11539728" cy="493776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960120"/>
            <a:ext cx="11283696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B365D"/>
                </a:solidFill>
                <a:latin typeface="DejaVu Sans"/>
              </a:rPr>
              <a:t>Key Capital Budgeting Verdict (Sessions 8 &amp; 9): Initial Outlay I0 = ₹200 Cr  |  Discount Rate r = 15%  |  Expected NPV = +₹50 Cr  ⇒  Proves IRR &gt; 15% (~23.0% &gt; 15% hurdle rate). Decision involves BOTH Measurable Risk (Expected Value) and Unmeasurable Uncertainty.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1499616"/>
            <a:ext cx="5596128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1499616"/>
            <a:ext cx="5596128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545336"/>
            <a:ext cx="537667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3A. What NPV = ₹50 Cr @ 15% Tells Us About IRR (Session 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" y="1883664"/>
            <a:ext cx="5413248" cy="170078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5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Deduction (Session 9 — Capital Budgeting):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The project's Internal Rate of Return is STRICTLY GREATER THAN 15% (IRR &gt; 15%, approx. 23.0%).</a:t>
            </a:r>
          </a:p>
          <a:p>
            <a:pPr algn="l">
              <a:spcAft>
                <a:spcPts val="35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1. Present Value Math: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NPV = PV of Cash Inflows − Initial Outlay (I0). Since NPV = +₹50 Cr and I0 = ₹200 Cr at r = 15%, the PV of Cash Inflows = ₹250 Crore (Profitability Index = 1.25).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2. IRR Definition &amp; Inverse Discounting Rule: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IRR is the discount rate where NPV = 0 (where PV of Inflows = ₹200 Cr). Because PV falls as the discount rate rises, reducing PV from ₹250 Cr down to ₹200 Cr requires a discount rate higher than 15% (IRR &gt; 15% ⇒ ACCEPT PROJECT).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" y="3712463"/>
            <a:ext cx="5596128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" y="3712463"/>
            <a:ext cx="5596128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art5_npv_i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03904"/>
            <a:ext cx="5340096" cy="244754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71616" y="1499616"/>
            <a:ext cx="5797296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71616" y="1499616"/>
            <a:ext cx="5797296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1545336"/>
            <a:ext cx="557784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3B-1. Known Risks (Measurable &amp; Quantifiable Probabilities — Session 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5" y="1883664"/>
            <a:ext cx="5614416" cy="197510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20"/>
              </a:spcAft>
            </a:pPr>
            <a:r>
              <a:rPr sz="880" b="1">
                <a:solidFill>
                  <a:srgbClr val="1B365D"/>
                </a:solidFill>
                <a:latin typeface="DejaVu Sans"/>
              </a:rPr>
              <a:t>Session 8 Definition (Measurable Risk): </a:t>
            </a:r>
            <a:r>
              <a:rPr sz="880" b="0">
                <a:solidFill>
                  <a:srgbClr val="334155"/>
                </a:solidFill>
                <a:latin typeface="DejaVu Sans"/>
              </a:rPr>
              <a:t>Risk and Uncertainty are NOT interchangeable! Risks are known, measurable events with historical probability distributions, evaluated via Expected Value E[V] = Σ p_i x_i and mitigated via Insurance, Budget Contingency &amp; Parallel Execution.</a:t>
            </a:r>
          </a:p>
          <a:p>
            <a:pPr algn="l">
              <a:spcAft>
                <a:spcPts val="320"/>
              </a:spcAft>
            </a:pPr>
            <a:r>
              <a:rPr sz="880" b="1">
                <a:solidFill>
                  <a:srgbClr val="1B365D"/>
                </a:solidFill>
                <a:latin typeface="DejaVu Sans"/>
              </a:rPr>
              <a:t>1. Lithium-Ion Battery Cell Price Volatility: </a:t>
            </a:r>
            <a:r>
              <a:rPr sz="880" b="0">
                <a:solidFill>
                  <a:srgbClr val="334155"/>
                </a:solidFill>
                <a:latin typeface="DejaVu Sans"/>
              </a:rPr>
              <a:t>Historical commodity variance (±15%) modeled probabilistically and hedged via long-term supplier contracts.</a:t>
            </a:r>
          </a:p>
          <a:p>
            <a:pPr algn="l">
              <a:spcAft>
                <a:spcPts val="320"/>
              </a:spcAft>
            </a:pPr>
            <a:r>
              <a:rPr sz="880" b="1">
                <a:solidFill>
                  <a:srgbClr val="1B365D"/>
                </a:solidFill>
                <a:latin typeface="DejaVu Sans"/>
              </a:rPr>
              <a:t>2. Chennai Plant Construction &amp; Equipment Delays: </a:t>
            </a:r>
            <a:r>
              <a:rPr sz="880" b="0">
                <a:solidFill>
                  <a:srgbClr val="334155"/>
                </a:solidFill>
                <a:latin typeface="DejaVu Sans"/>
              </a:rPr>
              <a:t>3–6 month schedule delay probability quantified from past factory projects; mitigated via parallel execution and a 10% budget contingency.</a:t>
            </a:r>
          </a:p>
          <a:p>
            <a:pPr algn="l">
              <a:spcAft>
                <a:spcPts val="0"/>
              </a:spcAft>
            </a:pPr>
            <a:r>
              <a:rPr sz="880" b="1">
                <a:solidFill>
                  <a:srgbClr val="1B365D"/>
                </a:solidFill>
                <a:latin typeface="DejaVu Sans"/>
              </a:rPr>
              <a:t>3. Interest Rate &amp; Annual Sales Variance: </a:t>
            </a:r>
            <a:r>
              <a:rPr sz="880" b="0">
                <a:solidFill>
                  <a:srgbClr val="334155"/>
                </a:solidFill>
                <a:latin typeface="DejaVu Sans"/>
              </a:rPr>
              <a:t>Working-capital interest rate fluctuations and unit demand variance captured in the 15% risk-adjusted discount rate.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71616" y="3986784"/>
            <a:ext cx="5797296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71616" y="3986784"/>
            <a:ext cx="5797296" cy="32918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4032504"/>
            <a:ext cx="557784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3B-2. Unknown Uncertainties (Unmeasurable — No Probability Data)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5" y="4370832"/>
            <a:ext cx="5614416" cy="19568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20"/>
              </a:spcAft>
            </a:pPr>
            <a:r>
              <a:rPr sz="880" b="1">
                <a:solidFill>
                  <a:srgbClr val="1B365D"/>
                </a:solidFill>
                <a:latin typeface="DejaVu Sans"/>
              </a:rPr>
              <a:t>Session 8 Definition (Unmeasurable Uncertainty): </a:t>
            </a:r>
            <a:r>
              <a:rPr sz="880" b="0">
                <a:solidFill>
                  <a:srgbClr val="334155"/>
                </a:solidFill>
                <a:latin typeface="DejaVu Sans"/>
              </a:rPr>
              <a:t>Uncertainty is 'I don't know' — structural future events that cannot be measured or assigned probabilities from past data; managed via Maximin, Maximax &amp; Minimax Regret decision rules.</a:t>
            </a:r>
          </a:p>
          <a:p>
            <a:pPr algn="l">
              <a:spcAft>
                <a:spcPts val="320"/>
              </a:spcAft>
            </a:pPr>
            <a:r>
              <a:rPr sz="880" b="1">
                <a:solidFill>
                  <a:srgbClr val="1B365D"/>
                </a:solidFill>
                <a:latin typeface="DejaVu Sans"/>
              </a:rPr>
              <a:t>1. Fiscal Policy &amp; EV Subsidy Reversals (Session 9): </a:t>
            </a:r>
            <a:r>
              <a:rPr sz="880" b="0">
                <a:solidFill>
                  <a:srgbClr val="334155"/>
                </a:solidFill>
                <a:latin typeface="DejaVu Sans"/>
              </a:rPr>
              <a:t>Unpredictable discontinuation of Government PM E-DRIVE / FAME subsidies or sudden changes to the 5% EV GST rate.</a:t>
            </a:r>
          </a:p>
          <a:p>
            <a:pPr algn="l">
              <a:spcAft>
                <a:spcPts val="320"/>
              </a:spcAft>
            </a:pPr>
            <a:r>
              <a:rPr sz="880" b="1">
                <a:solidFill>
                  <a:srgbClr val="1B365D"/>
                </a:solidFill>
                <a:latin typeface="DejaVu Sans"/>
              </a:rPr>
              <a:t>2. Disruptive Battery Chemistry Breakthroughs: </a:t>
            </a:r>
            <a:r>
              <a:rPr sz="880" b="0">
                <a:solidFill>
                  <a:srgbClr val="334155"/>
                </a:solidFill>
                <a:latin typeface="DejaVu Sans"/>
              </a:rPr>
              <a:t>Sudden commercial leap to solid-state or sodium-ion batteries rendering current Li-ion assembly lines obsolete.</a:t>
            </a:r>
          </a:p>
          <a:p>
            <a:pPr algn="l">
              <a:spcAft>
                <a:spcPts val="0"/>
              </a:spcAft>
            </a:pPr>
            <a:r>
              <a:rPr sz="880" b="1">
                <a:solidFill>
                  <a:srgbClr val="1B365D"/>
                </a:solidFill>
                <a:latin typeface="DejaVu Sans"/>
              </a:rPr>
              <a:t>3. Geopolitical &amp; Critical Mineral Supply Shocks: </a:t>
            </a:r>
            <a:r>
              <a:rPr sz="880" b="0">
                <a:solidFill>
                  <a:srgbClr val="334155"/>
                </a:solidFill>
                <a:latin typeface="DejaVu Sans"/>
              </a:rPr>
              <a:t>Unexpected export bans on lithium/rare-earth imports or macroeconomic black-swan crises.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73152"/>
            <a:ext cx="76352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Slide 7: Final Recommendation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48056"/>
            <a:ext cx="7589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AE6FD"/>
                </a:solidFill>
                <a:latin typeface="DejaVu Sans"/>
              </a:rPr>
              <a:t>Integrated Executive Roadmap (Sessions 1–9 Synthesis) • E-Mobility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91440"/>
            <a:ext cx="3858768" cy="603504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118872"/>
            <a:ext cx="3749039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>
                <a:solidFill>
                  <a:srgbClr val="93C5FD"/>
                </a:solidFill>
                <a:latin typeface="DejaVu Sans"/>
              </a:rPr>
              <a:t>IIIT DHARWAD • DR. K. T. DEEPAK (SESSIONS 1–9)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583" y="338328"/>
            <a:ext cx="374903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6556248"/>
            <a:ext cx="41148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CBD5E1"/>
                </a:solidFill>
                <a:latin typeface="DejaVu Sans"/>
              </a:rPr>
              <a:t>The "Zenith-V" EV Scooter Launch • E-Mobility India (Bengaluru)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6547104"/>
            <a:ext cx="3749039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7DD3FC"/>
                </a:solidFill>
                <a:latin typeface="DejaVu Sans"/>
              </a:rPr>
              <a:t>J GANESH KUMAR REDDY 23BDS024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6556248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DejaVu Sans"/>
              </a:rPr>
              <a:t>IIIT Dharwad (www.iiitdwd.ac.in)  |  Slide 7 of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" y="914400"/>
            <a:ext cx="11539728" cy="512064"/>
          </a:xfrm>
          <a:prstGeom prst="roundRect">
            <a:avLst>
              <a:gd name="adj" fmla="val 3000"/>
            </a:avLst>
          </a:prstGeom>
          <a:solidFill>
            <a:srgbClr val="EEF2FF"/>
          </a:solidFill>
          <a:ln w="1651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960120"/>
            <a:ext cx="11283696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DejaVu Sans"/>
              </a:rPr>
              <a:t>FINAL ANALYST VERDICT: APPROVE ('GO') the ₹200 Crore Chennai Manufacturing Plant (NPV = +₹50 Cr, IRR ≈ 23.0% &gt; 15%) and launch the 'Zenith-V' EV Scooter with Penetration Pricing at ₹79,999 to achieve 1,00,000-unit Break-Even and capture 10%+ share in India's EV Oligopoly.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1536192"/>
            <a:ext cx="3694176" cy="2505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1536192"/>
            <a:ext cx="3694176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581912"/>
            <a:ext cx="347472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1. Market &amp; Demand Strategy (25M)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" y="1920240"/>
            <a:ext cx="3511296" cy="20848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45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Oligopoly Entry (Session 4):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Enter the concentrated Indian EV market (CR4 = 83%) as a high-value mass commuter disruptor.</a:t>
            </a:r>
          </a:p>
          <a:p>
            <a:pPr algn="l">
              <a:spcAft>
                <a:spcPts val="45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Cross-Elasticity (Session 2):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Capitalize on high petrol prices (Exy &gt; 0) and low EV charging complement costs (₹0.25/km; Exy &lt; 0).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Fiscal Policy (Session 9):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Leverage 5% EV GST &amp; PM E-DRIVE subsidies to accelerate commuter switching from petrol.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536192"/>
            <a:ext cx="3694176" cy="2505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536192"/>
            <a:ext cx="3694176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1581912"/>
            <a:ext cx="347472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2. Pricing, Profit &amp; Game Theory (30M)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920240"/>
            <a:ext cx="3511296" cy="20848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45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Penetration Price (Session 5):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Launch at ₹79,999 (+₹20k margin over ₹60k cost) to maximize value perception &amp; scale.</a:t>
            </a:r>
          </a:p>
          <a:p>
            <a:pPr algn="l">
              <a:spcAft>
                <a:spcPts val="45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Break-Even &amp; Profit (Session 6):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Reach 1,00,000-unit Break-Even (TR = TC = ₹800 Cr) quickly with a wide Margin of Safety.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Game Theory Defense (Session 7):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Counter Ola/Ather price-matching via 5-yr warranty, BaaS EMI plans &amp; Phase-2 'Zenith-V Pro'.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1536192"/>
            <a:ext cx="3694176" cy="2505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4736" y="1536192"/>
            <a:ext cx="3694176" cy="32918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3" y="1581912"/>
            <a:ext cx="347472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DejaVu Sans"/>
              </a:rPr>
              <a:t>3. Capital Budgeting &amp; Risk Plan (35M)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1920240"/>
            <a:ext cx="3511296" cy="20848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45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Approve Plant (Session 9):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Positive NPV (+₹50 Cr @ 15%) proves IRR &gt; 15% (~23.0%) and adds ₹50 Cr net economic wealth.</a:t>
            </a:r>
          </a:p>
          <a:p>
            <a:pPr algn="l">
              <a:spcAft>
                <a:spcPts val="45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Mitigate Known Risks (Session 8):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Use supplier hedging, budget contingency &amp; parallel execution for Chennai plant construction.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1B365D"/>
                </a:solidFill>
                <a:latin typeface="DejaVu Sans"/>
              </a:rPr>
              <a:t>Buffer Uncertainties (Session 8): </a:t>
            </a:r>
            <a:r>
              <a:rPr sz="900" b="0">
                <a:solidFill>
                  <a:srgbClr val="334155"/>
                </a:solidFill>
                <a:latin typeface="DejaVu Sans"/>
              </a:rPr>
              <a:t>Apply Minimax Regret / Maximin by building modular assembly lines adaptable to new battery tech.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" y="4151376"/>
            <a:ext cx="7662672" cy="22128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206240"/>
            <a:ext cx="7315200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B365D"/>
                </a:solidFill>
                <a:latin typeface="DejaVu Sans"/>
              </a:rPr>
              <a:t>COMPLETE RUBRIC &amp; LECTURE SESSION SYNTHESIS MATRIX (100 MARKS)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4462272"/>
          <a:ext cx="740664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926080"/>
              </a:tblGrid>
              <a:tr h="443484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Assignment Module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Core Economic &amp; Lecture Concepts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DejaVu Sans"/>
                        </a:rPr>
                        <a:t>Final Strategic Recommendation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43484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1B365D"/>
                          </a:solidFill>
                          <a:latin typeface="DejaVu Sans"/>
                        </a:rPr>
                        <a:t>1. Market &amp; Demand (25M)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50"/>
                        </a:spcAft>
                      </a:pPr>
                      <a:r>
                        <a:rPr sz="800" b="0">
                          <a:solidFill>
                            <a:srgbClr val="334155"/>
                          </a:solidFill>
                          <a:latin typeface="DejaVu Sans"/>
                        </a:rPr>
                        <a:t>Oligopoly DNA (CR4 = 83%); Demand Shift;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4155"/>
                          </a:solidFill>
                          <a:latin typeface="DejaVu Sans"/>
                        </a:rPr>
                        <a:t>Cross-Elasticity (Exy &gt; 0 Petrol; Exy &lt; 0 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4155"/>
                          </a:solidFill>
                          <a:latin typeface="DejaVu Sans"/>
                        </a:rPr>
                        <a:t>Target petrol commuters with ₹0.25/km running cost &amp; home charger bundle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1B365D"/>
                          </a:solidFill>
                          <a:latin typeface="DejaVu Sans"/>
                        </a:rPr>
                        <a:t>2. Pricing &amp; Game Theory (30M)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50"/>
                        </a:spcAft>
                      </a:pPr>
                      <a:r>
                        <a:rPr sz="800" b="0">
                          <a:solidFill>
                            <a:srgbClr val="334155"/>
                          </a:solidFill>
                          <a:latin typeface="DejaVu Sans"/>
                        </a:rPr>
                        <a:t>Penetration (₹79,999), Break-Even (100k units),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4155"/>
                          </a:solidFill>
                          <a:latin typeface="DejaVu Sans"/>
                        </a:rPr>
                        <a:t>Strategic Interdependence, Kinked Demand, Nash Eq.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4155"/>
                          </a:solidFill>
                          <a:latin typeface="DejaVu Sans"/>
                        </a:rPr>
                        <a:t>Scale ₹200 Cr plant LRAC; counter Ola &amp; Ather via warranties &amp; BaaS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3484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1B365D"/>
                          </a:solidFill>
                          <a:latin typeface="DejaVu Sans"/>
                        </a:rPr>
                        <a:t>3. Capital Budgeting (35M)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50"/>
                        </a:spcAft>
                      </a:pPr>
                      <a:r>
                        <a:rPr sz="800" b="0">
                          <a:solidFill>
                            <a:srgbClr val="334155"/>
                          </a:solidFill>
                          <a:latin typeface="DejaVu Sans"/>
                        </a:rPr>
                        <a:t>NPV = +₹50 Cr @ 15% ⇒ IRR &gt; 15% (~23.0%);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4155"/>
                          </a:solidFill>
                          <a:latin typeface="DejaVu Sans"/>
                        </a:rPr>
                        <a:t>Measurable Risk (E[V]) vs Uncertainty (Maximin)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4155"/>
                          </a:solidFill>
                          <a:latin typeface="DejaVu Sans"/>
                        </a:rPr>
                        <a:t>Approve Chennai plant; hedge cell cost risks &amp; build modular factory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8174736" y="4151376"/>
            <a:ext cx="3694176" cy="2212848"/>
          </a:xfrm>
          <a:prstGeom prst="roundRect">
            <a:avLst>
              <a:gd name="adj" fmla="val 3000"/>
            </a:avLst>
          </a:prstGeom>
          <a:solidFill>
            <a:srgbClr val="1B365D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242816"/>
            <a:ext cx="340156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7DD3FC"/>
                </a:solidFill>
                <a:latin typeface="DejaVu Sans"/>
              </a:rPr>
              <a:t>IIIT DHARWAD • ASSIGNMENT SUBMISSION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4498848"/>
            <a:ext cx="343814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DejaVu Sans"/>
              </a:rPr>
              <a:t>J GANESH KUMAR REDDY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05088" y="4882896"/>
            <a:ext cx="2633472" cy="310896"/>
          </a:xfrm>
          <a:prstGeom prst="roundRect">
            <a:avLst>
              <a:gd name="adj" fmla="val 3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5088" y="4901184"/>
            <a:ext cx="2633472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DejaVu Sans"/>
              </a:rPr>
              <a:t>REG NO: 23BDS024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266944"/>
            <a:ext cx="34381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0">
                <a:solidFill>
                  <a:srgbClr val="CBD5E1"/>
                </a:solidFill>
                <a:latin typeface="DejaVu Sans"/>
              </a:rPr>
              <a:t>Submitted to: Dr. K. T. Deepak</a:t>
            </a:r>
          </a:p>
          <a:p>
            <a:pPr algn="ctr">
              <a:spcAft>
                <a:spcPts val="200"/>
              </a:spcAft>
            </a:pPr>
            <a:r>
              <a:rPr sz="840" b="0">
                <a:solidFill>
                  <a:srgbClr val="CBD5E1"/>
                </a:solidFill>
                <a:latin typeface="DejaVu Sans"/>
              </a:rPr>
              <a:t>Associate Dean (Innovation, Entrepreneurship &amp; IDRP)</a:t>
            </a:r>
          </a:p>
          <a:p>
            <a:pPr algn="ctr">
              <a:spcAft>
                <a:spcPts val="200"/>
              </a:spcAft>
            </a:pPr>
            <a:r>
              <a:rPr sz="840" b="0">
                <a:solidFill>
                  <a:srgbClr val="CBD5E1"/>
                </a:solidFill>
                <a:latin typeface="DejaVu Sans"/>
              </a:rPr>
              <a:t>IIIT (Triple-IT) Dharwad - 580009 (www.iiitdwd.ac.in)</a:t>
            </a:r>
          </a:p>
          <a:p>
            <a:pPr algn="ctr">
              <a:spcAft>
                <a:spcPts val="0"/>
              </a:spcAft>
            </a:pPr>
            <a:r>
              <a:rPr sz="840" b="0">
                <a:solidFill>
                  <a:srgbClr val="CBD5E1"/>
                </a:solidFill>
                <a:latin typeface="DejaVu Sa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